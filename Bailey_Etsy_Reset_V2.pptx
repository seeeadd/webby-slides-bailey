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54864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DAY 1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 i="0">
                <a:solidFill>
                  <a:srgbClr val="1B8A8A"/>
                </a:solidFill>
                <a:latin typeface="Ogg Text TRIAL"/>
              </a:defRPr>
            </a:pPr>
            <a:r>
              <a:t>The 2026 Etsy Upgrade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18000" b="1" i="0">
                <a:solidFill>
                  <a:srgbClr val="2D3436"/>
                </a:solidFill>
                <a:latin typeface="Ogg TRIAL"/>
              </a:defRPr>
            </a:pPr>
            <a:r>
              <a:t>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200" b="0" i="0">
                <a:solidFill>
                  <a:srgbClr val="636E72"/>
                </a:solidFill>
                <a:latin typeface="Ogg Text TRIAL"/>
              </a:defRPr>
            </a:pPr>
            <a:r>
              <a:t>Delete the Dead Weight.</a:t>
            </a:r>
            <a:br/>
            <a:r>
              <a:t>Find Your Focus.</a:t>
            </a:r>
            <a:br/>
            <a:r>
              <a:t>Build a Shop That Actually 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400" b="0" i="0">
                <a:solidFill>
                  <a:srgbClr val="FFFFFF"/>
                </a:solidFill>
                <a:latin typeface="Ogg Text TRIAL"/>
              </a:defRPr>
            </a:pPr>
            <a:r>
              <a:t>with Bailey Vann  •  Top 0.1% Etsy Seller  •  $1M+ in Digital Product Sales</a:t>
            </a:r>
          </a:p>
        </p:txBody>
      </p:sp>
      <p:sp>
        <p:nvSpPr>
          <p:cNvPr id="12" name="Freeform 11"/>
          <p:cNvSpPr/>
          <p:nvPr/>
        </p:nvSpPr>
        <p:spPr>
          <a:xfrm>
            <a:off x="8748563" y="2252396"/>
            <a:ext cx="8625037" cy="2600236"/>
          </a:xfrm>
          <a:custGeom>
            <a:avLst/>
            <a:gdLst/>
            <a:ahLst/>
            <a:cxnLst/>
            <a:rect l="l" t="t" r="r" b="b"/>
            <a:pathLst>
              <a:path w="8625037" h="2600236">
                <a:moveTo>
                  <a:pt x="8625037" y="2319604"/>
                </a:moveTo>
                <a:moveTo>
                  <a:pt x="3074629" y="1405204"/>
                </a:moveTo>
                <a:lnTo>
                  <a:pt x="2986352" y="1911447"/>
                </a:lnTo>
                <a:lnTo>
                  <a:pt x="2526166" y="2252858"/>
                </a:lnTo>
                <a:lnTo>
                  <a:pt x="2122749" y="2600236"/>
                </a:lnTo>
                <a:lnTo>
                  <a:pt x="1538437" y="2414015"/>
                </a:lnTo>
                <a:lnTo>
                  <a:pt x="1044645" y="2441017"/>
                </a:lnTo>
                <a:lnTo>
                  <a:pt x="422691" y="2346127"/>
                </a:lnTo>
                <a:lnTo>
                  <a:pt x="0" y="1938764"/>
                </a:lnTo>
                <a:lnTo>
                  <a:pt x="258277" y="1405204"/>
                </a:lnTo>
                <a:lnTo>
                  <a:pt x="384382" y="987643"/>
                </a:lnTo>
                <a:lnTo>
                  <a:pt x="534705" y="545891"/>
                </a:lnTo>
                <a:lnTo>
                  <a:pt x="1044978" y="369976"/>
                </a:lnTo>
                <a:lnTo>
                  <a:pt x="1538436" y="0"/>
                </a:lnTo>
                <a:lnTo>
                  <a:pt x="2122416" y="210757"/>
                </a:lnTo>
                <a:lnTo>
                  <a:pt x="2414152" y="639159"/>
                </a:lnTo>
                <a:lnTo>
                  <a:pt x="2601970" y="1014960"/>
                </a:lnTo>
                <a:close/>
              </a:path>
            </a:pathLst>
          </a:custGeom>
          <a:solidFill>
            <a:srgbClr val="F4A89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645317" y="3172397"/>
            <a:ext cx="9557083" cy="3228403"/>
          </a:xfrm>
          <a:custGeom>
            <a:avLst/>
            <a:gdLst/>
            <a:ahLst/>
            <a:cxnLst/>
            <a:rect l="l" t="t" r="r" b="b"/>
            <a:pathLst>
              <a:path w="9557083" h="3228403">
                <a:moveTo>
                  <a:pt x="9557083" y="3228403"/>
                </a:moveTo>
                <a:moveTo>
                  <a:pt x="2196163" y="1171003"/>
                </a:moveTo>
                <a:lnTo>
                  <a:pt x="2133108" y="1592872"/>
                </a:lnTo>
                <a:lnTo>
                  <a:pt x="1804404" y="1877381"/>
                </a:lnTo>
                <a:lnTo>
                  <a:pt x="1516249" y="2166863"/>
                </a:lnTo>
                <a:lnTo>
                  <a:pt x="1098883" y="2011679"/>
                </a:lnTo>
                <a:lnTo>
                  <a:pt x="746174" y="2034180"/>
                </a:lnTo>
                <a:lnTo>
                  <a:pt x="301921" y="1955105"/>
                </a:lnTo>
                <a:lnTo>
                  <a:pt x="0" y="1615637"/>
                </a:lnTo>
                <a:lnTo>
                  <a:pt x="184483" y="1171003"/>
                </a:lnTo>
                <a:lnTo>
                  <a:pt x="274558" y="823035"/>
                </a:lnTo>
                <a:lnTo>
                  <a:pt x="381931" y="454908"/>
                </a:lnTo>
                <a:lnTo>
                  <a:pt x="746412" y="308313"/>
                </a:lnTo>
                <a:lnTo>
                  <a:pt x="1098882" y="0"/>
                </a:lnTo>
                <a:lnTo>
                  <a:pt x="1516011" y="175630"/>
                </a:lnTo>
                <a:lnTo>
                  <a:pt x="1724394" y="532632"/>
                </a:lnTo>
                <a:lnTo>
                  <a:pt x="1858550" y="845800"/>
                </a:lnTo>
                <a:close/>
              </a:path>
            </a:pathLst>
          </a:custGeom>
          <a:solidFill>
            <a:srgbClr val="F7E19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6291072" cy="5192121"/>
          </a:xfrm>
          <a:custGeom>
            <a:avLst/>
            <a:gdLst/>
            <a:ahLst/>
            <a:cxnLst/>
            <a:rect l="l" t="t" r="r" b="b"/>
            <a:pathLst>
              <a:path w="6291072" h="5192121">
                <a:moveTo>
                  <a:pt x="0" y="0"/>
                </a:moveTo>
                <a:moveTo>
                  <a:pt x="6291072" y="3200400"/>
                </a:moveTo>
                <a:lnTo>
                  <a:pt x="6139740" y="4044138"/>
                </a:lnTo>
                <a:lnTo>
                  <a:pt x="5350851" y="4613157"/>
                </a:lnTo>
                <a:lnTo>
                  <a:pt x="4659278" y="5192121"/>
                </a:lnTo>
                <a:lnTo>
                  <a:pt x="3657600" y="4881753"/>
                </a:lnTo>
                <a:lnTo>
                  <a:pt x="2811099" y="4926755"/>
                </a:lnTo>
                <a:lnTo>
                  <a:pt x="1744892" y="4768605"/>
                </a:lnTo>
                <a:lnTo>
                  <a:pt x="1020281" y="4089668"/>
                </a:lnTo>
                <a:lnTo>
                  <a:pt x="1463040" y="3200400"/>
                </a:lnTo>
                <a:lnTo>
                  <a:pt x="1679220" y="2504465"/>
                </a:lnTo>
                <a:lnTo>
                  <a:pt x="1936916" y="1768211"/>
                </a:lnTo>
                <a:lnTo>
                  <a:pt x="2811670" y="1475021"/>
                </a:lnTo>
                <a:lnTo>
                  <a:pt x="3657599" y="858394"/>
                </a:lnTo>
                <a:lnTo>
                  <a:pt x="4658707" y="1209655"/>
                </a:lnTo>
                <a:lnTo>
                  <a:pt x="5158827" y="1923659"/>
                </a:lnTo>
                <a:lnTo>
                  <a:pt x="5480801" y="2549994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335481" y="2687194"/>
            <a:ext cx="8123719" cy="4333727"/>
          </a:xfrm>
          <a:custGeom>
            <a:avLst/>
            <a:gdLst/>
            <a:ahLst/>
            <a:cxnLst/>
            <a:rect l="l" t="t" r="r" b="b"/>
            <a:pathLst>
              <a:path w="8123719" h="4333727">
                <a:moveTo>
                  <a:pt x="8123719" y="2799206"/>
                </a:moveTo>
                <a:moveTo>
                  <a:pt x="5270791" y="2342006"/>
                </a:moveTo>
                <a:lnTo>
                  <a:pt x="5119459" y="3185744"/>
                </a:lnTo>
                <a:lnTo>
                  <a:pt x="4330570" y="3754763"/>
                </a:lnTo>
                <a:lnTo>
                  <a:pt x="3638997" y="4333727"/>
                </a:lnTo>
                <a:lnTo>
                  <a:pt x="2637319" y="4023359"/>
                </a:lnTo>
                <a:lnTo>
                  <a:pt x="1790818" y="4068361"/>
                </a:lnTo>
                <a:lnTo>
                  <a:pt x="724611" y="3910211"/>
                </a:lnTo>
                <a:lnTo>
                  <a:pt x="0" y="3231274"/>
                </a:lnTo>
                <a:lnTo>
                  <a:pt x="442759" y="2342006"/>
                </a:lnTo>
                <a:lnTo>
                  <a:pt x="658939" y="1646071"/>
                </a:lnTo>
                <a:lnTo>
                  <a:pt x="916635" y="909817"/>
                </a:lnTo>
                <a:lnTo>
                  <a:pt x="1791389" y="616627"/>
                </a:lnTo>
                <a:lnTo>
                  <a:pt x="2637318" y="0"/>
                </a:lnTo>
                <a:lnTo>
                  <a:pt x="3638426" y="351261"/>
                </a:lnTo>
                <a:lnTo>
                  <a:pt x="4138546" y="1065265"/>
                </a:lnTo>
                <a:lnTo>
                  <a:pt x="4460520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1097280"/>
            <a:ext cx="8534095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2D3436"/>
                </a:solidFill>
                <a:latin typeface="Ogg TRIAL"/>
              </a:defRPr>
            </a:pPr>
            <a:r>
              <a:t>Before We Begin...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2834640"/>
            <a:ext cx="2133295" cy="36576"/>
          </a:xfrm>
          <a:prstGeom prst="rect">
            <a:avLst/>
          </a:prstGeom>
          <a:solidFill>
            <a:srgbClr val="2BA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3200400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QUICK POP 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02336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000" b="0" i="0">
                <a:solidFill>
                  <a:srgbClr val="636E72"/>
                </a:solidFill>
                <a:latin typeface="Ogg Text TRIAL"/>
              </a:defRPr>
            </a:pPr>
            <a:r>
              <a:t>I want to show you something that might change</a:t>
            </a:r>
            <a:br/>
            <a:r>
              <a:t>how you think about Etsy in 2026...</a:t>
            </a:r>
          </a:p>
        </p:txBody>
      </p:sp>
      <p:sp>
        <p:nvSpPr>
          <p:cNvPr id="10" name="Freeform 9"/>
          <p:cNvSpPr/>
          <p:nvPr/>
        </p:nvSpPr>
        <p:spPr>
          <a:xfrm>
            <a:off x="9636493" y="709118"/>
            <a:ext cx="9565907" cy="1733490"/>
          </a:xfrm>
          <a:custGeom>
            <a:avLst/>
            <a:gdLst/>
            <a:ahLst/>
            <a:cxnLst/>
            <a:rect l="l" t="t" r="r" b="b"/>
            <a:pathLst>
              <a:path w="9565907" h="1733490">
                <a:moveTo>
                  <a:pt x="9565907" y="753922"/>
                </a:moveTo>
                <a:moveTo>
                  <a:pt x="1756931" y="936802"/>
                </a:moveTo>
                <a:lnTo>
                  <a:pt x="1706487" y="1274297"/>
                </a:lnTo>
                <a:lnTo>
                  <a:pt x="1443524" y="1501904"/>
                </a:lnTo>
                <a:lnTo>
                  <a:pt x="1212999" y="1733490"/>
                </a:lnTo>
                <a:lnTo>
                  <a:pt x="879107" y="1609343"/>
                </a:lnTo>
                <a:lnTo>
                  <a:pt x="596940" y="1627344"/>
                </a:lnTo>
                <a:lnTo>
                  <a:pt x="241537" y="1564084"/>
                </a:lnTo>
                <a:lnTo>
                  <a:pt x="0" y="1292509"/>
                </a:lnTo>
                <a:lnTo>
                  <a:pt x="147587" y="936802"/>
                </a:lnTo>
                <a:lnTo>
                  <a:pt x="219647" y="658428"/>
                </a:lnTo>
                <a:lnTo>
                  <a:pt x="305545" y="363926"/>
                </a:lnTo>
                <a:lnTo>
                  <a:pt x="597130" y="246650"/>
                </a:lnTo>
                <a:lnTo>
                  <a:pt x="879106" y="0"/>
                </a:lnTo>
                <a:lnTo>
                  <a:pt x="1212809" y="140504"/>
                </a:lnTo>
                <a:lnTo>
                  <a:pt x="1379516" y="426105"/>
                </a:lnTo>
                <a:lnTo>
                  <a:pt x="1486840" y="676639"/>
                </a:lnTo>
                <a:close/>
              </a:path>
            </a:pathLst>
          </a:custGeom>
          <a:solidFill>
            <a:srgbClr val="5BBCB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EE5E0"/>
              </a:gs>
              <a:gs pos="100000">
                <a:srgbClr val="FEF0EA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4498848" cy="4336577"/>
          </a:xfrm>
          <a:custGeom>
            <a:avLst/>
            <a:gdLst/>
            <a:ahLst/>
            <a:cxnLst/>
            <a:rect l="l" t="t" r="r" b="b"/>
            <a:pathLst>
              <a:path w="4498848" h="4336577">
                <a:moveTo>
                  <a:pt x="0" y="0"/>
                </a:moveTo>
                <a:moveTo>
                  <a:pt x="4498848" y="2743200"/>
                </a:moveTo>
                <a:lnTo>
                  <a:pt x="4397960" y="3418190"/>
                </a:lnTo>
                <a:lnTo>
                  <a:pt x="3872034" y="3873405"/>
                </a:lnTo>
                <a:lnTo>
                  <a:pt x="3410985" y="4336577"/>
                </a:lnTo>
                <a:lnTo>
                  <a:pt x="2743200" y="4088282"/>
                </a:lnTo>
                <a:lnTo>
                  <a:pt x="2178866" y="4124284"/>
                </a:lnTo>
                <a:lnTo>
                  <a:pt x="1468061" y="3997764"/>
                </a:lnTo>
                <a:lnTo>
                  <a:pt x="984987" y="3454614"/>
                </a:lnTo>
                <a:lnTo>
                  <a:pt x="1280160" y="2743200"/>
                </a:lnTo>
                <a:lnTo>
                  <a:pt x="1424280" y="2186452"/>
                </a:lnTo>
                <a:lnTo>
                  <a:pt x="1596077" y="1597449"/>
                </a:lnTo>
                <a:lnTo>
                  <a:pt x="2179247" y="1362897"/>
                </a:lnTo>
                <a:lnTo>
                  <a:pt x="2743199" y="869595"/>
                </a:lnTo>
                <a:lnTo>
                  <a:pt x="3410605" y="1150604"/>
                </a:lnTo>
                <a:lnTo>
                  <a:pt x="3744018" y="1721807"/>
                </a:lnTo>
                <a:lnTo>
                  <a:pt x="3958667" y="2222875"/>
                </a:lnTo>
                <a:close/>
              </a:path>
            </a:pathLst>
          </a:custGeom>
          <a:solidFill>
            <a:srgbClr val="FDD5C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14587" y="3612795"/>
            <a:ext cx="9073413" cy="3702405"/>
          </a:xfrm>
          <a:custGeom>
            <a:avLst/>
            <a:gdLst/>
            <a:ahLst/>
            <a:cxnLst/>
            <a:rect l="l" t="t" r="r" b="b"/>
            <a:pathLst>
              <a:path w="9073413" h="3702405">
                <a:moveTo>
                  <a:pt x="9073413" y="3702405"/>
                </a:moveTo>
                <a:moveTo>
                  <a:pt x="3513861" y="1873605"/>
                </a:moveTo>
                <a:lnTo>
                  <a:pt x="3412973" y="2548595"/>
                </a:lnTo>
                <a:lnTo>
                  <a:pt x="2887047" y="3003810"/>
                </a:lnTo>
                <a:lnTo>
                  <a:pt x="2425998" y="3466982"/>
                </a:lnTo>
                <a:lnTo>
                  <a:pt x="1758213" y="3218687"/>
                </a:lnTo>
                <a:lnTo>
                  <a:pt x="1193879" y="3254689"/>
                </a:lnTo>
                <a:lnTo>
                  <a:pt x="483074" y="3128169"/>
                </a:lnTo>
                <a:lnTo>
                  <a:pt x="0" y="2585019"/>
                </a:lnTo>
                <a:lnTo>
                  <a:pt x="295173" y="1873605"/>
                </a:lnTo>
                <a:lnTo>
                  <a:pt x="439293" y="1316857"/>
                </a:lnTo>
                <a:lnTo>
                  <a:pt x="611090" y="727854"/>
                </a:lnTo>
                <a:lnTo>
                  <a:pt x="1194260" y="493302"/>
                </a:lnTo>
                <a:lnTo>
                  <a:pt x="1758212" y="0"/>
                </a:lnTo>
                <a:lnTo>
                  <a:pt x="2425618" y="281009"/>
                </a:lnTo>
                <a:lnTo>
                  <a:pt x="2759031" y="852212"/>
                </a:lnTo>
                <a:lnTo>
                  <a:pt x="2973680" y="1353280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0" y="1371600"/>
            <a:ext cx="7619695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4114800" y="4480560"/>
            <a:ext cx="54864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2011680"/>
            <a:ext cx="6705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200" b="1" i="0">
                <a:solidFill>
                  <a:srgbClr val="2D3436"/>
                </a:solidFill>
                <a:latin typeface="Ogg TRIAL"/>
              </a:defRPr>
            </a:pPr>
            <a:r>
              <a:t>Get ready to type</a:t>
            </a:r>
            <a:br/>
            <a:r>
              <a:t>in the chat!</a:t>
            </a:r>
          </a:p>
        </p:txBody>
      </p:sp>
      <p:sp>
        <p:nvSpPr>
          <p:cNvPr id="8" name="Freeform 7"/>
          <p:cNvSpPr/>
          <p:nvPr/>
        </p:nvSpPr>
        <p:spPr>
          <a:xfrm>
            <a:off x="5309696" y="3836560"/>
            <a:ext cx="5297344" cy="3844400"/>
          </a:xfrm>
          <a:custGeom>
            <a:avLst/>
            <a:gdLst/>
            <a:ahLst/>
            <a:cxnLst/>
            <a:rect l="l" t="t" r="r" b="b"/>
            <a:pathLst>
              <a:path w="5297344" h="3844400">
                <a:moveTo>
                  <a:pt x="5297344" y="3844400"/>
                </a:moveTo>
                <a:moveTo>
                  <a:pt x="307463" y="163940"/>
                </a:moveTo>
                <a:lnTo>
                  <a:pt x="298635" y="223001"/>
                </a:lnTo>
                <a:lnTo>
                  <a:pt x="252616" y="262832"/>
                </a:lnTo>
                <a:lnTo>
                  <a:pt x="212275" y="303360"/>
                </a:lnTo>
                <a:lnTo>
                  <a:pt x="153844" y="281634"/>
                </a:lnTo>
                <a:lnTo>
                  <a:pt x="104464" y="284784"/>
                </a:lnTo>
                <a:lnTo>
                  <a:pt x="42269" y="273714"/>
                </a:lnTo>
                <a:lnTo>
                  <a:pt x="0" y="226188"/>
                </a:lnTo>
                <a:lnTo>
                  <a:pt x="25828" y="163940"/>
                </a:lnTo>
                <a:lnTo>
                  <a:pt x="38438" y="115224"/>
                </a:lnTo>
                <a:lnTo>
                  <a:pt x="53470" y="63686"/>
                </a:lnTo>
                <a:lnTo>
                  <a:pt x="104498" y="43163"/>
                </a:lnTo>
                <a:lnTo>
                  <a:pt x="153843" y="0"/>
                </a:lnTo>
                <a:lnTo>
                  <a:pt x="212241" y="24587"/>
                </a:lnTo>
                <a:lnTo>
                  <a:pt x="241415" y="74568"/>
                </a:lnTo>
                <a:lnTo>
                  <a:pt x="260197" y="118411"/>
                </a:lnTo>
                <a:close/>
              </a:path>
            </a:pathLst>
          </a:custGeom>
          <a:solidFill>
            <a:srgbClr val="1B8A8A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766896" y="3836560"/>
            <a:ext cx="5754544" cy="3844400"/>
          </a:xfrm>
          <a:custGeom>
            <a:avLst/>
            <a:gdLst/>
            <a:ahLst/>
            <a:cxnLst/>
            <a:rect l="l" t="t" r="r" b="b"/>
            <a:pathLst>
              <a:path w="5754544" h="3844400">
                <a:moveTo>
                  <a:pt x="5754544" y="3844400"/>
                </a:moveTo>
                <a:moveTo>
                  <a:pt x="307463" y="163940"/>
                </a:moveTo>
                <a:lnTo>
                  <a:pt x="298635" y="223001"/>
                </a:lnTo>
                <a:lnTo>
                  <a:pt x="252616" y="262832"/>
                </a:lnTo>
                <a:lnTo>
                  <a:pt x="212275" y="303360"/>
                </a:lnTo>
                <a:lnTo>
                  <a:pt x="153844" y="281634"/>
                </a:lnTo>
                <a:lnTo>
                  <a:pt x="104464" y="284784"/>
                </a:lnTo>
                <a:lnTo>
                  <a:pt x="42269" y="273714"/>
                </a:lnTo>
                <a:lnTo>
                  <a:pt x="0" y="226188"/>
                </a:lnTo>
                <a:lnTo>
                  <a:pt x="25828" y="163940"/>
                </a:lnTo>
                <a:lnTo>
                  <a:pt x="38438" y="115224"/>
                </a:lnTo>
                <a:lnTo>
                  <a:pt x="53470" y="63686"/>
                </a:lnTo>
                <a:lnTo>
                  <a:pt x="104498" y="43163"/>
                </a:lnTo>
                <a:lnTo>
                  <a:pt x="153843" y="0"/>
                </a:lnTo>
                <a:lnTo>
                  <a:pt x="212241" y="24587"/>
                </a:lnTo>
                <a:lnTo>
                  <a:pt x="241415" y="74568"/>
                </a:lnTo>
                <a:lnTo>
                  <a:pt x="260197" y="118411"/>
                </a:lnTo>
                <a:close/>
              </a:path>
            </a:pathLst>
          </a:custGeom>
          <a:solidFill>
            <a:srgbClr val="1B8A8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224096" y="3836560"/>
            <a:ext cx="6211744" cy="3844400"/>
          </a:xfrm>
          <a:custGeom>
            <a:avLst/>
            <a:gdLst/>
            <a:ahLst/>
            <a:cxnLst/>
            <a:rect l="l" t="t" r="r" b="b"/>
            <a:pathLst>
              <a:path w="6211744" h="3844400">
                <a:moveTo>
                  <a:pt x="6211744" y="3844400"/>
                </a:moveTo>
                <a:moveTo>
                  <a:pt x="307463" y="163940"/>
                </a:moveTo>
                <a:lnTo>
                  <a:pt x="298635" y="223001"/>
                </a:lnTo>
                <a:lnTo>
                  <a:pt x="252616" y="262832"/>
                </a:lnTo>
                <a:lnTo>
                  <a:pt x="212275" y="303360"/>
                </a:lnTo>
                <a:lnTo>
                  <a:pt x="153844" y="281634"/>
                </a:lnTo>
                <a:lnTo>
                  <a:pt x="104464" y="284784"/>
                </a:lnTo>
                <a:lnTo>
                  <a:pt x="42269" y="273714"/>
                </a:lnTo>
                <a:lnTo>
                  <a:pt x="0" y="226188"/>
                </a:lnTo>
                <a:lnTo>
                  <a:pt x="25828" y="163940"/>
                </a:lnTo>
                <a:lnTo>
                  <a:pt x="38438" y="115224"/>
                </a:lnTo>
                <a:lnTo>
                  <a:pt x="53470" y="63686"/>
                </a:lnTo>
                <a:lnTo>
                  <a:pt x="104498" y="43163"/>
                </a:lnTo>
                <a:lnTo>
                  <a:pt x="153843" y="0"/>
                </a:lnTo>
                <a:lnTo>
                  <a:pt x="212241" y="24587"/>
                </a:lnTo>
                <a:lnTo>
                  <a:pt x="241415" y="74568"/>
                </a:lnTo>
                <a:lnTo>
                  <a:pt x="260197" y="118411"/>
                </a:lnTo>
                <a:close/>
              </a:path>
            </a:pathLst>
          </a:custGeom>
          <a:solidFill>
            <a:srgbClr val="1B8A8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53035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This is interactive — your answers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Which design was made by a professional artist?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4389120" cy="30175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F5EEE6"/>
              </a:gs>
              <a:gs pos="100000">
                <a:srgbClr val="E8F5F3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400" b="0" i="0">
                <a:solidFill>
                  <a:srgbClr val="9CA3A8"/>
                </a:solidFill>
                <a:latin typeface="Ogg Text TRIAL"/>
              </a:defRPr>
            </a:pPr>
            <a:r>
              <a:t>[ Image A ]</a:t>
            </a:r>
          </a:p>
        </p:txBody>
      </p:sp>
      <p:sp>
        <p:nvSpPr>
          <p:cNvPr id="10" name="Freeform 9"/>
          <p:cNvSpPr/>
          <p:nvPr/>
        </p:nvSpPr>
        <p:spPr>
          <a:xfrm>
            <a:off x="2759082" y="5019119"/>
            <a:ext cx="2727318" cy="5039281"/>
          </a:xfrm>
          <a:custGeom>
            <a:avLst/>
            <a:gdLst/>
            <a:ahLst/>
            <a:cxnLst/>
            <a:rect l="l" t="t" r="r" b="b"/>
            <a:pathLst>
              <a:path w="2727318" h="5039281">
                <a:moveTo>
                  <a:pt x="2727318" y="5039281"/>
                </a:moveTo>
                <a:moveTo>
                  <a:pt x="790618" y="421561"/>
                </a:moveTo>
                <a:lnTo>
                  <a:pt x="767919" y="573433"/>
                </a:lnTo>
                <a:lnTo>
                  <a:pt x="649585" y="675857"/>
                </a:lnTo>
                <a:lnTo>
                  <a:pt x="545849" y="780070"/>
                </a:lnTo>
                <a:lnTo>
                  <a:pt x="395598" y="724204"/>
                </a:lnTo>
                <a:lnTo>
                  <a:pt x="268622" y="732304"/>
                </a:lnTo>
                <a:lnTo>
                  <a:pt x="108691" y="703837"/>
                </a:lnTo>
                <a:lnTo>
                  <a:pt x="0" y="581629"/>
                </a:lnTo>
                <a:lnTo>
                  <a:pt x="66414" y="421561"/>
                </a:lnTo>
                <a:lnTo>
                  <a:pt x="98841" y="296292"/>
                </a:lnTo>
                <a:lnTo>
                  <a:pt x="137495" y="163767"/>
                </a:lnTo>
                <a:lnTo>
                  <a:pt x="268708" y="110992"/>
                </a:lnTo>
                <a:lnTo>
                  <a:pt x="395597" y="0"/>
                </a:lnTo>
                <a:lnTo>
                  <a:pt x="545764" y="63226"/>
                </a:lnTo>
                <a:lnTo>
                  <a:pt x="620782" y="191747"/>
                </a:lnTo>
                <a:lnTo>
                  <a:pt x="669078" y="304488"/>
                </a:lnTo>
                <a:close/>
              </a:path>
            </a:pathLst>
          </a:cu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5120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200400"/>
            <a:ext cx="1218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2400" b="1" i="0">
                <a:solidFill>
                  <a:srgbClr val="9CA3A8"/>
                </a:solidFill>
                <a:latin typeface="Ogg TRIAL"/>
              </a:defRPr>
            </a:pPr>
            <a:r>
              <a:t>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22415" y="1463040"/>
            <a:ext cx="493776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96735" y="1737360"/>
            <a:ext cx="4389120" cy="30175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F5EEE6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6735" y="2926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400" b="0" i="0">
                <a:solidFill>
                  <a:srgbClr val="9CA3A8"/>
                </a:solidFill>
                <a:latin typeface="Ogg Text TRIAL"/>
              </a:defRPr>
            </a:pPr>
            <a:r>
              <a:t>[ Image B ]</a:t>
            </a:r>
          </a:p>
        </p:txBody>
      </p:sp>
      <p:sp>
        <p:nvSpPr>
          <p:cNvPr id="16" name="Freeform 15"/>
          <p:cNvSpPr/>
          <p:nvPr/>
        </p:nvSpPr>
        <p:spPr>
          <a:xfrm>
            <a:off x="8611242" y="5019119"/>
            <a:ext cx="8579478" cy="5039281"/>
          </a:xfrm>
          <a:custGeom>
            <a:avLst/>
            <a:gdLst/>
            <a:ahLst/>
            <a:cxnLst/>
            <a:rect l="l" t="t" r="r" b="b"/>
            <a:pathLst>
              <a:path w="8579478" h="5039281">
                <a:moveTo>
                  <a:pt x="8579478" y="5039281"/>
                </a:moveTo>
                <a:moveTo>
                  <a:pt x="790618" y="421561"/>
                </a:moveTo>
                <a:lnTo>
                  <a:pt x="767919" y="573433"/>
                </a:lnTo>
                <a:lnTo>
                  <a:pt x="649585" y="675857"/>
                </a:lnTo>
                <a:lnTo>
                  <a:pt x="545849" y="780070"/>
                </a:lnTo>
                <a:lnTo>
                  <a:pt x="395598" y="724204"/>
                </a:lnTo>
                <a:lnTo>
                  <a:pt x="268622" y="732304"/>
                </a:lnTo>
                <a:lnTo>
                  <a:pt x="108691" y="703837"/>
                </a:lnTo>
                <a:lnTo>
                  <a:pt x="0" y="581629"/>
                </a:lnTo>
                <a:lnTo>
                  <a:pt x="66414" y="421561"/>
                </a:lnTo>
                <a:lnTo>
                  <a:pt x="98841" y="296292"/>
                </a:lnTo>
                <a:lnTo>
                  <a:pt x="137495" y="163767"/>
                </a:lnTo>
                <a:lnTo>
                  <a:pt x="268708" y="110992"/>
                </a:lnTo>
                <a:lnTo>
                  <a:pt x="395597" y="0"/>
                </a:lnTo>
                <a:lnTo>
                  <a:pt x="545764" y="63226"/>
                </a:lnTo>
                <a:lnTo>
                  <a:pt x="620782" y="191747"/>
                </a:lnTo>
                <a:lnTo>
                  <a:pt x="669078" y="304488"/>
                </a:lnTo>
                <a:close/>
              </a:path>
            </a:pathLst>
          </a:cu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5120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8A8A"/>
              </a:gs>
              <a:gs pos="100000">
                <a:srgbClr val="2BA5A3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541974" y="-1828800"/>
            <a:ext cx="7027722" cy="6047665"/>
          </a:xfrm>
          <a:custGeom>
            <a:avLst/>
            <a:gdLst/>
            <a:ahLst/>
            <a:cxnLst/>
            <a:rect l="l" t="t" r="r" b="b"/>
            <a:pathLst>
              <a:path w="7027722" h="6047665">
                <a:moveTo>
                  <a:pt x="6259626" y="0"/>
                </a:moveTo>
                <a:moveTo>
                  <a:pt x="7027722" y="3657600"/>
                </a:moveTo>
                <a:lnTo>
                  <a:pt x="6825946" y="4670086"/>
                </a:lnTo>
                <a:lnTo>
                  <a:pt x="5774094" y="5352908"/>
                </a:lnTo>
                <a:lnTo>
                  <a:pt x="4851997" y="6047665"/>
                </a:lnTo>
                <a:lnTo>
                  <a:pt x="3516426" y="5675223"/>
                </a:lnTo>
                <a:lnTo>
                  <a:pt x="2387759" y="5729226"/>
                </a:lnTo>
                <a:lnTo>
                  <a:pt x="966149" y="5539446"/>
                </a:lnTo>
                <a:lnTo>
                  <a:pt x="0" y="4724721"/>
                </a:lnTo>
                <a:lnTo>
                  <a:pt x="590346" y="3657600"/>
                </a:lnTo>
                <a:lnTo>
                  <a:pt x="878586" y="2822478"/>
                </a:lnTo>
                <a:lnTo>
                  <a:pt x="1222181" y="1938974"/>
                </a:lnTo>
                <a:lnTo>
                  <a:pt x="2388520" y="1587145"/>
                </a:lnTo>
                <a:lnTo>
                  <a:pt x="3516425" y="847192"/>
                </a:lnTo>
                <a:lnTo>
                  <a:pt x="4851236" y="1268706"/>
                </a:lnTo>
                <a:lnTo>
                  <a:pt x="5518062" y="2125511"/>
                </a:lnTo>
                <a:lnTo>
                  <a:pt x="5947360" y="28771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400" b="1" i="0">
                <a:solidFill>
                  <a:srgbClr val="FFFFFF"/>
                </a:solidFill>
                <a:latin typeface="Ogg TRIAL"/>
              </a:defRPr>
            </a:pPr>
            <a:r>
              <a:t>Type A or B</a:t>
            </a:r>
            <a:br/>
            <a:r>
              <a:t>in the chat!</a:t>
            </a:r>
          </a:p>
        </p:txBody>
      </p:sp>
      <p:sp>
        <p:nvSpPr>
          <p:cNvPr id="5" name="Freeform 4"/>
          <p:cNvSpPr/>
          <p:nvPr/>
        </p:nvSpPr>
        <p:spPr>
          <a:xfrm>
            <a:off x="3244517" y="4092398"/>
            <a:ext cx="3156283" cy="4137202"/>
          </a:xfrm>
          <a:custGeom>
            <a:avLst/>
            <a:gdLst/>
            <a:ahLst/>
            <a:cxnLst/>
            <a:rect l="l" t="t" r="r" b="b"/>
            <a:pathLst>
              <a:path w="3156283" h="4137202">
                <a:moveTo>
                  <a:pt x="3156283" y="4137202"/>
                </a:moveTo>
                <a:moveTo>
                  <a:pt x="2196163" y="936802"/>
                </a:moveTo>
                <a:lnTo>
                  <a:pt x="2133108" y="1274297"/>
                </a:lnTo>
                <a:lnTo>
                  <a:pt x="1804404" y="1501904"/>
                </a:lnTo>
                <a:lnTo>
                  <a:pt x="1516249" y="1733490"/>
                </a:lnTo>
                <a:lnTo>
                  <a:pt x="1098883" y="1609343"/>
                </a:lnTo>
                <a:lnTo>
                  <a:pt x="746174" y="1627344"/>
                </a:lnTo>
                <a:lnTo>
                  <a:pt x="301921" y="1564084"/>
                </a:lnTo>
                <a:lnTo>
                  <a:pt x="0" y="1292509"/>
                </a:lnTo>
                <a:lnTo>
                  <a:pt x="184483" y="936802"/>
                </a:lnTo>
                <a:lnTo>
                  <a:pt x="274558" y="658428"/>
                </a:lnTo>
                <a:lnTo>
                  <a:pt x="381931" y="363926"/>
                </a:lnTo>
                <a:lnTo>
                  <a:pt x="746412" y="246650"/>
                </a:lnTo>
                <a:lnTo>
                  <a:pt x="1098882" y="0"/>
                </a:lnTo>
                <a:lnTo>
                  <a:pt x="1516011" y="140504"/>
                </a:lnTo>
                <a:lnTo>
                  <a:pt x="1724394" y="426105"/>
                </a:lnTo>
                <a:lnTo>
                  <a:pt x="1858550" y="67663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90500" dist="50800" dir="5400000" algn="tl" rotWithShape="0">
              <a:srgbClr val="2D343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448056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1B8A8A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754880"/>
            <a:ext cx="1218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FFFFFF"/>
                </a:solidFill>
                <a:latin typeface="Ogg Text TRIAL"/>
              </a:defRPr>
            </a:pPr>
            <a:r>
              <a:t>or</a:t>
            </a:r>
          </a:p>
        </p:txBody>
      </p:sp>
      <p:sp>
        <p:nvSpPr>
          <p:cNvPr id="8" name="Freeform 7"/>
          <p:cNvSpPr/>
          <p:nvPr/>
        </p:nvSpPr>
        <p:spPr>
          <a:xfrm>
            <a:off x="6749412" y="4092398"/>
            <a:ext cx="6661178" cy="4137202"/>
          </a:xfrm>
          <a:custGeom>
            <a:avLst/>
            <a:gdLst/>
            <a:ahLst/>
            <a:cxnLst/>
            <a:rect l="l" t="t" r="r" b="b"/>
            <a:pathLst>
              <a:path w="6661178" h="4137202">
                <a:moveTo>
                  <a:pt x="6661178" y="4137202"/>
                </a:moveTo>
                <a:moveTo>
                  <a:pt x="2196163" y="936802"/>
                </a:moveTo>
                <a:lnTo>
                  <a:pt x="2133108" y="1274297"/>
                </a:lnTo>
                <a:lnTo>
                  <a:pt x="1804404" y="1501904"/>
                </a:lnTo>
                <a:lnTo>
                  <a:pt x="1516249" y="1733490"/>
                </a:lnTo>
                <a:lnTo>
                  <a:pt x="1098883" y="1609343"/>
                </a:lnTo>
                <a:lnTo>
                  <a:pt x="746174" y="1627344"/>
                </a:lnTo>
                <a:lnTo>
                  <a:pt x="301921" y="1564084"/>
                </a:lnTo>
                <a:lnTo>
                  <a:pt x="0" y="1292509"/>
                </a:lnTo>
                <a:lnTo>
                  <a:pt x="184483" y="936802"/>
                </a:lnTo>
                <a:lnTo>
                  <a:pt x="274558" y="658428"/>
                </a:lnTo>
                <a:lnTo>
                  <a:pt x="381931" y="363926"/>
                </a:lnTo>
                <a:lnTo>
                  <a:pt x="746412" y="246650"/>
                </a:lnTo>
                <a:lnTo>
                  <a:pt x="1098882" y="0"/>
                </a:lnTo>
                <a:lnTo>
                  <a:pt x="1516011" y="140504"/>
                </a:lnTo>
                <a:lnTo>
                  <a:pt x="1724394" y="426105"/>
                </a:lnTo>
                <a:lnTo>
                  <a:pt x="1858550" y="676639"/>
                </a:lnTo>
                <a:close/>
              </a:path>
            </a:pathLst>
          </a:custGeom>
          <a:solidFill>
            <a:srgbClr val="E07B6C"/>
          </a:solidFill>
          <a:ln>
            <a:noFill/>
          </a:ln>
          <a:effectLst>
            <a:outerShdw blurRad="190500" dist="50800" dir="5400000" algn="tl" rotWithShape="0">
              <a:srgbClr val="2D343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48056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7200" b="1" i="0">
                <a:solidFill>
                  <a:srgbClr val="2D3436"/>
                </a:solidFill>
                <a:latin typeface="Ogg TRIAL"/>
              </a:defRPr>
            </a:pPr>
            <a:r>
              <a:t>The Answer Is...</a:t>
            </a:r>
          </a:p>
        </p:txBody>
      </p:sp>
      <p:sp>
        <p:nvSpPr>
          <p:cNvPr id="7" name="Freeform 6"/>
          <p:cNvSpPr/>
          <p:nvPr/>
        </p:nvSpPr>
        <p:spPr>
          <a:xfrm>
            <a:off x="5307931" y="4569200"/>
            <a:ext cx="5299109" cy="4574800"/>
          </a:xfrm>
          <a:custGeom>
            <a:avLst/>
            <a:gdLst/>
            <a:ahLst/>
            <a:cxnLst/>
            <a:rect l="l" t="t" r="r" b="b"/>
            <a:pathLst>
              <a:path w="5299109" h="4574800">
                <a:moveTo>
                  <a:pt x="5299109" y="4574800"/>
                </a:moveTo>
                <a:moveTo>
                  <a:pt x="219617" y="117100"/>
                </a:moveTo>
                <a:lnTo>
                  <a:pt x="213311" y="159286"/>
                </a:lnTo>
                <a:lnTo>
                  <a:pt x="180441" y="187737"/>
                </a:lnTo>
                <a:lnTo>
                  <a:pt x="151625" y="216686"/>
                </a:lnTo>
                <a:lnTo>
                  <a:pt x="109889" y="201167"/>
                </a:lnTo>
                <a:lnTo>
                  <a:pt x="74618" y="203417"/>
                </a:lnTo>
                <a:lnTo>
                  <a:pt x="30192" y="195510"/>
                </a:lnTo>
                <a:lnTo>
                  <a:pt x="0" y="161563"/>
                </a:lnTo>
                <a:lnTo>
                  <a:pt x="18449" y="117100"/>
                </a:lnTo>
                <a:lnTo>
                  <a:pt x="27456" y="82303"/>
                </a:lnTo>
                <a:lnTo>
                  <a:pt x="38193" y="45490"/>
                </a:lnTo>
                <a:lnTo>
                  <a:pt x="74641" y="30831"/>
                </a:lnTo>
                <a:lnTo>
                  <a:pt x="109888" y="0"/>
                </a:lnTo>
                <a:lnTo>
                  <a:pt x="151601" y="17562"/>
                </a:lnTo>
                <a:lnTo>
                  <a:pt x="172440" y="53262"/>
                </a:lnTo>
                <a:lnTo>
                  <a:pt x="185855" y="84579"/>
                </a:lnTo>
                <a:close/>
              </a:path>
            </a:pathLst>
          </a:custGeom>
          <a:solidFill>
            <a:srgbClr val="1B8A8A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65131" y="4569200"/>
            <a:ext cx="5756309" cy="4574800"/>
          </a:xfrm>
          <a:custGeom>
            <a:avLst/>
            <a:gdLst/>
            <a:ahLst/>
            <a:cxnLst/>
            <a:rect l="l" t="t" r="r" b="b"/>
            <a:pathLst>
              <a:path w="5756309" h="4574800">
                <a:moveTo>
                  <a:pt x="5756309" y="4574800"/>
                </a:moveTo>
                <a:moveTo>
                  <a:pt x="219617" y="117100"/>
                </a:moveTo>
                <a:lnTo>
                  <a:pt x="213311" y="159286"/>
                </a:lnTo>
                <a:lnTo>
                  <a:pt x="180441" y="187737"/>
                </a:lnTo>
                <a:lnTo>
                  <a:pt x="151625" y="216686"/>
                </a:lnTo>
                <a:lnTo>
                  <a:pt x="109889" y="201167"/>
                </a:lnTo>
                <a:lnTo>
                  <a:pt x="74618" y="203417"/>
                </a:lnTo>
                <a:lnTo>
                  <a:pt x="30192" y="195510"/>
                </a:lnTo>
                <a:lnTo>
                  <a:pt x="0" y="161563"/>
                </a:lnTo>
                <a:lnTo>
                  <a:pt x="18449" y="117100"/>
                </a:lnTo>
                <a:lnTo>
                  <a:pt x="27456" y="82303"/>
                </a:lnTo>
                <a:lnTo>
                  <a:pt x="38193" y="45490"/>
                </a:lnTo>
                <a:lnTo>
                  <a:pt x="74641" y="30831"/>
                </a:lnTo>
                <a:lnTo>
                  <a:pt x="109888" y="0"/>
                </a:lnTo>
                <a:lnTo>
                  <a:pt x="151601" y="17562"/>
                </a:lnTo>
                <a:lnTo>
                  <a:pt x="172440" y="53262"/>
                </a:lnTo>
                <a:lnTo>
                  <a:pt x="185855" y="84579"/>
                </a:lnTo>
                <a:close/>
              </a:path>
            </a:pathLst>
          </a:custGeom>
          <a:solidFill>
            <a:srgbClr val="1B8A8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222331" y="4569200"/>
            <a:ext cx="6213509" cy="4574800"/>
          </a:xfrm>
          <a:custGeom>
            <a:avLst/>
            <a:gdLst/>
            <a:ahLst/>
            <a:cxnLst/>
            <a:rect l="l" t="t" r="r" b="b"/>
            <a:pathLst>
              <a:path w="6213509" h="4574800">
                <a:moveTo>
                  <a:pt x="6213509" y="4574800"/>
                </a:moveTo>
                <a:moveTo>
                  <a:pt x="219617" y="117100"/>
                </a:moveTo>
                <a:lnTo>
                  <a:pt x="213311" y="159286"/>
                </a:lnTo>
                <a:lnTo>
                  <a:pt x="180441" y="187737"/>
                </a:lnTo>
                <a:lnTo>
                  <a:pt x="151625" y="216686"/>
                </a:lnTo>
                <a:lnTo>
                  <a:pt x="109889" y="201167"/>
                </a:lnTo>
                <a:lnTo>
                  <a:pt x="74618" y="203417"/>
                </a:lnTo>
                <a:lnTo>
                  <a:pt x="30192" y="195510"/>
                </a:lnTo>
                <a:lnTo>
                  <a:pt x="0" y="161563"/>
                </a:lnTo>
                <a:lnTo>
                  <a:pt x="18449" y="117100"/>
                </a:lnTo>
                <a:lnTo>
                  <a:pt x="27456" y="82303"/>
                </a:lnTo>
                <a:lnTo>
                  <a:pt x="38193" y="45490"/>
                </a:lnTo>
                <a:lnTo>
                  <a:pt x="74641" y="30831"/>
                </a:lnTo>
                <a:lnTo>
                  <a:pt x="109888" y="0"/>
                </a:lnTo>
                <a:lnTo>
                  <a:pt x="151601" y="17562"/>
                </a:lnTo>
                <a:lnTo>
                  <a:pt x="172440" y="53262"/>
                </a:lnTo>
                <a:lnTo>
                  <a:pt x="185855" y="84579"/>
                </a:lnTo>
                <a:close/>
              </a:path>
            </a:pathLst>
          </a:custGeom>
          <a:solidFill>
            <a:srgbClr val="1B8A8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07B6C"/>
              </a:gs>
              <a:gs pos="100000">
                <a:srgbClr val="F4A89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1828800"/>
            <a:ext cx="7191673" cy="5192121"/>
          </a:xfrm>
          <a:custGeom>
            <a:avLst/>
            <a:gdLst/>
            <a:ahLst/>
            <a:cxnLst/>
            <a:rect l="l" t="t" r="r" b="b"/>
            <a:pathLst>
              <a:path w="7191673" h="5192121">
                <a:moveTo>
                  <a:pt x="7191673" y="0"/>
                </a:moveTo>
                <a:moveTo>
                  <a:pt x="6149257" y="3200400"/>
                </a:moveTo>
                <a:lnTo>
                  <a:pt x="5972703" y="4044138"/>
                </a:lnTo>
                <a:lnTo>
                  <a:pt x="5052332" y="4613157"/>
                </a:lnTo>
                <a:lnTo>
                  <a:pt x="4245498" y="5192121"/>
                </a:lnTo>
                <a:lnTo>
                  <a:pt x="3076873" y="4881753"/>
                </a:lnTo>
                <a:lnTo>
                  <a:pt x="2089289" y="4926755"/>
                </a:lnTo>
                <a:lnTo>
                  <a:pt x="845381" y="4768605"/>
                </a:lnTo>
                <a:lnTo>
                  <a:pt x="0" y="4089668"/>
                </a:lnTo>
                <a:lnTo>
                  <a:pt x="516553" y="3200400"/>
                </a:lnTo>
                <a:lnTo>
                  <a:pt x="768763" y="2504465"/>
                </a:lnTo>
                <a:lnTo>
                  <a:pt x="1069409" y="1768211"/>
                </a:lnTo>
                <a:lnTo>
                  <a:pt x="2089955" y="1475021"/>
                </a:lnTo>
                <a:lnTo>
                  <a:pt x="3076872" y="858394"/>
                </a:lnTo>
                <a:lnTo>
                  <a:pt x="4244832" y="1209655"/>
                </a:lnTo>
                <a:lnTo>
                  <a:pt x="4828304" y="1923659"/>
                </a:lnTo>
                <a:lnTo>
                  <a:pt x="5203940" y="254999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800" b="1" i="0">
                <a:solidFill>
                  <a:srgbClr val="FFFFFF"/>
                </a:solidFill>
                <a:latin typeface="Ogg TRIAL"/>
              </a:defRPr>
            </a:pPr>
            <a:r>
              <a:t>Both Were Made by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5790895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4114800"/>
            <a:ext cx="54251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600" b="0" i="0">
                <a:solidFill>
                  <a:srgbClr val="2D3436"/>
                </a:solidFill>
                <a:latin typeface="Ogg Text TRIAL"/>
              </a:defRPr>
            </a:pPr>
            <a:r>
              <a:t>In less than 30 seconds.</a:t>
            </a:r>
            <a:br/>
            <a:r>
              <a:t>For free.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6291072" cy="5192121"/>
          </a:xfrm>
          <a:custGeom>
            <a:avLst/>
            <a:gdLst/>
            <a:ahLst/>
            <a:cxnLst/>
            <a:rect l="l" t="t" r="r" b="b"/>
            <a:pathLst>
              <a:path w="6291072" h="5192121">
                <a:moveTo>
                  <a:pt x="0" y="0"/>
                </a:moveTo>
                <a:moveTo>
                  <a:pt x="6291072" y="3200400"/>
                </a:moveTo>
                <a:lnTo>
                  <a:pt x="6139740" y="4044138"/>
                </a:lnTo>
                <a:lnTo>
                  <a:pt x="5350851" y="4613157"/>
                </a:lnTo>
                <a:lnTo>
                  <a:pt x="4659278" y="5192121"/>
                </a:lnTo>
                <a:lnTo>
                  <a:pt x="3657600" y="4881753"/>
                </a:lnTo>
                <a:lnTo>
                  <a:pt x="2811099" y="4926755"/>
                </a:lnTo>
                <a:lnTo>
                  <a:pt x="1744892" y="4768605"/>
                </a:lnTo>
                <a:lnTo>
                  <a:pt x="1020281" y="4089668"/>
                </a:lnTo>
                <a:lnTo>
                  <a:pt x="1463040" y="3200400"/>
                </a:lnTo>
                <a:lnTo>
                  <a:pt x="1679220" y="2504465"/>
                </a:lnTo>
                <a:lnTo>
                  <a:pt x="1936916" y="1768211"/>
                </a:lnTo>
                <a:lnTo>
                  <a:pt x="2811670" y="1475021"/>
                </a:lnTo>
                <a:lnTo>
                  <a:pt x="3657599" y="858394"/>
                </a:lnTo>
                <a:lnTo>
                  <a:pt x="4658707" y="1209655"/>
                </a:lnTo>
                <a:lnTo>
                  <a:pt x="5158827" y="1923659"/>
                </a:lnTo>
                <a:lnTo>
                  <a:pt x="5480801" y="2549994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335481" y="2687194"/>
            <a:ext cx="8123719" cy="4333727"/>
          </a:xfrm>
          <a:custGeom>
            <a:avLst/>
            <a:gdLst/>
            <a:ahLst/>
            <a:cxnLst/>
            <a:rect l="l" t="t" r="r" b="b"/>
            <a:pathLst>
              <a:path w="8123719" h="4333727">
                <a:moveTo>
                  <a:pt x="8123719" y="2799206"/>
                </a:moveTo>
                <a:moveTo>
                  <a:pt x="5270791" y="2342006"/>
                </a:moveTo>
                <a:lnTo>
                  <a:pt x="5119459" y="3185744"/>
                </a:lnTo>
                <a:lnTo>
                  <a:pt x="4330570" y="3754763"/>
                </a:lnTo>
                <a:lnTo>
                  <a:pt x="3638997" y="4333727"/>
                </a:lnTo>
                <a:lnTo>
                  <a:pt x="2637319" y="4023359"/>
                </a:lnTo>
                <a:lnTo>
                  <a:pt x="1790818" y="4068361"/>
                </a:lnTo>
                <a:lnTo>
                  <a:pt x="724611" y="3910211"/>
                </a:lnTo>
                <a:lnTo>
                  <a:pt x="0" y="3231274"/>
                </a:lnTo>
                <a:lnTo>
                  <a:pt x="442759" y="2342006"/>
                </a:lnTo>
                <a:lnTo>
                  <a:pt x="658939" y="1646071"/>
                </a:lnTo>
                <a:lnTo>
                  <a:pt x="916635" y="909817"/>
                </a:lnTo>
                <a:lnTo>
                  <a:pt x="1791389" y="616627"/>
                </a:lnTo>
                <a:lnTo>
                  <a:pt x="2637318" y="0"/>
                </a:lnTo>
                <a:lnTo>
                  <a:pt x="3638426" y="351261"/>
                </a:lnTo>
                <a:lnTo>
                  <a:pt x="4138546" y="1065265"/>
                </a:lnTo>
                <a:lnTo>
                  <a:pt x="4460520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097280"/>
            <a:ext cx="9997135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45920"/>
            <a:ext cx="8899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800" b="0" i="0">
                <a:solidFill>
                  <a:srgbClr val="9CA3A8"/>
                </a:solidFill>
                <a:latin typeface="Ogg Text TRIAL"/>
              </a:defRPr>
            </a:pPr>
            <a:r>
              <a:t>Yes, we all use AI nowadays...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560320"/>
            <a:ext cx="2743200" cy="36576"/>
          </a:xfrm>
          <a:prstGeom prst="rect">
            <a:avLst/>
          </a:prstGeom>
          <a:solidFill>
            <a:srgbClr val="2BA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926080"/>
            <a:ext cx="8899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But in 2026, they've gotten so good</a:t>
            </a:r>
            <a:br/>
            <a:r>
              <a:t>that hiring someone REAL is</a:t>
            </a:r>
            <a:br/>
            <a:r>
              <a:t>starting to become just an option...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5120640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F4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07B6C"/>
                </a:solidFill>
                <a:latin typeface="Ogg Text TRIAL Medium"/>
              </a:defRPr>
            </a:pPr>
            <a:r>
              <a:t>JUST AN 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8F5F3"/>
              </a:gs>
              <a:gs pos="100000">
                <a:srgbClr val="FDF8F3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317834" y="3612795"/>
            <a:ext cx="8141366" cy="3702405"/>
          </a:xfrm>
          <a:custGeom>
            <a:avLst/>
            <a:gdLst/>
            <a:ahLst/>
            <a:cxnLst/>
            <a:rect l="l" t="t" r="r" b="b"/>
            <a:pathLst>
              <a:path w="8141366" h="3702405">
                <a:moveTo>
                  <a:pt x="8141366" y="3702405"/>
                </a:moveTo>
                <a:moveTo>
                  <a:pt x="4392326" y="1873605"/>
                </a:moveTo>
                <a:lnTo>
                  <a:pt x="4266216" y="2548595"/>
                </a:lnTo>
                <a:lnTo>
                  <a:pt x="3608808" y="3003810"/>
                </a:lnTo>
                <a:lnTo>
                  <a:pt x="3032498" y="3466982"/>
                </a:lnTo>
                <a:lnTo>
                  <a:pt x="2197766" y="3218687"/>
                </a:lnTo>
                <a:lnTo>
                  <a:pt x="1492349" y="3254689"/>
                </a:lnTo>
                <a:lnTo>
                  <a:pt x="603843" y="3128169"/>
                </a:lnTo>
                <a:lnTo>
                  <a:pt x="0" y="2585019"/>
                </a:lnTo>
                <a:lnTo>
                  <a:pt x="368966" y="1873605"/>
                </a:lnTo>
                <a:lnTo>
                  <a:pt x="549116" y="1316857"/>
                </a:lnTo>
                <a:lnTo>
                  <a:pt x="763863" y="727854"/>
                </a:lnTo>
                <a:lnTo>
                  <a:pt x="1492825" y="493302"/>
                </a:lnTo>
                <a:lnTo>
                  <a:pt x="2197765" y="0"/>
                </a:lnTo>
                <a:lnTo>
                  <a:pt x="3032022" y="281009"/>
                </a:lnTo>
                <a:lnTo>
                  <a:pt x="3448788" y="852212"/>
                </a:lnTo>
                <a:lnTo>
                  <a:pt x="3717100" y="1353280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828800" y="-1828800"/>
            <a:ext cx="4498848" cy="4336577"/>
          </a:xfrm>
          <a:custGeom>
            <a:avLst/>
            <a:gdLst/>
            <a:ahLst/>
            <a:cxnLst/>
            <a:rect l="l" t="t" r="r" b="b"/>
            <a:pathLst>
              <a:path w="4498848" h="4336577">
                <a:moveTo>
                  <a:pt x="0" y="0"/>
                </a:moveTo>
                <a:moveTo>
                  <a:pt x="4498848" y="2743200"/>
                </a:moveTo>
                <a:lnTo>
                  <a:pt x="4397960" y="3418190"/>
                </a:lnTo>
                <a:lnTo>
                  <a:pt x="3872034" y="3873405"/>
                </a:lnTo>
                <a:lnTo>
                  <a:pt x="3410985" y="4336577"/>
                </a:lnTo>
                <a:lnTo>
                  <a:pt x="2743200" y="4088282"/>
                </a:lnTo>
                <a:lnTo>
                  <a:pt x="2178866" y="4124284"/>
                </a:lnTo>
                <a:lnTo>
                  <a:pt x="1468061" y="3997764"/>
                </a:lnTo>
                <a:lnTo>
                  <a:pt x="984987" y="3454614"/>
                </a:lnTo>
                <a:lnTo>
                  <a:pt x="1280160" y="2743200"/>
                </a:lnTo>
                <a:lnTo>
                  <a:pt x="1424280" y="2186452"/>
                </a:lnTo>
                <a:lnTo>
                  <a:pt x="1596077" y="1597449"/>
                </a:lnTo>
                <a:lnTo>
                  <a:pt x="2179247" y="1362897"/>
                </a:lnTo>
                <a:lnTo>
                  <a:pt x="2743199" y="869595"/>
                </a:lnTo>
                <a:lnTo>
                  <a:pt x="3410605" y="1150604"/>
                </a:lnTo>
                <a:lnTo>
                  <a:pt x="3744018" y="1721807"/>
                </a:lnTo>
                <a:lnTo>
                  <a:pt x="3958667" y="2222875"/>
                </a:lnTo>
                <a:close/>
              </a:path>
            </a:pathLst>
          </a:custGeom>
          <a:solidFill>
            <a:srgbClr val="F7E19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1B8A8A"/>
                </a:solidFill>
                <a:latin typeface="Ogg TRIAL"/>
              </a:defRPr>
            </a:pPr>
            <a:r>
              <a:t>Let that sink in</a:t>
            </a:r>
            <a:br/>
            <a:r>
              <a:t>for a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763481" y="1783995"/>
            <a:ext cx="5270791" cy="3466982"/>
          </a:xfrm>
          <a:custGeom>
            <a:avLst/>
            <a:gdLst/>
            <a:ahLst/>
            <a:cxnLst/>
            <a:rect l="l" t="t" r="r" b="b"/>
            <a:pathLst>
              <a:path w="5270791" h="3466982">
                <a:moveTo>
                  <a:pt x="3551719" y="1873605"/>
                </a:moveTo>
                <a:moveTo>
                  <a:pt x="5270791" y="1873605"/>
                </a:moveTo>
                <a:lnTo>
                  <a:pt x="5119459" y="2548595"/>
                </a:lnTo>
                <a:lnTo>
                  <a:pt x="4330570" y="3003810"/>
                </a:lnTo>
                <a:lnTo>
                  <a:pt x="3638997" y="3466982"/>
                </a:lnTo>
                <a:lnTo>
                  <a:pt x="2637319" y="3218687"/>
                </a:lnTo>
                <a:lnTo>
                  <a:pt x="1790818" y="3254689"/>
                </a:lnTo>
                <a:lnTo>
                  <a:pt x="724611" y="3128169"/>
                </a:lnTo>
                <a:lnTo>
                  <a:pt x="0" y="2585019"/>
                </a:lnTo>
                <a:lnTo>
                  <a:pt x="442759" y="1873605"/>
                </a:lnTo>
                <a:lnTo>
                  <a:pt x="658939" y="1316857"/>
                </a:lnTo>
                <a:lnTo>
                  <a:pt x="916635" y="727854"/>
                </a:lnTo>
                <a:lnTo>
                  <a:pt x="1791389" y="493302"/>
                </a:lnTo>
                <a:lnTo>
                  <a:pt x="2637318" y="0"/>
                </a:lnTo>
                <a:lnTo>
                  <a:pt x="3638426" y="281009"/>
                </a:lnTo>
                <a:lnTo>
                  <a:pt x="4138546" y="852212"/>
                </a:lnTo>
                <a:lnTo>
                  <a:pt x="4460520" y="1353280"/>
                </a:lnTo>
                <a:close/>
              </a:path>
            </a:pathLst>
          </a:custGeom>
          <a:solidFill>
            <a:srgbClr val="E07B6C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200" b="0" i="0">
                <a:solidFill>
                  <a:srgbClr val="FFFFFF"/>
                </a:solidFill>
                <a:latin typeface="Ogg TRIAL"/>
              </a:defRPr>
            </a:pPr>
            <a:r>
              <a:t>Now let me ask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E07B6C"/>
                </a:solidFill>
                <a:latin typeface="Ogg TRIAL"/>
              </a:defRPr>
            </a:pPr>
            <a:r>
              <a:t>something uncomfortable...</a:t>
            </a:r>
          </a:p>
        </p:txBody>
      </p:sp>
      <p:sp>
        <p:nvSpPr>
          <p:cNvPr id="6" name="Freeform 5"/>
          <p:cNvSpPr/>
          <p:nvPr/>
        </p:nvSpPr>
        <p:spPr>
          <a:xfrm>
            <a:off x="2866727" y="2903678"/>
            <a:ext cx="6149257" cy="2948482"/>
          </a:xfrm>
          <a:custGeom>
            <a:avLst/>
            <a:gdLst/>
            <a:ahLst/>
            <a:cxnLst/>
            <a:rect l="l" t="t" r="r" b="b"/>
            <a:pathLst>
              <a:path w="6149257" h="2948482">
                <a:moveTo>
                  <a:pt x="2619673" y="2948482"/>
                </a:moveTo>
                <a:moveTo>
                  <a:pt x="6149257" y="936802"/>
                </a:moveTo>
                <a:lnTo>
                  <a:pt x="5972703" y="1274297"/>
                </a:lnTo>
                <a:lnTo>
                  <a:pt x="5052332" y="1501904"/>
                </a:lnTo>
                <a:lnTo>
                  <a:pt x="4245498" y="1733490"/>
                </a:lnTo>
                <a:lnTo>
                  <a:pt x="3076873" y="1609343"/>
                </a:lnTo>
                <a:lnTo>
                  <a:pt x="2089289" y="1627344"/>
                </a:lnTo>
                <a:lnTo>
                  <a:pt x="845381" y="1564084"/>
                </a:lnTo>
                <a:lnTo>
                  <a:pt x="0" y="1292509"/>
                </a:lnTo>
                <a:lnTo>
                  <a:pt x="516553" y="936802"/>
                </a:lnTo>
                <a:lnTo>
                  <a:pt x="768763" y="658428"/>
                </a:lnTo>
                <a:lnTo>
                  <a:pt x="1069409" y="363926"/>
                </a:lnTo>
                <a:lnTo>
                  <a:pt x="2089955" y="246650"/>
                </a:lnTo>
                <a:lnTo>
                  <a:pt x="3076872" y="0"/>
                </a:lnTo>
                <a:lnTo>
                  <a:pt x="4244832" y="140504"/>
                </a:lnTo>
                <a:lnTo>
                  <a:pt x="4828304" y="426105"/>
                </a:lnTo>
                <a:lnTo>
                  <a:pt x="5203940" y="676639"/>
                </a:lnTo>
                <a:close/>
              </a:path>
            </a:pathLst>
          </a:custGeom>
          <a:solidFill>
            <a:srgbClr val="E07B6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200" b="0" i="0">
                <a:solidFill>
                  <a:srgbClr val="636E72"/>
                </a:solidFill>
                <a:latin typeface="Ogg Text TRIAL"/>
              </a:defRPr>
            </a:pPr>
            <a:r>
              <a:t>If anyone can create designs like this in seconds...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000" b="1" i="0">
                <a:solidFill>
                  <a:srgbClr val="2D3436"/>
                </a:solidFill>
                <a:latin typeface="Ogg TRIAL"/>
              </a:defRPr>
            </a:pPr>
            <a:r>
              <a:t>What happens to</a:t>
            </a:r>
            <a:br/>
            <a:r>
              <a:t>YOUR Etsy shop</a:t>
            </a:r>
            <a:br/>
            <a:r>
              <a:t>in 2026?</a:t>
            </a:r>
          </a:p>
        </p:txBody>
      </p:sp>
      <p:sp>
        <p:nvSpPr>
          <p:cNvPr id="8" name="Freeform 7"/>
          <p:cNvSpPr/>
          <p:nvPr/>
        </p:nvSpPr>
        <p:spPr>
          <a:xfrm>
            <a:off x="9188117" y="4086797"/>
            <a:ext cx="9099883" cy="4142803"/>
          </a:xfrm>
          <a:custGeom>
            <a:avLst/>
            <a:gdLst/>
            <a:ahLst/>
            <a:cxnLst/>
            <a:rect l="l" t="t" r="r" b="b"/>
            <a:pathLst>
              <a:path w="9099883" h="4142803">
                <a:moveTo>
                  <a:pt x="9099883" y="4142803"/>
                </a:moveTo>
                <a:moveTo>
                  <a:pt x="2196163" y="1171003"/>
                </a:moveTo>
                <a:lnTo>
                  <a:pt x="2133108" y="1592872"/>
                </a:lnTo>
                <a:lnTo>
                  <a:pt x="1804404" y="1877381"/>
                </a:lnTo>
                <a:lnTo>
                  <a:pt x="1516249" y="2166863"/>
                </a:lnTo>
                <a:lnTo>
                  <a:pt x="1098883" y="2011679"/>
                </a:lnTo>
                <a:lnTo>
                  <a:pt x="746174" y="2034180"/>
                </a:lnTo>
                <a:lnTo>
                  <a:pt x="301921" y="1955105"/>
                </a:lnTo>
                <a:lnTo>
                  <a:pt x="0" y="1615637"/>
                </a:lnTo>
                <a:lnTo>
                  <a:pt x="184483" y="1171003"/>
                </a:lnTo>
                <a:lnTo>
                  <a:pt x="274558" y="823035"/>
                </a:lnTo>
                <a:lnTo>
                  <a:pt x="381931" y="454908"/>
                </a:lnTo>
                <a:lnTo>
                  <a:pt x="746412" y="308313"/>
                </a:lnTo>
                <a:lnTo>
                  <a:pt x="1098882" y="0"/>
                </a:lnTo>
                <a:lnTo>
                  <a:pt x="1516011" y="175630"/>
                </a:lnTo>
                <a:lnTo>
                  <a:pt x="1724394" y="532632"/>
                </a:lnTo>
                <a:lnTo>
                  <a:pt x="1858550" y="845800"/>
                </a:lnTo>
                <a:close/>
              </a:path>
            </a:pathLst>
          </a:custGeom>
          <a:solidFill>
            <a:srgbClr val="FDD5CC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42062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9600" b="1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6291072" cy="5192121"/>
          </a:xfrm>
          <a:custGeom>
            <a:avLst/>
            <a:gdLst/>
            <a:ahLst/>
            <a:cxnLst/>
            <a:rect l="l" t="t" r="r" b="b"/>
            <a:pathLst>
              <a:path w="6291072" h="5192121">
                <a:moveTo>
                  <a:pt x="0" y="0"/>
                </a:moveTo>
                <a:moveTo>
                  <a:pt x="6291072" y="3200400"/>
                </a:moveTo>
                <a:lnTo>
                  <a:pt x="6139740" y="4044138"/>
                </a:lnTo>
                <a:lnTo>
                  <a:pt x="5350851" y="4613157"/>
                </a:lnTo>
                <a:lnTo>
                  <a:pt x="4659278" y="5192121"/>
                </a:lnTo>
                <a:lnTo>
                  <a:pt x="3657600" y="4881753"/>
                </a:lnTo>
                <a:lnTo>
                  <a:pt x="2811099" y="4926755"/>
                </a:lnTo>
                <a:lnTo>
                  <a:pt x="1744892" y="4768605"/>
                </a:lnTo>
                <a:lnTo>
                  <a:pt x="1020281" y="4089668"/>
                </a:lnTo>
                <a:lnTo>
                  <a:pt x="1463040" y="3200400"/>
                </a:lnTo>
                <a:lnTo>
                  <a:pt x="1679220" y="2504465"/>
                </a:lnTo>
                <a:lnTo>
                  <a:pt x="1936916" y="1768211"/>
                </a:lnTo>
                <a:lnTo>
                  <a:pt x="2811670" y="1475021"/>
                </a:lnTo>
                <a:lnTo>
                  <a:pt x="3657599" y="858394"/>
                </a:lnTo>
                <a:lnTo>
                  <a:pt x="4658707" y="1209655"/>
                </a:lnTo>
                <a:lnTo>
                  <a:pt x="5158827" y="1923659"/>
                </a:lnTo>
                <a:lnTo>
                  <a:pt x="5480801" y="2549994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335481" y="2687194"/>
            <a:ext cx="8123719" cy="4333727"/>
          </a:xfrm>
          <a:custGeom>
            <a:avLst/>
            <a:gdLst/>
            <a:ahLst/>
            <a:cxnLst/>
            <a:rect l="l" t="t" r="r" b="b"/>
            <a:pathLst>
              <a:path w="8123719" h="4333727">
                <a:moveTo>
                  <a:pt x="8123719" y="2799206"/>
                </a:moveTo>
                <a:moveTo>
                  <a:pt x="5270791" y="2342006"/>
                </a:moveTo>
                <a:lnTo>
                  <a:pt x="5119459" y="3185744"/>
                </a:lnTo>
                <a:lnTo>
                  <a:pt x="4330570" y="3754763"/>
                </a:lnTo>
                <a:lnTo>
                  <a:pt x="3638997" y="4333727"/>
                </a:lnTo>
                <a:lnTo>
                  <a:pt x="2637319" y="4023359"/>
                </a:lnTo>
                <a:lnTo>
                  <a:pt x="1790818" y="4068361"/>
                </a:lnTo>
                <a:lnTo>
                  <a:pt x="724611" y="3910211"/>
                </a:lnTo>
                <a:lnTo>
                  <a:pt x="0" y="3231274"/>
                </a:lnTo>
                <a:lnTo>
                  <a:pt x="442759" y="2342006"/>
                </a:lnTo>
                <a:lnTo>
                  <a:pt x="658939" y="1646071"/>
                </a:lnTo>
                <a:lnTo>
                  <a:pt x="916635" y="909817"/>
                </a:lnTo>
                <a:lnTo>
                  <a:pt x="1791389" y="616627"/>
                </a:lnTo>
                <a:lnTo>
                  <a:pt x="2637318" y="0"/>
                </a:lnTo>
                <a:lnTo>
                  <a:pt x="3638426" y="351261"/>
                </a:lnTo>
                <a:lnTo>
                  <a:pt x="4138546" y="1065265"/>
                </a:lnTo>
                <a:lnTo>
                  <a:pt x="4460520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800" b="1" i="0">
                <a:solidFill>
                  <a:srgbClr val="2D3436"/>
                </a:solidFill>
                <a:latin typeface="Ogg TRIAL"/>
              </a:defRPr>
            </a:pPr>
            <a:r>
              <a:t>The numbers I'm about</a:t>
            </a:r>
            <a:br/>
            <a:r>
              <a:t>to show you aren't random...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657600"/>
            <a:ext cx="7619695" cy="201168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93192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800" b="0" i="0">
                <a:solidFill>
                  <a:srgbClr val="FFFFFF"/>
                </a:solidFill>
                <a:latin typeface="Ogg Text TRIAL Medium"/>
              </a:defRPr>
            </a:pPr>
            <a:r>
              <a:t>These are from YOUR OWN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48056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 b="0" i="0">
                <a:solidFill>
                  <a:srgbClr val="5BBCB3"/>
                </a:solidFill>
                <a:latin typeface="Ogg Text TRIAL"/>
              </a:defRPr>
            </a:pPr>
            <a:r>
              <a:t>after I asked 160+ of you last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5212080"/>
            <a:ext cx="2185415" cy="292608"/>
          </a:xfrm>
          <a:prstGeom prst="roundRect">
            <a:avLst>
              <a:gd name="adj" fmla="val 50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160+ SELLERS SURVEYED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12000" b="1" i="0">
                <a:solidFill>
                  <a:srgbClr val="E07B6C"/>
                </a:solidFill>
                <a:latin typeface="Ogg TRIAL"/>
              </a:defRPr>
            </a:pPr>
            <a:r>
              <a:t>75+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400" b="0" i="0">
                <a:solidFill>
                  <a:srgbClr val="2D3436"/>
                </a:solidFill>
                <a:latin typeface="Ogg Text TRIAL"/>
              </a:defRPr>
            </a:pPr>
            <a:r>
              <a:t>sellers report their shops</a:t>
            </a:r>
            <a:br/>
            <a:r>
              <a:t>tanked in the last 2 months</a:t>
            </a:r>
          </a:p>
        </p:txBody>
      </p:sp>
      <p:sp>
        <p:nvSpPr>
          <p:cNvPr id="8" name="Freeform 7"/>
          <p:cNvSpPr/>
          <p:nvPr/>
        </p:nvSpPr>
        <p:spPr>
          <a:xfrm>
            <a:off x="6224978" y="909920"/>
            <a:ext cx="6210862" cy="918880"/>
          </a:xfrm>
          <a:custGeom>
            <a:avLst/>
            <a:gdLst/>
            <a:ahLst/>
            <a:cxnLst/>
            <a:rect l="l" t="t" r="r" b="b"/>
            <a:pathLst>
              <a:path w="6210862" h="918880">
                <a:moveTo>
                  <a:pt x="621086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727898" y="909920"/>
            <a:ext cx="6713782" cy="918880"/>
          </a:xfrm>
          <a:custGeom>
            <a:avLst/>
            <a:gdLst/>
            <a:ahLst/>
            <a:cxnLst/>
            <a:rect l="l" t="t" r="r" b="b"/>
            <a:pathLst>
              <a:path w="6713782" h="918880">
                <a:moveTo>
                  <a:pt x="671378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230818" y="909920"/>
            <a:ext cx="7216702" cy="918880"/>
          </a:xfrm>
          <a:custGeom>
            <a:avLst/>
            <a:gdLst/>
            <a:ahLst/>
            <a:cxnLst/>
            <a:rect l="l" t="t" r="r" b="b"/>
            <a:pathLst>
              <a:path w="7216702" h="918880">
                <a:moveTo>
                  <a:pt x="721670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733737" y="909920"/>
            <a:ext cx="7719621" cy="918880"/>
          </a:xfrm>
          <a:custGeom>
            <a:avLst/>
            <a:gdLst/>
            <a:ahLst/>
            <a:cxnLst/>
            <a:rect l="l" t="t" r="r" b="b"/>
            <a:pathLst>
              <a:path w="7719621" h="918880">
                <a:moveTo>
                  <a:pt x="7719621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236658" y="909920"/>
            <a:ext cx="8222542" cy="918880"/>
          </a:xfrm>
          <a:custGeom>
            <a:avLst/>
            <a:gdLst/>
            <a:ahLst/>
            <a:cxnLst/>
            <a:rect l="l" t="t" r="r" b="b"/>
            <a:pathLst>
              <a:path w="8222542" h="918880">
                <a:moveTo>
                  <a:pt x="822254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8739578" y="909920"/>
            <a:ext cx="8725462" cy="918880"/>
          </a:xfrm>
          <a:custGeom>
            <a:avLst/>
            <a:gdLst/>
            <a:ahLst/>
            <a:cxnLst/>
            <a:rect l="l" t="t" r="r" b="b"/>
            <a:pathLst>
              <a:path w="8725462" h="918880">
                <a:moveTo>
                  <a:pt x="872546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42498" y="909920"/>
            <a:ext cx="9228382" cy="918880"/>
          </a:xfrm>
          <a:custGeom>
            <a:avLst/>
            <a:gdLst/>
            <a:ahLst/>
            <a:cxnLst/>
            <a:rect l="l" t="t" r="r" b="b"/>
            <a:pathLst>
              <a:path w="9228382" h="918880">
                <a:moveTo>
                  <a:pt x="922838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745418" y="909920"/>
            <a:ext cx="9731302" cy="918880"/>
          </a:xfrm>
          <a:custGeom>
            <a:avLst/>
            <a:gdLst/>
            <a:ahLst/>
            <a:cxnLst/>
            <a:rect l="l" t="t" r="r" b="b"/>
            <a:pathLst>
              <a:path w="9731302" h="918880">
                <a:moveTo>
                  <a:pt x="973130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248338" y="909920"/>
            <a:ext cx="10234222" cy="918880"/>
          </a:xfrm>
          <a:custGeom>
            <a:avLst/>
            <a:gdLst/>
            <a:ahLst/>
            <a:cxnLst/>
            <a:rect l="l" t="t" r="r" b="b"/>
            <a:pathLst>
              <a:path w="10234222" h="918880">
                <a:moveTo>
                  <a:pt x="1023422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0751258" y="909920"/>
            <a:ext cx="10737142" cy="918880"/>
          </a:xfrm>
          <a:custGeom>
            <a:avLst/>
            <a:gdLst/>
            <a:ahLst/>
            <a:cxnLst/>
            <a:rect l="l" t="t" r="r" b="b"/>
            <a:pathLst>
              <a:path w="10737142" h="918880">
                <a:moveTo>
                  <a:pt x="10737142" y="9188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224978" y="1412840"/>
            <a:ext cx="6210862" cy="1421800"/>
          </a:xfrm>
          <a:custGeom>
            <a:avLst/>
            <a:gdLst/>
            <a:ahLst/>
            <a:cxnLst/>
            <a:rect l="l" t="t" r="r" b="b"/>
            <a:pathLst>
              <a:path w="6210862" h="1421800">
                <a:moveTo>
                  <a:pt x="621086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6727898" y="1412840"/>
            <a:ext cx="6713782" cy="1421800"/>
          </a:xfrm>
          <a:custGeom>
            <a:avLst/>
            <a:gdLst/>
            <a:ahLst/>
            <a:cxnLst/>
            <a:rect l="l" t="t" r="r" b="b"/>
            <a:pathLst>
              <a:path w="6713782" h="1421800">
                <a:moveTo>
                  <a:pt x="671378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7230818" y="1412840"/>
            <a:ext cx="7216702" cy="1421800"/>
          </a:xfrm>
          <a:custGeom>
            <a:avLst/>
            <a:gdLst/>
            <a:ahLst/>
            <a:cxnLst/>
            <a:rect l="l" t="t" r="r" b="b"/>
            <a:pathLst>
              <a:path w="7216702" h="1421800">
                <a:moveTo>
                  <a:pt x="721670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733737" y="1412840"/>
            <a:ext cx="7719621" cy="1421800"/>
          </a:xfrm>
          <a:custGeom>
            <a:avLst/>
            <a:gdLst/>
            <a:ahLst/>
            <a:cxnLst/>
            <a:rect l="l" t="t" r="r" b="b"/>
            <a:pathLst>
              <a:path w="7719621" h="1421800">
                <a:moveTo>
                  <a:pt x="7719621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236658" y="1412840"/>
            <a:ext cx="8222542" cy="1421800"/>
          </a:xfrm>
          <a:custGeom>
            <a:avLst/>
            <a:gdLst/>
            <a:ahLst/>
            <a:cxnLst/>
            <a:rect l="l" t="t" r="r" b="b"/>
            <a:pathLst>
              <a:path w="8222542" h="1421800">
                <a:moveTo>
                  <a:pt x="822254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8739578" y="1412840"/>
            <a:ext cx="8725462" cy="1421800"/>
          </a:xfrm>
          <a:custGeom>
            <a:avLst/>
            <a:gdLst/>
            <a:ahLst/>
            <a:cxnLst/>
            <a:rect l="l" t="t" r="r" b="b"/>
            <a:pathLst>
              <a:path w="8725462" h="1421800">
                <a:moveTo>
                  <a:pt x="872546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42498" y="1412840"/>
            <a:ext cx="9228382" cy="1421800"/>
          </a:xfrm>
          <a:custGeom>
            <a:avLst/>
            <a:gdLst/>
            <a:ahLst/>
            <a:cxnLst/>
            <a:rect l="l" t="t" r="r" b="b"/>
            <a:pathLst>
              <a:path w="9228382" h="1421800">
                <a:moveTo>
                  <a:pt x="922838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45418" y="1412840"/>
            <a:ext cx="9731302" cy="1421800"/>
          </a:xfrm>
          <a:custGeom>
            <a:avLst/>
            <a:gdLst/>
            <a:ahLst/>
            <a:cxnLst/>
            <a:rect l="l" t="t" r="r" b="b"/>
            <a:pathLst>
              <a:path w="9731302" h="1421800">
                <a:moveTo>
                  <a:pt x="973130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0248338" y="1412840"/>
            <a:ext cx="10234222" cy="1421800"/>
          </a:xfrm>
          <a:custGeom>
            <a:avLst/>
            <a:gdLst/>
            <a:ahLst/>
            <a:cxnLst/>
            <a:rect l="l" t="t" r="r" b="b"/>
            <a:pathLst>
              <a:path w="10234222" h="1421800">
                <a:moveTo>
                  <a:pt x="1023422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10751258" y="1412840"/>
            <a:ext cx="10737142" cy="1421800"/>
          </a:xfrm>
          <a:custGeom>
            <a:avLst/>
            <a:gdLst/>
            <a:ahLst/>
            <a:cxnLst/>
            <a:rect l="l" t="t" r="r" b="b"/>
            <a:pathLst>
              <a:path w="10737142" h="1421800">
                <a:moveTo>
                  <a:pt x="10737142" y="14218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6224978" y="1915760"/>
            <a:ext cx="6210862" cy="1924720"/>
          </a:xfrm>
          <a:custGeom>
            <a:avLst/>
            <a:gdLst/>
            <a:ahLst/>
            <a:cxnLst/>
            <a:rect l="l" t="t" r="r" b="b"/>
            <a:pathLst>
              <a:path w="6210862" h="1924720">
                <a:moveTo>
                  <a:pt x="621086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727898" y="1915760"/>
            <a:ext cx="6713782" cy="1924720"/>
          </a:xfrm>
          <a:custGeom>
            <a:avLst/>
            <a:gdLst/>
            <a:ahLst/>
            <a:cxnLst/>
            <a:rect l="l" t="t" r="r" b="b"/>
            <a:pathLst>
              <a:path w="6713782" h="1924720">
                <a:moveTo>
                  <a:pt x="671378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7230818" y="1915760"/>
            <a:ext cx="7216702" cy="1924720"/>
          </a:xfrm>
          <a:custGeom>
            <a:avLst/>
            <a:gdLst/>
            <a:ahLst/>
            <a:cxnLst/>
            <a:rect l="l" t="t" r="r" b="b"/>
            <a:pathLst>
              <a:path w="7216702" h="1924720">
                <a:moveTo>
                  <a:pt x="721670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7733737" y="1915760"/>
            <a:ext cx="7719621" cy="1924720"/>
          </a:xfrm>
          <a:custGeom>
            <a:avLst/>
            <a:gdLst/>
            <a:ahLst/>
            <a:cxnLst/>
            <a:rect l="l" t="t" r="r" b="b"/>
            <a:pathLst>
              <a:path w="7719621" h="1924720">
                <a:moveTo>
                  <a:pt x="7719621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8236658" y="1915760"/>
            <a:ext cx="8222542" cy="1924720"/>
          </a:xfrm>
          <a:custGeom>
            <a:avLst/>
            <a:gdLst/>
            <a:ahLst/>
            <a:cxnLst/>
            <a:rect l="l" t="t" r="r" b="b"/>
            <a:pathLst>
              <a:path w="8222542" h="1924720">
                <a:moveTo>
                  <a:pt x="822254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8739578" y="1915760"/>
            <a:ext cx="8725462" cy="1924720"/>
          </a:xfrm>
          <a:custGeom>
            <a:avLst/>
            <a:gdLst/>
            <a:ahLst/>
            <a:cxnLst/>
            <a:rect l="l" t="t" r="r" b="b"/>
            <a:pathLst>
              <a:path w="8725462" h="1924720">
                <a:moveTo>
                  <a:pt x="872546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9242498" y="1915760"/>
            <a:ext cx="9228382" cy="1924720"/>
          </a:xfrm>
          <a:custGeom>
            <a:avLst/>
            <a:gdLst/>
            <a:ahLst/>
            <a:cxnLst/>
            <a:rect l="l" t="t" r="r" b="b"/>
            <a:pathLst>
              <a:path w="9228382" h="1924720">
                <a:moveTo>
                  <a:pt x="922838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9745418" y="1915760"/>
            <a:ext cx="9731302" cy="1924720"/>
          </a:xfrm>
          <a:custGeom>
            <a:avLst/>
            <a:gdLst/>
            <a:ahLst/>
            <a:cxnLst/>
            <a:rect l="l" t="t" r="r" b="b"/>
            <a:pathLst>
              <a:path w="9731302" h="1924720">
                <a:moveTo>
                  <a:pt x="973130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248338" y="1915760"/>
            <a:ext cx="10234222" cy="1924720"/>
          </a:xfrm>
          <a:custGeom>
            <a:avLst/>
            <a:gdLst/>
            <a:ahLst/>
            <a:cxnLst/>
            <a:rect l="l" t="t" r="r" b="b"/>
            <a:pathLst>
              <a:path w="10234222" h="1924720">
                <a:moveTo>
                  <a:pt x="1023422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751258" y="1915760"/>
            <a:ext cx="10737142" cy="1924720"/>
          </a:xfrm>
          <a:custGeom>
            <a:avLst/>
            <a:gdLst/>
            <a:ahLst/>
            <a:cxnLst/>
            <a:rect l="l" t="t" r="r" b="b"/>
            <a:pathLst>
              <a:path w="10737142" h="1924720">
                <a:moveTo>
                  <a:pt x="10737142" y="19247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24978" y="2418680"/>
            <a:ext cx="6210862" cy="2427640"/>
          </a:xfrm>
          <a:custGeom>
            <a:avLst/>
            <a:gdLst/>
            <a:ahLst/>
            <a:cxnLst/>
            <a:rect l="l" t="t" r="r" b="b"/>
            <a:pathLst>
              <a:path w="6210862" h="2427640">
                <a:moveTo>
                  <a:pt x="621086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727898" y="2418680"/>
            <a:ext cx="6713782" cy="2427640"/>
          </a:xfrm>
          <a:custGeom>
            <a:avLst/>
            <a:gdLst/>
            <a:ahLst/>
            <a:cxnLst/>
            <a:rect l="l" t="t" r="r" b="b"/>
            <a:pathLst>
              <a:path w="6713782" h="2427640">
                <a:moveTo>
                  <a:pt x="671378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230818" y="2418680"/>
            <a:ext cx="7216702" cy="2427640"/>
          </a:xfrm>
          <a:custGeom>
            <a:avLst/>
            <a:gdLst/>
            <a:ahLst/>
            <a:cxnLst/>
            <a:rect l="l" t="t" r="r" b="b"/>
            <a:pathLst>
              <a:path w="7216702" h="2427640">
                <a:moveTo>
                  <a:pt x="721670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733737" y="2418680"/>
            <a:ext cx="7719621" cy="2427640"/>
          </a:xfrm>
          <a:custGeom>
            <a:avLst/>
            <a:gdLst/>
            <a:ahLst/>
            <a:cxnLst/>
            <a:rect l="l" t="t" r="r" b="b"/>
            <a:pathLst>
              <a:path w="7719621" h="2427640">
                <a:moveTo>
                  <a:pt x="7719621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8236658" y="2418680"/>
            <a:ext cx="8222542" cy="2427640"/>
          </a:xfrm>
          <a:custGeom>
            <a:avLst/>
            <a:gdLst/>
            <a:ahLst/>
            <a:cxnLst/>
            <a:rect l="l" t="t" r="r" b="b"/>
            <a:pathLst>
              <a:path w="8222542" h="2427640">
                <a:moveTo>
                  <a:pt x="822254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8739578" y="2418680"/>
            <a:ext cx="8725462" cy="2427640"/>
          </a:xfrm>
          <a:custGeom>
            <a:avLst/>
            <a:gdLst/>
            <a:ahLst/>
            <a:cxnLst/>
            <a:rect l="l" t="t" r="r" b="b"/>
            <a:pathLst>
              <a:path w="8725462" h="2427640">
                <a:moveTo>
                  <a:pt x="872546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242498" y="2418680"/>
            <a:ext cx="9228382" cy="2427640"/>
          </a:xfrm>
          <a:custGeom>
            <a:avLst/>
            <a:gdLst/>
            <a:ahLst/>
            <a:cxnLst/>
            <a:rect l="l" t="t" r="r" b="b"/>
            <a:pathLst>
              <a:path w="9228382" h="2427640">
                <a:moveTo>
                  <a:pt x="922838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9745418" y="2418680"/>
            <a:ext cx="9731302" cy="2427640"/>
          </a:xfrm>
          <a:custGeom>
            <a:avLst/>
            <a:gdLst/>
            <a:ahLst/>
            <a:cxnLst/>
            <a:rect l="l" t="t" r="r" b="b"/>
            <a:pathLst>
              <a:path w="9731302" h="2427640">
                <a:moveTo>
                  <a:pt x="973130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248338" y="2418680"/>
            <a:ext cx="10234222" cy="2427640"/>
          </a:xfrm>
          <a:custGeom>
            <a:avLst/>
            <a:gdLst/>
            <a:ahLst/>
            <a:cxnLst/>
            <a:rect l="l" t="t" r="r" b="b"/>
            <a:pathLst>
              <a:path w="10234222" h="2427640">
                <a:moveTo>
                  <a:pt x="1023422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0751258" y="2418680"/>
            <a:ext cx="10737142" cy="2427640"/>
          </a:xfrm>
          <a:custGeom>
            <a:avLst/>
            <a:gdLst/>
            <a:ahLst/>
            <a:cxnLst/>
            <a:rect l="l" t="t" r="r" b="b"/>
            <a:pathLst>
              <a:path w="10737142" h="2427640">
                <a:moveTo>
                  <a:pt x="10737142" y="242764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224978" y="2921600"/>
            <a:ext cx="6210862" cy="2930560"/>
          </a:xfrm>
          <a:custGeom>
            <a:avLst/>
            <a:gdLst/>
            <a:ahLst/>
            <a:cxnLst/>
            <a:rect l="l" t="t" r="r" b="b"/>
            <a:pathLst>
              <a:path w="6210862" h="2930560">
                <a:moveTo>
                  <a:pt x="621086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6727898" y="2921600"/>
            <a:ext cx="6713782" cy="2930560"/>
          </a:xfrm>
          <a:custGeom>
            <a:avLst/>
            <a:gdLst/>
            <a:ahLst/>
            <a:cxnLst/>
            <a:rect l="l" t="t" r="r" b="b"/>
            <a:pathLst>
              <a:path w="6713782" h="2930560">
                <a:moveTo>
                  <a:pt x="671378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7230818" y="2921600"/>
            <a:ext cx="7216702" cy="2930560"/>
          </a:xfrm>
          <a:custGeom>
            <a:avLst/>
            <a:gdLst/>
            <a:ahLst/>
            <a:cxnLst/>
            <a:rect l="l" t="t" r="r" b="b"/>
            <a:pathLst>
              <a:path w="7216702" h="2930560">
                <a:moveTo>
                  <a:pt x="721670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7733737" y="2921600"/>
            <a:ext cx="7719621" cy="2930560"/>
          </a:xfrm>
          <a:custGeom>
            <a:avLst/>
            <a:gdLst/>
            <a:ahLst/>
            <a:cxnLst/>
            <a:rect l="l" t="t" r="r" b="b"/>
            <a:pathLst>
              <a:path w="7719621" h="2930560">
                <a:moveTo>
                  <a:pt x="7719621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236658" y="2921600"/>
            <a:ext cx="8222542" cy="2930560"/>
          </a:xfrm>
          <a:custGeom>
            <a:avLst/>
            <a:gdLst/>
            <a:ahLst/>
            <a:cxnLst/>
            <a:rect l="l" t="t" r="r" b="b"/>
            <a:pathLst>
              <a:path w="8222542" h="2930560">
                <a:moveTo>
                  <a:pt x="822254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39578" y="2921600"/>
            <a:ext cx="8725462" cy="2930560"/>
          </a:xfrm>
          <a:custGeom>
            <a:avLst/>
            <a:gdLst/>
            <a:ahLst/>
            <a:cxnLst/>
            <a:rect l="l" t="t" r="r" b="b"/>
            <a:pathLst>
              <a:path w="8725462" h="2930560">
                <a:moveTo>
                  <a:pt x="872546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242498" y="2921600"/>
            <a:ext cx="9228382" cy="2930560"/>
          </a:xfrm>
          <a:custGeom>
            <a:avLst/>
            <a:gdLst/>
            <a:ahLst/>
            <a:cxnLst/>
            <a:rect l="l" t="t" r="r" b="b"/>
            <a:pathLst>
              <a:path w="9228382" h="2930560">
                <a:moveTo>
                  <a:pt x="922838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45418" y="2921600"/>
            <a:ext cx="9731302" cy="2930560"/>
          </a:xfrm>
          <a:custGeom>
            <a:avLst/>
            <a:gdLst/>
            <a:ahLst/>
            <a:cxnLst/>
            <a:rect l="l" t="t" r="r" b="b"/>
            <a:pathLst>
              <a:path w="9731302" h="2930560">
                <a:moveTo>
                  <a:pt x="973130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248338" y="2921600"/>
            <a:ext cx="10234222" cy="2930560"/>
          </a:xfrm>
          <a:custGeom>
            <a:avLst/>
            <a:gdLst/>
            <a:ahLst/>
            <a:cxnLst/>
            <a:rect l="l" t="t" r="r" b="b"/>
            <a:pathLst>
              <a:path w="10234222" h="2930560">
                <a:moveTo>
                  <a:pt x="1023422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751258" y="2921600"/>
            <a:ext cx="10737142" cy="2930560"/>
          </a:xfrm>
          <a:custGeom>
            <a:avLst/>
            <a:gdLst/>
            <a:ahLst/>
            <a:cxnLst/>
            <a:rect l="l" t="t" r="r" b="b"/>
            <a:pathLst>
              <a:path w="10737142" h="2930560">
                <a:moveTo>
                  <a:pt x="10737142" y="293056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6224978" y="3424520"/>
            <a:ext cx="6210862" cy="3433480"/>
          </a:xfrm>
          <a:custGeom>
            <a:avLst/>
            <a:gdLst/>
            <a:ahLst/>
            <a:cxnLst/>
            <a:rect l="l" t="t" r="r" b="b"/>
            <a:pathLst>
              <a:path w="6210862" h="3433480">
                <a:moveTo>
                  <a:pt x="621086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6727898" y="3424520"/>
            <a:ext cx="6713782" cy="3433480"/>
          </a:xfrm>
          <a:custGeom>
            <a:avLst/>
            <a:gdLst/>
            <a:ahLst/>
            <a:cxnLst/>
            <a:rect l="l" t="t" r="r" b="b"/>
            <a:pathLst>
              <a:path w="6713782" h="3433480">
                <a:moveTo>
                  <a:pt x="671378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7230818" y="3424520"/>
            <a:ext cx="7216702" cy="3433480"/>
          </a:xfrm>
          <a:custGeom>
            <a:avLst/>
            <a:gdLst/>
            <a:ahLst/>
            <a:cxnLst/>
            <a:rect l="l" t="t" r="r" b="b"/>
            <a:pathLst>
              <a:path w="7216702" h="3433480">
                <a:moveTo>
                  <a:pt x="721670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7733737" y="3424520"/>
            <a:ext cx="7719621" cy="3433480"/>
          </a:xfrm>
          <a:custGeom>
            <a:avLst/>
            <a:gdLst/>
            <a:ahLst/>
            <a:cxnLst/>
            <a:rect l="l" t="t" r="r" b="b"/>
            <a:pathLst>
              <a:path w="7719621" h="3433480">
                <a:moveTo>
                  <a:pt x="7719621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8236658" y="3424520"/>
            <a:ext cx="8222542" cy="3433480"/>
          </a:xfrm>
          <a:custGeom>
            <a:avLst/>
            <a:gdLst/>
            <a:ahLst/>
            <a:cxnLst/>
            <a:rect l="l" t="t" r="r" b="b"/>
            <a:pathLst>
              <a:path w="8222542" h="3433480">
                <a:moveTo>
                  <a:pt x="822254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739578" y="3424520"/>
            <a:ext cx="8725462" cy="3433480"/>
          </a:xfrm>
          <a:custGeom>
            <a:avLst/>
            <a:gdLst/>
            <a:ahLst/>
            <a:cxnLst/>
            <a:rect l="l" t="t" r="r" b="b"/>
            <a:pathLst>
              <a:path w="8725462" h="3433480">
                <a:moveTo>
                  <a:pt x="872546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9242498" y="3424520"/>
            <a:ext cx="9228382" cy="3433480"/>
          </a:xfrm>
          <a:custGeom>
            <a:avLst/>
            <a:gdLst/>
            <a:ahLst/>
            <a:cxnLst/>
            <a:rect l="l" t="t" r="r" b="b"/>
            <a:pathLst>
              <a:path w="9228382" h="3433480">
                <a:moveTo>
                  <a:pt x="922838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9745418" y="3424520"/>
            <a:ext cx="9731302" cy="3433480"/>
          </a:xfrm>
          <a:custGeom>
            <a:avLst/>
            <a:gdLst/>
            <a:ahLst/>
            <a:cxnLst/>
            <a:rect l="l" t="t" r="r" b="b"/>
            <a:pathLst>
              <a:path w="9731302" h="3433480">
                <a:moveTo>
                  <a:pt x="973130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0248338" y="3424520"/>
            <a:ext cx="10234222" cy="3433480"/>
          </a:xfrm>
          <a:custGeom>
            <a:avLst/>
            <a:gdLst/>
            <a:ahLst/>
            <a:cxnLst/>
            <a:rect l="l" t="t" r="r" b="b"/>
            <a:pathLst>
              <a:path w="10234222" h="3433480">
                <a:moveTo>
                  <a:pt x="1023422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751258" y="3424520"/>
            <a:ext cx="10737142" cy="3433480"/>
          </a:xfrm>
          <a:custGeom>
            <a:avLst/>
            <a:gdLst/>
            <a:ahLst/>
            <a:cxnLst/>
            <a:rect l="l" t="t" r="r" b="b"/>
            <a:pathLst>
              <a:path w="10737142" h="3433480">
                <a:moveTo>
                  <a:pt x="10737142" y="343348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6224978" y="3927440"/>
            <a:ext cx="6210862" cy="3936400"/>
          </a:xfrm>
          <a:custGeom>
            <a:avLst/>
            <a:gdLst/>
            <a:ahLst/>
            <a:cxnLst/>
            <a:rect l="l" t="t" r="r" b="b"/>
            <a:pathLst>
              <a:path w="6210862" h="3936400">
                <a:moveTo>
                  <a:pt x="621086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727898" y="3927440"/>
            <a:ext cx="6713782" cy="3936400"/>
          </a:xfrm>
          <a:custGeom>
            <a:avLst/>
            <a:gdLst/>
            <a:ahLst/>
            <a:cxnLst/>
            <a:rect l="l" t="t" r="r" b="b"/>
            <a:pathLst>
              <a:path w="6713782" h="3936400">
                <a:moveTo>
                  <a:pt x="671378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230818" y="3927440"/>
            <a:ext cx="7216702" cy="3936400"/>
          </a:xfrm>
          <a:custGeom>
            <a:avLst/>
            <a:gdLst/>
            <a:ahLst/>
            <a:cxnLst/>
            <a:rect l="l" t="t" r="r" b="b"/>
            <a:pathLst>
              <a:path w="7216702" h="3936400">
                <a:moveTo>
                  <a:pt x="721670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7733737" y="3927440"/>
            <a:ext cx="7719621" cy="3936400"/>
          </a:xfrm>
          <a:custGeom>
            <a:avLst/>
            <a:gdLst/>
            <a:ahLst/>
            <a:cxnLst/>
            <a:rect l="l" t="t" r="r" b="b"/>
            <a:pathLst>
              <a:path w="7719621" h="3936400">
                <a:moveTo>
                  <a:pt x="7719621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8236658" y="3927440"/>
            <a:ext cx="8222542" cy="3936400"/>
          </a:xfrm>
          <a:custGeom>
            <a:avLst/>
            <a:gdLst/>
            <a:ahLst/>
            <a:cxnLst/>
            <a:rect l="l" t="t" r="r" b="b"/>
            <a:pathLst>
              <a:path w="8222542" h="3936400">
                <a:moveTo>
                  <a:pt x="822254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8739578" y="3927440"/>
            <a:ext cx="8725462" cy="3936400"/>
          </a:xfrm>
          <a:custGeom>
            <a:avLst/>
            <a:gdLst/>
            <a:ahLst/>
            <a:cxnLst/>
            <a:rect l="l" t="t" r="r" b="b"/>
            <a:pathLst>
              <a:path w="8725462" h="3936400">
                <a:moveTo>
                  <a:pt x="872546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9242498" y="3927440"/>
            <a:ext cx="9228382" cy="3936400"/>
          </a:xfrm>
          <a:custGeom>
            <a:avLst/>
            <a:gdLst/>
            <a:ahLst/>
            <a:cxnLst/>
            <a:rect l="l" t="t" r="r" b="b"/>
            <a:pathLst>
              <a:path w="9228382" h="3936400">
                <a:moveTo>
                  <a:pt x="922838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9745418" y="3927440"/>
            <a:ext cx="9731302" cy="3936400"/>
          </a:xfrm>
          <a:custGeom>
            <a:avLst/>
            <a:gdLst/>
            <a:ahLst/>
            <a:cxnLst/>
            <a:rect l="l" t="t" r="r" b="b"/>
            <a:pathLst>
              <a:path w="9731302" h="3936400">
                <a:moveTo>
                  <a:pt x="973130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248338" y="3927440"/>
            <a:ext cx="10234222" cy="3936400"/>
          </a:xfrm>
          <a:custGeom>
            <a:avLst/>
            <a:gdLst/>
            <a:ahLst/>
            <a:cxnLst/>
            <a:rect l="l" t="t" r="r" b="b"/>
            <a:pathLst>
              <a:path w="10234222" h="3936400">
                <a:moveTo>
                  <a:pt x="1023422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0751258" y="3927440"/>
            <a:ext cx="10737142" cy="3936400"/>
          </a:xfrm>
          <a:custGeom>
            <a:avLst/>
            <a:gdLst/>
            <a:ahLst/>
            <a:cxnLst/>
            <a:rect l="l" t="t" r="r" b="b"/>
            <a:pathLst>
              <a:path w="10737142" h="3936400">
                <a:moveTo>
                  <a:pt x="10737142" y="393640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6224978" y="4430360"/>
            <a:ext cx="6210862" cy="4439320"/>
          </a:xfrm>
          <a:custGeom>
            <a:avLst/>
            <a:gdLst/>
            <a:ahLst/>
            <a:cxnLst/>
            <a:rect l="l" t="t" r="r" b="b"/>
            <a:pathLst>
              <a:path w="6210862" h="4439320">
                <a:moveTo>
                  <a:pt x="621086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6727898" y="4430360"/>
            <a:ext cx="6713782" cy="4439320"/>
          </a:xfrm>
          <a:custGeom>
            <a:avLst/>
            <a:gdLst/>
            <a:ahLst/>
            <a:cxnLst/>
            <a:rect l="l" t="t" r="r" b="b"/>
            <a:pathLst>
              <a:path w="6713782" h="4439320">
                <a:moveTo>
                  <a:pt x="671378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7230818" y="4430360"/>
            <a:ext cx="7216702" cy="4439320"/>
          </a:xfrm>
          <a:custGeom>
            <a:avLst/>
            <a:gdLst/>
            <a:ahLst/>
            <a:cxnLst/>
            <a:rect l="l" t="t" r="r" b="b"/>
            <a:pathLst>
              <a:path w="7216702" h="4439320">
                <a:moveTo>
                  <a:pt x="721670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7733737" y="4430360"/>
            <a:ext cx="7719621" cy="4439320"/>
          </a:xfrm>
          <a:custGeom>
            <a:avLst/>
            <a:gdLst/>
            <a:ahLst/>
            <a:cxnLst/>
            <a:rect l="l" t="t" r="r" b="b"/>
            <a:pathLst>
              <a:path w="7719621" h="4439320">
                <a:moveTo>
                  <a:pt x="7719621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8236658" y="4430360"/>
            <a:ext cx="8222542" cy="4439320"/>
          </a:xfrm>
          <a:custGeom>
            <a:avLst/>
            <a:gdLst/>
            <a:ahLst/>
            <a:cxnLst/>
            <a:rect l="l" t="t" r="r" b="b"/>
            <a:pathLst>
              <a:path w="8222542" h="4439320">
                <a:moveTo>
                  <a:pt x="822254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8739578" y="4430360"/>
            <a:ext cx="8725462" cy="4439320"/>
          </a:xfrm>
          <a:custGeom>
            <a:avLst/>
            <a:gdLst/>
            <a:ahLst/>
            <a:cxnLst/>
            <a:rect l="l" t="t" r="r" b="b"/>
            <a:pathLst>
              <a:path w="8725462" h="4439320">
                <a:moveTo>
                  <a:pt x="872546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9242498" y="4430360"/>
            <a:ext cx="9228382" cy="4439320"/>
          </a:xfrm>
          <a:custGeom>
            <a:avLst/>
            <a:gdLst/>
            <a:ahLst/>
            <a:cxnLst/>
            <a:rect l="l" t="t" r="r" b="b"/>
            <a:pathLst>
              <a:path w="9228382" h="4439320">
                <a:moveTo>
                  <a:pt x="922838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9745418" y="4430360"/>
            <a:ext cx="9731302" cy="4439320"/>
          </a:xfrm>
          <a:custGeom>
            <a:avLst/>
            <a:gdLst/>
            <a:ahLst/>
            <a:cxnLst/>
            <a:rect l="l" t="t" r="r" b="b"/>
            <a:pathLst>
              <a:path w="9731302" h="4439320">
                <a:moveTo>
                  <a:pt x="973130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0248338" y="4430360"/>
            <a:ext cx="10234222" cy="4439320"/>
          </a:xfrm>
          <a:custGeom>
            <a:avLst/>
            <a:gdLst/>
            <a:ahLst/>
            <a:cxnLst/>
            <a:rect l="l" t="t" r="r" b="b"/>
            <a:pathLst>
              <a:path w="10234222" h="4439320">
                <a:moveTo>
                  <a:pt x="1023422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0751258" y="4430360"/>
            <a:ext cx="10737142" cy="4439320"/>
          </a:xfrm>
          <a:custGeom>
            <a:avLst/>
            <a:gdLst/>
            <a:ahLst/>
            <a:cxnLst/>
            <a:rect l="l" t="t" r="r" b="b"/>
            <a:pathLst>
              <a:path w="10737142" h="4439320">
                <a:moveTo>
                  <a:pt x="10737142" y="4439320"/>
                </a:moveTo>
                <a:moveTo>
                  <a:pt x="351386" y="187360"/>
                </a:moveTo>
                <a:lnTo>
                  <a:pt x="341298" y="254859"/>
                </a:lnTo>
                <a:lnTo>
                  <a:pt x="288705" y="300380"/>
                </a:lnTo>
                <a:lnTo>
                  <a:pt x="242600" y="346697"/>
                </a:lnTo>
                <a:lnTo>
                  <a:pt x="175822" y="321868"/>
                </a:lnTo>
                <a:lnTo>
                  <a:pt x="119388" y="325468"/>
                </a:lnTo>
                <a:lnTo>
                  <a:pt x="48308" y="312816"/>
                </a:lnTo>
                <a:lnTo>
                  <a:pt x="0" y="258501"/>
                </a:lnTo>
                <a:lnTo>
                  <a:pt x="29518" y="187360"/>
                </a:lnTo>
                <a:lnTo>
                  <a:pt x="43930" y="131685"/>
                </a:lnTo>
                <a:lnTo>
                  <a:pt x="61109" y="72784"/>
                </a:lnTo>
                <a:lnTo>
                  <a:pt x="119426" y="49329"/>
                </a:lnTo>
                <a:lnTo>
                  <a:pt x="175821" y="0"/>
                </a:lnTo>
                <a:lnTo>
                  <a:pt x="242562" y="28100"/>
                </a:lnTo>
                <a:lnTo>
                  <a:pt x="275903" y="85220"/>
                </a:lnTo>
                <a:lnTo>
                  <a:pt x="297368" y="135327"/>
                </a:lnTo>
                <a:close/>
              </a:path>
            </a:pathLst>
          </a:cu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48640" y="38404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2960" y="41148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If there are 4 people on your row in this chat,</a:t>
            </a:r>
            <a:br/>
            <a:r>
              <a:t>3 of them are feeling this...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6291072" cy="5192121"/>
          </a:xfrm>
          <a:custGeom>
            <a:avLst/>
            <a:gdLst/>
            <a:ahLst/>
            <a:cxnLst/>
            <a:rect l="l" t="t" r="r" b="b"/>
            <a:pathLst>
              <a:path w="6291072" h="5192121">
                <a:moveTo>
                  <a:pt x="0" y="0"/>
                </a:moveTo>
                <a:moveTo>
                  <a:pt x="6291072" y="3200400"/>
                </a:moveTo>
                <a:lnTo>
                  <a:pt x="6139740" y="4044138"/>
                </a:lnTo>
                <a:lnTo>
                  <a:pt x="5350851" y="4613157"/>
                </a:lnTo>
                <a:lnTo>
                  <a:pt x="4659278" y="5192121"/>
                </a:lnTo>
                <a:lnTo>
                  <a:pt x="3657600" y="4881753"/>
                </a:lnTo>
                <a:lnTo>
                  <a:pt x="2811099" y="4926755"/>
                </a:lnTo>
                <a:lnTo>
                  <a:pt x="1744892" y="4768605"/>
                </a:lnTo>
                <a:lnTo>
                  <a:pt x="1020281" y="4089668"/>
                </a:lnTo>
                <a:lnTo>
                  <a:pt x="1463040" y="3200400"/>
                </a:lnTo>
                <a:lnTo>
                  <a:pt x="1679220" y="2504465"/>
                </a:lnTo>
                <a:lnTo>
                  <a:pt x="1936916" y="1768211"/>
                </a:lnTo>
                <a:lnTo>
                  <a:pt x="2811670" y="1475021"/>
                </a:lnTo>
                <a:lnTo>
                  <a:pt x="3657599" y="858394"/>
                </a:lnTo>
                <a:lnTo>
                  <a:pt x="4658707" y="1209655"/>
                </a:lnTo>
                <a:lnTo>
                  <a:pt x="5158827" y="1923659"/>
                </a:lnTo>
                <a:lnTo>
                  <a:pt x="5480801" y="2549994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335481" y="2687194"/>
            <a:ext cx="8123719" cy="4333727"/>
          </a:xfrm>
          <a:custGeom>
            <a:avLst/>
            <a:gdLst/>
            <a:ahLst/>
            <a:cxnLst/>
            <a:rect l="l" t="t" r="r" b="b"/>
            <a:pathLst>
              <a:path w="8123719" h="4333727">
                <a:moveTo>
                  <a:pt x="8123719" y="2799206"/>
                </a:moveTo>
                <a:moveTo>
                  <a:pt x="5270791" y="2342006"/>
                </a:moveTo>
                <a:lnTo>
                  <a:pt x="5119459" y="3185744"/>
                </a:lnTo>
                <a:lnTo>
                  <a:pt x="4330570" y="3754763"/>
                </a:lnTo>
                <a:lnTo>
                  <a:pt x="3638997" y="4333727"/>
                </a:lnTo>
                <a:lnTo>
                  <a:pt x="2637319" y="4023359"/>
                </a:lnTo>
                <a:lnTo>
                  <a:pt x="1790818" y="4068361"/>
                </a:lnTo>
                <a:lnTo>
                  <a:pt x="724611" y="3910211"/>
                </a:lnTo>
                <a:lnTo>
                  <a:pt x="0" y="3231274"/>
                </a:lnTo>
                <a:lnTo>
                  <a:pt x="442759" y="2342006"/>
                </a:lnTo>
                <a:lnTo>
                  <a:pt x="658939" y="1646071"/>
                </a:lnTo>
                <a:lnTo>
                  <a:pt x="916635" y="909817"/>
                </a:lnTo>
                <a:lnTo>
                  <a:pt x="1791389" y="616627"/>
                </a:lnTo>
                <a:lnTo>
                  <a:pt x="2637318" y="0"/>
                </a:lnTo>
                <a:lnTo>
                  <a:pt x="3638426" y="351261"/>
                </a:lnTo>
                <a:lnTo>
                  <a:pt x="4138546" y="1065265"/>
                </a:lnTo>
                <a:lnTo>
                  <a:pt x="4460520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5943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63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VIEWS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011680"/>
            <a:ext cx="18288" cy="2286000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4297680"/>
            <a:ext cx="4572000" cy="18288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114800"/>
            <a:ext cx="4572000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32004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2800" b="1" i="0">
                <a:solidFill>
                  <a:srgbClr val="E07B6C"/>
                </a:solidFill>
                <a:latin typeface="Ogg TRIAL"/>
              </a:defRPr>
            </a:pPr>
            <a: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defRPr sz="9600" b="1" i="0">
                <a:solidFill>
                  <a:srgbClr val="1B8A8A"/>
                </a:solidFill>
                <a:latin typeface="Ogg TRIAL"/>
              </a:defRPr>
            </a:pPr>
            <a:r>
              <a:t>58+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560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  <a:defRPr sz="2200" b="0" i="0">
                <a:solidFill>
                  <a:srgbClr val="2D3436"/>
                </a:solidFill>
                <a:latin typeface="Ogg Text TRIAL"/>
              </a:defRPr>
            </a:pPr>
            <a:r>
              <a:t>sellers said their #1 problem:</a:t>
            </a:r>
            <a:br/>
            <a:r>
              <a:t>"No views anymore"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1148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"Not fewer views. Zero.</a:t>
            </a:r>
            <a:br/>
            <a:r>
              <a:t>Like a switch was flipped."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7315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12000" b="1" i="0">
                <a:solidFill>
                  <a:srgbClr val="2D3436"/>
                </a:solidFill>
                <a:latin typeface="Ogg TRIAL"/>
              </a:defRPr>
            </a:pPr>
            <a:r>
              <a:t>47+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800" b="0" i="0">
                <a:solidFill>
                  <a:srgbClr val="636E72"/>
                </a:solidFill>
                <a:latin typeface="Ogg Text TRIAL"/>
              </a:defRPr>
            </a:pPr>
            <a:r>
              <a:t>said they have "No idea what to design"</a:t>
            </a:r>
          </a:p>
        </p:txBody>
      </p:sp>
      <p:sp>
        <p:nvSpPr>
          <p:cNvPr id="8" name="Freeform 7"/>
          <p:cNvSpPr/>
          <p:nvPr/>
        </p:nvSpPr>
        <p:spPr>
          <a:xfrm>
            <a:off x="1106103" y="3469120"/>
            <a:ext cx="1088457" cy="3480320"/>
          </a:xfrm>
          <a:custGeom>
            <a:avLst/>
            <a:gdLst/>
            <a:ahLst/>
            <a:cxnLst/>
            <a:rect l="l" t="t" r="r" b="b"/>
            <a:pathLst>
              <a:path w="1088457" h="3480320">
                <a:moveTo>
                  <a:pt x="1088457" y="348032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3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4930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0" name="Freeform 9"/>
          <p:cNvSpPr/>
          <p:nvPr/>
        </p:nvSpPr>
        <p:spPr>
          <a:xfrm>
            <a:off x="2569143" y="3926320"/>
            <a:ext cx="2551497" cy="3937520"/>
          </a:xfrm>
          <a:custGeom>
            <a:avLst/>
            <a:gdLst/>
            <a:ahLst/>
            <a:cxnLst/>
            <a:rect l="l" t="t" r="r" b="b"/>
            <a:pathLst>
              <a:path w="2551497" h="3937520">
                <a:moveTo>
                  <a:pt x="2551497" y="393752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4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39502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2" name="Freeform 11"/>
          <p:cNvSpPr/>
          <p:nvPr/>
        </p:nvSpPr>
        <p:spPr>
          <a:xfrm>
            <a:off x="3849303" y="3286240"/>
            <a:ext cx="3831657" cy="3297440"/>
          </a:xfrm>
          <a:custGeom>
            <a:avLst/>
            <a:gdLst/>
            <a:ahLst/>
            <a:cxnLst/>
            <a:rect l="l" t="t" r="r" b="b"/>
            <a:pathLst>
              <a:path w="3831657" h="3297440">
                <a:moveTo>
                  <a:pt x="3831657" y="329744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33101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4" name="Freeform 13"/>
          <p:cNvSpPr/>
          <p:nvPr/>
        </p:nvSpPr>
        <p:spPr>
          <a:xfrm>
            <a:off x="5312343" y="4109200"/>
            <a:ext cx="5294697" cy="4120400"/>
          </a:xfrm>
          <a:custGeom>
            <a:avLst/>
            <a:gdLst/>
            <a:ahLst/>
            <a:cxnLst/>
            <a:rect l="l" t="t" r="r" b="b"/>
            <a:pathLst>
              <a:path w="5294697" h="4120400">
                <a:moveTo>
                  <a:pt x="5294697" y="412040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3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413308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6" name="Freeform 15"/>
          <p:cNvSpPr/>
          <p:nvPr/>
        </p:nvSpPr>
        <p:spPr>
          <a:xfrm>
            <a:off x="6592503" y="3560560"/>
            <a:ext cx="6574857" cy="3571760"/>
          </a:xfrm>
          <a:custGeom>
            <a:avLst/>
            <a:gdLst/>
            <a:ahLst/>
            <a:cxnLst/>
            <a:rect l="l" t="t" r="r" b="b"/>
            <a:pathLst>
              <a:path w="6574857" h="3571760">
                <a:moveTo>
                  <a:pt x="6574857" y="357176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58444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8" name="Freeform 17"/>
          <p:cNvSpPr/>
          <p:nvPr/>
        </p:nvSpPr>
        <p:spPr>
          <a:xfrm>
            <a:off x="8055543" y="3834880"/>
            <a:ext cx="8037897" cy="3846080"/>
          </a:xfrm>
          <a:custGeom>
            <a:avLst/>
            <a:gdLst/>
            <a:ahLst/>
            <a:cxnLst/>
            <a:rect l="l" t="t" r="r" b="b"/>
            <a:pathLst>
              <a:path w="8037897" h="3846080">
                <a:moveTo>
                  <a:pt x="8037897" y="384608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5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8587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8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0" name="Freeform 19"/>
          <p:cNvSpPr/>
          <p:nvPr/>
        </p:nvSpPr>
        <p:spPr>
          <a:xfrm>
            <a:off x="9427143" y="3377680"/>
            <a:ext cx="9409497" cy="3388880"/>
          </a:xfrm>
          <a:custGeom>
            <a:avLst/>
            <a:gdLst/>
            <a:ahLst/>
            <a:cxnLst/>
            <a:rect l="l" t="t" r="r" b="b"/>
            <a:pathLst>
              <a:path w="9409497" h="3388880">
                <a:moveTo>
                  <a:pt x="9409497" y="338888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3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34015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1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2" name="Freeform 21"/>
          <p:cNvSpPr/>
          <p:nvPr/>
        </p:nvSpPr>
        <p:spPr>
          <a:xfrm>
            <a:off x="1654743" y="4566400"/>
            <a:ext cx="1637097" cy="4577600"/>
          </a:xfrm>
          <a:custGeom>
            <a:avLst/>
            <a:gdLst/>
            <a:ahLst/>
            <a:cxnLst/>
            <a:rect l="l" t="t" r="r" b="b"/>
            <a:pathLst>
              <a:path w="1637097" h="4577600">
                <a:moveTo>
                  <a:pt x="1637097" y="457760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45902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2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4" name="Freeform 23"/>
          <p:cNvSpPr/>
          <p:nvPr/>
        </p:nvSpPr>
        <p:spPr>
          <a:xfrm>
            <a:off x="3209223" y="4840720"/>
            <a:ext cx="3191577" cy="4851920"/>
          </a:xfrm>
          <a:custGeom>
            <a:avLst/>
            <a:gdLst/>
            <a:ahLst/>
            <a:cxnLst/>
            <a:rect l="l" t="t" r="r" b="b"/>
            <a:pathLst>
              <a:path w="3191577" h="4851920">
                <a:moveTo>
                  <a:pt x="3191577" y="485192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48646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6" name="Freeform 25"/>
          <p:cNvSpPr/>
          <p:nvPr/>
        </p:nvSpPr>
        <p:spPr>
          <a:xfrm>
            <a:off x="5038023" y="4657840"/>
            <a:ext cx="5020377" cy="4669040"/>
          </a:xfrm>
          <a:custGeom>
            <a:avLst/>
            <a:gdLst/>
            <a:ahLst/>
            <a:cxnLst/>
            <a:rect l="l" t="t" r="r" b="b"/>
            <a:pathLst>
              <a:path w="5020377" h="4669040">
                <a:moveTo>
                  <a:pt x="5020377" y="466904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3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468172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9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8" name="Freeform 27"/>
          <p:cNvSpPr/>
          <p:nvPr/>
        </p:nvSpPr>
        <p:spPr>
          <a:xfrm>
            <a:off x="6866823" y="4932160"/>
            <a:ext cx="6849177" cy="4943360"/>
          </a:xfrm>
          <a:custGeom>
            <a:avLst/>
            <a:gdLst/>
            <a:ahLst/>
            <a:cxnLst/>
            <a:rect l="l" t="t" r="r" b="b"/>
            <a:pathLst>
              <a:path w="6849177" h="4943360">
                <a:moveTo>
                  <a:pt x="6849177" y="494336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95604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0" name="Freeform 29"/>
          <p:cNvSpPr/>
          <p:nvPr/>
        </p:nvSpPr>
        <p:spPr>
          <a:xfrm>
            <a:off x="8695623" y="4566400"/>
            <a:ext cx="8677977" cy="4577600"/>
          </a:xfrm>
          <a:custGeom>
            <a:avLst/>
            <a:gdLst/>
            <a:ahLst/>
            <a:cxnLst/>
            <a:rect l="l" t="t" r="r" b="b"/>
            <a:pathLst>
              <a:path w="8677977" h="4577600">
                <a:moveTo>
                  <a:pt x="8677977" y="457760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9CA3A8">
              <a:alpha val="6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5902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223" y="4383520"/>
            <a:ext cx="10049577" cy="4394720"/>
          </a:xfrm>
          <a:custGeom>
            <a:avLst/>
            <a:gdLst/>
            <a:ahLst/>
            <a:cxnLst/>
            <a:rect l="l" t="t" r="r" b="b"/>
            <a:pathLst>
              <a:path w="10049577" h="4394720">
                <a:moveTo>
                  <a:pt x="10049577" y="4394720"/>
                </a:moveTo>
                <a:moveTo>
                  <a:pt x="439233" y="234200"/>
                </a:moveTo>
                <a:lnTo>
                  <a:pt x="426622" y="318573"/>
                </a:lnTo>
                <a:lnTo>
                  <a:pt x="360881" y="375475"/>
                </a:lnTo>
                <a:lnTo>
                  <a:pt x="303250" y="433372"/>
                </a:lnTo>
                <a:lnTo>
                  <a:pt x="219777" y="402335"/>
                </a:lnTo>
                <a:lnTo>
                  <a:pt x="149235" y="406835"/>
                </a:lnTo>
                <a:lnTo>
                  <a:pt x="60384" y="391020"/>
                </a:lnTo>
                <a:lnTo>
                  <a:pt x="0" y="323126"/>
                </a:lnTo>
                <a:lnTo>
                  <a:pt x="36897" y="234200"/>
                </a:lnTo>
                <a:lnTo>
                  <a:pt x="54912" y="164606"/>
                </a:lnTo>
                <a:lnTo>
                  <a:pt x="76386" y="90981"/>
                </a:lnTo>
                <a:lnTo>
                  <a:pt x="149282" y="61662"/>
                </a:lnTo>
                <a:lnTo>
                  <a:pt x="219776" y="0"/>
                </a:lnTo>
                <a:lnTo>
                  <a:pt x="303202" y="35125"/>
                </a:lnTo>
                <a:lnTo>
                  <a:pt x="344879" y="106525"/>
                </a:lnTo>
                <a:lnTo>
                  <a:pt x="371710" y="169159"/>
                </a:lnTo>
                <a:close/>
              </a:path>
            </a:pathLst>
          </a:custGeom>
          <a:solidFill>
            <a:srgbClr val="FDD5CC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04120" y="44074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3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486400"/>
            <a:ext cx="8534095" cy="82296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03120" y="5623560"/>
            <a:ext cx="7985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 b="0" i="0">
                <a:solidFill>
                  <a:srgbClr val="FFFFFF"/>
                </a:solidFill>
                <a:latin typeface="Ogg Text TRIAL"/>
              </a:defRPr>
            </a:pPr>
            <a:r>
              <a:t>They're not lazy. They're paralyzed because the rules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EE5E0"/>
              </a:gs>
              <a:gs pos="100000">
                <a:srgbClr val="FDF8F3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4538396"/>
            <a:ext cx="4498848" cy="4605604"/>
          </a:xfrm>
          <a:custGeom>
            <a:avLst/>
            <a:gdLst/>
            <a:ahLst/>
            <a:cxnLst/>
            <a:rect l="l" t="t" r="r" b="b"/>
            <a:pathLst>
              <a:path w="4498848" h="4605604">
                <a:moveTo>
                  <a:pt x="0" y="4605604"/>
                </a:moveTo>
                <a:moveTo>
                  <a:pt x="4498848" y="1405204"/>
                </a:moveTo>
                <a:lnTo>
                  <a:pt x="4397960" y="1911447"/>
                </a:lnTo>
                <a:lnTo>
                  <a:pt x="3872034" y="2252858"/>
                </a:lnTo>
                <a:lnTo>
                  <a:pt x="3410985" y="2600236"/>
                </a:lnTo>
                <a:lnTo>
                  <a:pt x="2743200" y="2414015"/>
                </a:lnTo>
                <a:lnTo>
                  <a:pt x="2178866" y="2441017"/>
                </a:lnTo>
                <a:lnTo>
                  <a:pt x="1468061" y="2346127"/>
                </a:lnTo>
                <a:lnTo>
                  <a:pt x="984987" y="1938764"/>
                </a:lnTo>
                <a:lnTo>
                  <a:pt x="1280160" y="1405204"/>
                </a:lnTo>
                <a:lnTo>
                  <a:pt x="1424280" y="987643"/>
                </a:lnTo>
                <a:lnTo>
                  <a:pt x="1596077" y="545891"/>
                </a:lnTo>
                <a:lnTo>
                  <a:pt x="2179247" y="369976"/>
                </a:lnTo>
                <a:lnTo>
                  <a:pt x="2743199" y="0"/>
                </a:lnTo>
                <a:lnTo>
                  <a:pt x="3410605" y="210757"/>
                </a:lnTo>
                <a:lnTo>
                  <a:pt x="3744018" y="639159"/>
                </a:lnTo>
                <a:lnTo>
                  <a:pt x="3958667" y="1014960"/>
                </a:lnTo>
                <a:close/>
              </a:path>
            </a:pathLst>
          </a:cu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14587" y="-1828800"/>
            <a:ext cx="9073413" cy="4336577"/>
          </a:xfrm>
          <a:custGeom>
            <a:avLst/>
            <a:gdLst/>
            <a:ahLst/>
            <a:cxnLst/>
            <a:rect l="l" t="t" r="r" b="b"/>
            <a:pathLst>
              <a:path w="9073413" h="4336577">
                <a:moveTo>
                  <a:pt x="9073413" y="0"/>
                </a:moveTo>
                <a:moveTo>
                  <a:pt x="3513861" y="2743200"/>
                </a:moveTo>
                <a:lnTo>
                  <a:pt x="3412973" y="3418190"/>
                </a:lnTo>
                <a:lnTo>
                  <a:pt x="2887047" y="3873405"/>
                </a:lnTo>
                <a:lnTo>
                  <a:pt x="2425998" y="4336577"/>
                </a:lnTo>
                <a:lnTo>
                  <a:pt x="1758213" y="4088282"/>
                </a:lnTo>
                <a:lnTo>
                  <a:pt x="1193879" y="4124284"/>
                </a:lnTo>
                <a:lnTo>
                  <a:pt x="483074" y="3997764"/>
                </a:lnTo>
                <a:lnTo>
                  <a:pt x="0" y="3454614"/>
                </a:lnTo>
                <a:lnTo>
                  <a:pt x="295173" y="2743200"/>
                </a:lnTo>
                <a:lnTo>
                  <a:pt x="439293" y="2186452"/>
                </a:lnTo>
                <a:lnTo>
                  <a:pt x="611090" y="1597449"/>
                </a:lnTo>
                <a:lnTo>
                  <a:pt x="1194260" y="1362897"/>
                </a:lnTo>
                <a:lnTo>
                  <a:pt x="1758212" y="869595"/>
                </a:lnTo>
                <a:lnTo>
                  <a:pt x="2425618" y="1150604"/>
                </a:lnTo>
                <a:lnTo>
                  <a:pt x="2759031" y="1721807"/>
                </a:lnTo>
                <a:lnTo>
                  <a:pt x="2973680" y="2222875"/>
                </a:lnTo>
                <a:close/>
              </a:path>
            </a:pathLst>
          </a:custGeom>
          <a:solidFill>
            <a:srgbClr val="E8F5F3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534095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400" b="1" i="0">
                <a:solidFill>
                  <a:srgbClr val="2D3436"/>
                </a:solidFill>
                <a:latin typeface="Ogg TRIAL"/>
              </a:defRPr>
            </a:pPr>
            <a:r>
              <a:t>Does anyone else</a:t>
            </a:r>
            <a:br/>
            <a:r>
              <a:t>feel that way?</a:t>
            </a:r>
          </a:p>
        </p:txBody>
      </p:sp>
      <p:sp>
        <p:nvSpPr>
          <p:cNvPr id="7" name="Freeform 6"/>
          <p:cNvSpPr/>
          <p:nvPr/>
        </p:nvSpPr>
        <p:spPr>
          <a:xfrm>
            <a:off x="4630816" y="3829279"/>
            <a:ext cx="4513184" cy="3851681"/>
          </a:xfrm>
          <a:custGeom>
            <a:avLst/>
            <a:gdLst/>
            <a:ahLst/>
            <a:cxnLst/>
            <a:rect l="l" t="t" r="r" b="b"/>
            <a:pathLst>
              <a:path w="4513184" h="3851681">
                <a:moveTo>
                  <a:pt x="4513184" y="3851681"/>
                </a:moveTo>
                <a:moveTo>
                  <a:pt x="2927925" y="468401"/>
                </a:moveTo>
                <a:lnTo>
                  <a:pt x="2843860" y="637148"/>
                </a:lnTo>
                <a:lnTo>
                  <a:pt x="2405632" y="750952"/>
                </a:lnTo>
                <a:lnTo>
                  <a:pt x="2021464" y="866745"/>
                </a:lnTo>
                <a:lnTo>
                  <a:pt x="1465031" y="804671"/>
                </a:lnTo>
                <a:lnTo>
                  <a:pt x="994800" y="813672"/>
                </a:lnTo>
                <a:lnTo>
                  <a:pt x="402522" y="782042"/>
                </a:lnTo>
                <a:lnTo>
                  <a:pt x="0" y="646254"/>
                </a:lnTo>
                <a:lnTo>
                  <a:pt x="245953" y="468401"/>
                </a:lnTo>
                <a:lnTo>
                  <a:pt x="366041" y="329214"/>
                </a:lnTo>
                <a:lnTo>
                  <a:pt x="509192" y="181963"/>
                </a:lnTo>
                <a:lnTo>
                  <a:pt x="995117" y="123325"/>
                </a:lnTo>
                <a:lnTo>
                  <a:pt x="1465031" y="0"/>
                </a:lnTo>
                <a:lnTo>
                  <a:pt x="2021146" y="70252"/>
                </a:lnTo>
                <a:lnTo>
                  <a:pt x="2298963" y="213052"/>
                </a:lnTo>
                <a:lnTo>
                  <a:pt x="2477819" y="338319"/>
                </a:lnTo>
                <a:close/>
              </a:path>
            </a:pathLst>
          </a:custGeom>
          <a:solidFill>
            <a:srgbClr val="1B8A8A"/>
          </a:solidFill>
          <a:ln>
            <a:noFill/>
          </a:ln>
          <a:effectLst>
            <a:outerShdw blurRad="127000" dist="38100" dir="5400000" algn="tl" rotWithShape="0">
              <a:srgbClr val="2D3436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3977639"/>
            <a:ext cx="2681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800" b="0" i="0">
                <a:solidFill>
                  <a:srgbClr val="FFFFFF"/>
                </a:solidFill>
                <a:latin typeface="Ogg Text TRIAL Medium"/>
              </a:defRPr>
            </a:pPr>
            <a:r>
              <a:t>Type "YES" in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035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I'm curious how many of you are seeing the same problems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400" b="0" i="0">
                <a:solidFill>
                  <a:srgbClr val="636E72"/>
                </a:solidFill>
                <a:latin typeface="Ogg Text TRIAL"/>
              </a:defRPr>
            </a:pPr>
            <a:r>
              <a:t>So the real question isn't: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400" b="0" i="0">
                <a:solidFill>
                  <a:srgbClr val="9CA3A8"/>
                </a:solidFill>
                <a:latin typeface="Ogg TRIAL"/>
              </a:defRPr>
            </a:pPr>
            <a:r>
              <a:t>"How do I make more listings?"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383280"/>
            <a:ext cx="7619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67096" y="2729759"/>
            <a:ext cx="1624744" cy="2756641"/>
          </a:xfrm>
          <a:custGeom>
            <a:avLst/>
            <a:gdLst/>
            <a:ahLst/>
            <a:cxnLst/>
            <a:rect l="l" t="t" r="r" b="b"/>
            <a:pathLst>
              <a:path w="1624744" h="2756641">
                <a:moveTo>
                  <a:pt x="1624744" y="2756641"/>
                </a:moveTo>
                <a:moveTo>
                  <a:pt x="1054158" y="562081"/>
                </a:moveTo>
                <a:lnTo>
                  <a:pt x="1023892" y="764578"/>
                </a:lnTo>
                <a:lnTo>
                  <a:pt x="866114" y="901142"/>
                </a:lnTo>
                <a:lnTo>
                  <a:pt x="727799" y="1040094"/>
                </a:lnTo>
                <a:lnTo>
                  <a:pt x="527464" y="965605"/>
                </a:lnTo>
                <a:lnTo>
                  <a:pt x="358163" y="976406"/>
                </a:lnTo>
                <a:lnTo>
                  <a:pt x="144922" y="938450"/>
                </a:lnTo>
                <a:lnTo>
                  <a:pt x="0" y="775505"/>
                </a:lnTo>
                <a:lnTo>
                  <a:pt x="88552" y="562081"/>
                </a:lnTo>
                <a:lnTo>
                  <a:pt x="131788" y="395056"/>
                </a:lnTo>
                <a:lnTo>
                  <a:pt x="183327" y="218355"/>
                </a:lnTo>
                <a:lnTo>
                  <a:pt x="358278" y="147990"/>
                </a:lnTo>
                <a:lnTo>
                  <a:pt x="527463" y="0"/>
                </a:lnTo>
                <a:lnTo>
                  <a:pt x="727685" y="84302"/>
                </a:lnTo>
                <a:lnTo>
                  <a:pt x="827709" y="255663"/>
                </a:lnTo>
                <a:lnTo>
                  <a:pt x="892104" y="405983"/>
                </a:lnTo>
                <a:close/>
              </a:path>
            </a:pathLst>
          </a:custGeom>
          <a:solidFill>
            <a:srgbClr val="FDD5C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8346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  <p:sp>
        <p:nvSpPr>
          <p:cNvPr id="11" name="Freeform 10"/>
          <p:cNvSpPr/>
          <p:nvPr/>
        </p:nvSpPr>
        <p:spPr>
          <a:xfrm>
            <a:off x="9439496" y="2729759"/>
            <a:ext cx="9397144" cy="2756641"/>
          </a:xfrm>
          <a:custGeom>
            <a:avLst/>
            <a:gdLst/>
            <a:ahLst/>
            <a:cxnLst/>
            <a:rect l="l" t="t" r="r" b="b"/>
            <a:pathLst>
              <a:path w="9397144" h="2756641">
                <a:moveTo>
                  <a:pt x="9397144" y="2756641"/>
                </a:moveTo>
                <a:moveTo>
                  <a:pt x="1054158" y="562081"/>
                </a:moveTo>
                <a:lnTo>
                  <a:pt x="1023892" y="764578"/>
                </a:lnTo>
                <a:lnTo>
                  <a:pt x="866114" y="901142"/>
                </a:lnTo>
                <a:lnTo>
                  <a:pt x="727799" y="1040094"/>
                </a:lnTo>
                <a:lnTo>
                  <a:pt x="527464" y="965605"/>
                </a:lnTo>
                <a:lnTo>
                  <a:pt x="358163" y="976406"/>
                </a:lnTo>
                <a:lnTo>
                  <a:pt x="144922" y="938450"/>
                </a:lnTo>
                <a:lnTo>
                  <a:pt x="0" y="775505"/>
                </a:lnTo>
                <a:lnTo>
                  <a:pt x="88552" y="562081"/>
                </a:lnTo>
                <a:lnTo>
                  <a:pt x="131788" y="395056"/>
                </a:lnTo>
                <a:lnTo>
                  <a:pt x="183327" y="218355"/>
                </a:lnTo>
                <a:lnTo>
                  <a:pt x="358278" y="147990"/>
                </a:lnTo>
                <a:lnTo>
                  <a:pt x="527463" y="0"/>
                </a:lnTo>
                <a:lnTo>
                  <a:pt x="727685" y="84302"/>
                </a:lnTo>
                <a:lnTo>
                  <a:pt x="827709" y="255663"/>
                </a:lnTo>
                <a:lnTo>
                  <a:pt x="892104" y="405983"/>
                </a:lnTo>
                <a:close/>
              </a:path>
            </a:pathLst>
          </a:custGeom>
          <a:solidFill>
            <a:srgbClr val="FDD5C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8346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763481" y="1783995"/>
            <a:ext cx="5270791" cy="3466982"/>
          </a:xfrm>
          <a:custGeom>
            <a:avLst/>
            <a:gdLst/>
            <a:ahLst/>
            <a:cxnLst/>
            <a:rect l="l" t="t" r="r" b="b"/>
            <a:pathLst>
              <a:path w="5270791" h="3466982">
                <a:moveTo>
                  <a:pt x="3551719" y="1873605"/>
                </a:moveTo>
                <a:moveTo>
                  <a:pt x="5270791" y="1873605"/>
                </a:moveTo>
                <a:lnTo>
                  <a:pt x="5119459" y="2548595"/>
                </a:lnTo>
                <a:lnTo>
                  <a:pt x="4330570" y="3003810"/>
                </a:lnTo>
                <a:lnTo>
                  <a:pt x="3638997" y="3466982"/>
                </a:lnTo>
                <a:lnTo>
                  <a:pt x="2637319" y="3218687"/>
                </a:lnTo>
                <a:lnTo>
                  <a:pt x="1790818" y="3254689"/>
                </a:lnTo>
                <a:lnTo>
                  <a:pt x="724611" y="3128169"/>
                </a:lnTo>
                <a:lnTo>
                  <a:pt x="0" y="2585019"/>
                </a:lnTo>
                <a:lnTo>
                  <a:pt x="442759" y="1873605"/>
                </a:lnTo>
                <a:lnTo>
                  <a:pt x="658939" y="1316857"/>
                </a:lnTo>
                <a:lnTo>
                  <a:pt x="916635" y="727854"/>
                </a:lnTo>
                <a:lnTo>
                  <a:pt x="1791389" y="493302"/>
                </a:lnTo>
                <a:lnTo>
                  <a:pt x="2637318" y="0"/>
                </a:lnTo>
                <a:lnTo>
                  <a:pt x="3638426" y="281009"/>
                </a:lnTo>
                <a:lnTo>
                  <a:pt x="4138546" y="852212"/>
                </a:lnTo>
                <a:lnTo>
                  <a:pt x="4460520" y="1353280"/>
                </a:lnTo>
                <a:close/>
              </a:path>
            </a:pathLst>
          </a:custGeom>
          <a:solidFill>
            <a:srgbClr val="E07B6C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000" b="1" i="0">
                <a:solidFill>
                  <a:srgbClr val="FFFFFF"/>
                </a:solidFill>
                <a:latin typeface="Ogg TRIAL"/>
              </a:defRPr>
            </a:pPr>
            <a:r>
              <a:t>Is Etsy even worth</a:t>
            </a:r>
            <a:br/>
            <a:r>
              <a:t>pursuing in 2026?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303520"/>
            <a:ext cx="3047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828800" y="-1828800"/>
            <a:ext cx="6291072" cy="5192121"/>
          </a:xfrm>
          <a:custGeom>
            <a:avLst/>
            <a:gdLst/>
            <a:ahLst/>
            <a:cxnLst/>
            <a:rect l="l" t="t" r="r" b="b"/>
            <a:pathLst>
              <a:path w="6291072" h="5192121">
                <a:moveTo>
                  <a:pt x="0" y="0"/>
                </a:moveTo>
                <a:moveTo>
                  <a:pt x="6291072" y="3200400"/>
                </a:moveTo>
                <a:lnTo>
                  <a:pt x="6139740" y="4044138"/>
                </a:lnTo>
                <a:lnTo>
                  <a:pt x="5350851" y="4613157"/>
                </a:lnTo>
                <a:lnTo>
                  <a:pt x="4659278" y="5192121"/>
                </a:lnTo>
                <a:lnTo>
                  <a:pt x="3657600" y="4881753"/>
                </a:lnTo>
                <a:lnTo>
                  <a:pt x="2811099" y="4926755"/>
                </a:lnTo>
                <a:lnTo>
                  <a:pt x="1744892" y="4768605"/>
                </a:lnTo>
                <a:lnTo>
                  <a:pt x="1020281" y="4089668"/>
                </a:lnTo>
                <a:lnTo>
                  <a:pt x="1463040" y="3200400"/>
                </a:lnTo>
                <a:lnTo>
                  <a:pt x="1679220" y="2504465"/>
                </a:lnTo>
                <a:lnTo>
                  <a:pt x="1936916" y="1768211"/>
                </a:lnTo>
                <a:lnTo>
                  <a:pt x="2811670" y="1475021"/>
                </a:lnTo>
                <a:lnTo>
                  <a:pt x="3657599" y="858394"/>
                </a:lnTo>
                <a:lnTo>
                  <a:pt x="4658707" y="1209655"/>
                </a:lnTo>
                <a:lnTo>
                  <a:pt x="5158827" y="1923659"/>
                </a:lnTo>
                <a:lnTo>
                  <a:pt x="5480801" y="2549994"/>
                </a:lnTo>
                <a:close/>
              </a:path>
            </a:pathLst>
          </a:cu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335481" y="2687194"/>
            <a:ext cx="8123719" cy="4333727"/>
          </a:xfrm>
          <a:custGeom>
            <a:avLst/>
            <a:gdLst/>
            <a:ahLst/>
            <a:cxnLst/>
            <a:rect l="l" t="t" r="r" b="b"/>
            <a:pathLst>
              <a:path w="8123719" h="4333727">
                <a:moveTo>
                  <a:pt x="8123719" y="2799206"/>
                </a:moveTo>
                <a:moveTo>
                  <a:pt x="5270791" y="2342006"/>
                </a:moveTo>
                <a:lnTo>
                  <a:pt x="5119459" y="3185744"/>
                </a:lnTo>
                <a:lnTo>
                  <a:pt x="4330570" y="3754763"/>
                </a:lnTo>
                <a:lnTo>
                  <a:pt x="3638997" y="4333727"/>
                </a:lnTo>
                <a:lnTo>
                  <a:pt x="2637319" y="4023359"/>
                </a:lnTo>
                <a:lnTo>
                  <a:pt x="1790818" y="4068361"/>
                </a:lnTo>
                <a:lnTo>
                  <a:pt x="724611" y="3910211"/>
                </a:lnTo>
                <a:lnTo>
                  <a:pt x="0" y="3231274"/>
                </a:lnTo>
                <a:lnTo>
                  <a:pt x="442759" y="2342006"/>
                </a:lnTo>
                <a:lnTo>
                  <a:pt x="658939" y="1646071"/>
                </a:lnTo>
                <a:lnTo>
                  <a:pt x="916635" y="909817"/>
                </a:lnTo>
                <a:lnTo>
                  <a:pt x="1791389" y="616627"/>
                </a:lnTo>
                <a:lnTo>
                  <a:pt x="2637318" y="0"/>
                </a:lnTo>
                <a:lnTo>
                  <a:pt x="3638426" y="351261"/>
                </a:lnTo>
                <a:lnTo>
                  <a:pt x="4138546" y="1065265"/>
                </a:lnTo>
                <a:lnTo>
                  <a:pt x="4460520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400" b="1" i="0">
                <a:solidFill>
                  <a:srgbClr val="2D3436"/>
                </a:solidFill>
                <a:latin typeface="Ogg TRIAL"/>
              </a:defRPr>
            </a:pPr>
            <a:r>
              <a:t>I'm going to answer that</a:t>
            </a:r>
            <a:br/>
            <a:r>
              <a:t>question tonight.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474720"/>
            <a:ext cx="6705295" cy="201168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3749039"/>
            <a:ext cx="6156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000" b="0" i="0">
                <a:solidFill>
                  <a:srgbClr val="5BBCB3"/>
                </a:solidFill>
                <a:latin typeface="Ogg Text TRIAL"/>
              </a:defRPr>
            </a:pPr>
            <a:r>
              <a:t>And the answer?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297680"/>
            <a:ext cx="6156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Ogg TRIAL"/>
              </a:defRPr>
            </a:pPr>
            <a:r>
              <a:t>It might honestly</a:t>
            </a:r>
            <a:br/>
            <a:r>
              <a:t>surprise you.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7438727" y="-3657600"/>
            <a:ext cx="7191673" cy="6962065"/>
          </a:xfrm>
          <a:custGeom>
            <a:avLst/>
            <a:gdLst/>
            <a:ahLst/>
            <a:cxnLst/>
            <a:rect l="l" t="t" r="r" b="b"/>
            <a:pathLst>
              <a:path w="7191673" h="6962065">
                <a:moveTo>
                  <a:pt x="7191673" y="0"/>
                </a:moveTo>
                <a:moveTo>
                  <a:pt x="6149257" y="4572000"/>
                </a:moveTo>
                <a:lnTo>
                  <a:pt x="5972703" y="5584486"/>
                </a:lnTo>
                <a:lnTo>
                  <a:pt x="5052332" y="6267308"/>
                </a:lnTo>
                <a:lnTo>
                  <a:pt x="4245498" y="6962065"/>
                </a:lnTo>
                <a:lnTo>
                  <a:pt x="3076873" y="6589623"/>
                </a:lnTo>
                <a:lnTo>
                  <a:pt x="2089289" y="6643626"/>
                </a:lnTo>
                <a:lnTo>
                  <a:pt x="845381" y="6453846"/>
                </a:lnTo>
                <a:lnTo>
                  <a:pt x="0" y="5639121"/>
                </a:lnTo>
                <a:lnTo>
                  <a:pt x="516553" y="4572000"/>
                </a:lnTo>
                <a:lnTo>
                  <a:pt x="768763" y="3736878"/>
                </a:lnTo>
                <a:lnTo>
                  <a:pt x="1069409" y="2853374"/>
                </a:lnTo>
                <a:lnTo>
                  <a:pt x="2089955" y="2501545"/>
                </a:lnTo>
                <a:lnTo>
                  <a:pt x="3076872" y="1761592"/>
                </a:lnTo>
                <a:lnTo>
                  <a:pt x="4244832" y="2183106"/>
                </a:lnTo>
                <a:lnTo>
                  <a:pt x="4828304" y="3039911"/>
                </a:lnTo>
                <a:lnTo>
                  <a:pt x="5203940" y="3791513"/>
                </a:lnTo>
                <a:close/>
              </a:path>
            </a:pathLst>
          </a:cu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3657600" y="3601594"/>
            <a:ext cx="6309360" cy="4333727"/>
          </a:xfrm>
          <a:custGeom>
            <a:avLst/>
            <a:gdLst/>
            <a:ahLst/>
            <a:cxnLst/>
            <a:rect l="l" t="t" r="r" b="b"/>
            <a:pathLst>
              <a:path w="6309360" h="4333727">
                <a:moveTo>
                  <a:pt x="0" y="3713606"/>
                </a:moveTo>
                <a:moveTo>
                  <a:pt x="6309360" y="2342006"/>
                </a:moveTo>
                <a:lnTo>
                  <a:pt x="6183250" y="3185744"/>
                </a:lnTo>
                <a:lnTo>
                  <a:pt x="5525842" y="3754763"/>
                </a:lnTo>
                <a:lnTo>
                  <a:pt x="4949532" y="4333727"/>
                </a:lnTo>
                <a:lnTo>
                  <a:pt x="4114800" y="4023359"/>
                </a:lnTo>
                <a:lnTo>
                  <a:pt x="3409383" y="4068361"/>
                </a:lnTo>
                <a:lnTo>
                  <a:pt x="2520877" y="3910211"/>
                </a:lnTo>
                <a:lnTo>
                  <a:pt x="1917034" y="3231274"/>
                </a:lnTo>
                <a:lnTo>
                  <a:pt x="2286000" y="2342006"/>
                </a:lnTo>
                <a:lnTo>
                  <a:pt x="2466150" y="1646071"/>
                </a:lnTo>
                <a:lnTo>
                  <a:pt x="2680897" y="909817"/>
                </a:lnTo>
                <a:lnTo>
                  <a:pt x="3409859" y="616627"/>
                </a:lnTo>
                <a:lnTo>
                  <a:pt x="4114799" y="0"/>
                </a:lnTo>
                <a:lnTo>
                  <a:pt x="4949056" y="351261"/>
                </a:lnTo>
                <a:lnTo>
                  <a:pt x="5365822" y="1065265"/>
                </a:lnTo>
                <a:lnTo>
                  <a:pt x="5634134" y="1691600"/>
                </a:lnTo>
                <a:close/>
              </a:path>
            </a:pathLst>
          </a:custGeom>
          <a:solidFill>
            <a:srgbClr val="FDD5C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14587" y="4538396"/>
            <a:ext cx="9073413" cy="4605604"/>
          </a:xfrm>
          <a:custGeom>
            <a:avLst/>
            <a:gdLst/>
            <a:ahLst/>
            <a:cxnLst/>
            <a:rect l="l" t="t" r="r" b="b"/>
            <a:pathLst>
              <a:path w="9073413" h="4605604">
                <a:moveTo>
                  <a:pt x="9073413" y="4605604"/>
                </a:moveTo>
                <a:moveTo>
                  <a:pt x="3513861" y="1405204"/>
                </a:moveTo>
                <a:lnTo>
                  <a:pt x="3412973" y="1911447"/>
                </a:lnTo>
                <a:lnTo>
                  <a:pt x="2887047" y="2252858"/>
                </a:lnTo>
                <a:lnTo>
                  <a:pt x="2425998" y="2600236"/>
                </a:lnTo>
                <a:lnTo>
                  <a:pt x="1758213" y="2414015"/>
                </a:lnTo>
                <a:lnTo>
                  <a:pt x="1193879" y="2441017"/>
                </a:lnTo>
                <a:lnTo>
                  <a:pt x="483074" y="2346127"/>
                </a:lnTo>
                <a:lnTo>
                  <a:pt x="0" y="1938764"/>
                </a:lnTo>
                <a:lnTo>
                  <a:pt x="295173" y="1405204"/>
                </a:lnTo>
                <a:lnTo>
                  <a:pt x="439293" y="987643"/>
                </a:lnTo>
                <a:lnTo>
                  <a:pt x="611090" y="545891"/>
                </a:lnTo>
                <a:lnTo>
                  <a:pt x="1194260" y="369976"/>
                </a:lnTo>
                <a:lnTo>
                  <a:pt x="1758212" y="0"/>
                </a:lnTo>
                <a:lnTo>
                  <a:pt x="2425618" y="210757"/>
                </a:lnTo>
                <a:lnTo>
                  <a:pt x="2759031" y="639159"/>
                </a:lnTo>
                <a:lnTo>
                  <a:pt x="2973680" y="1014960"/>
                </a:lnTo>
                <a:close/>
              </a:path>
            </a:pathLst>
          </a:custGeom>
          <a:solidFill>
            <a:srgbClr val="F7E19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Because what nobody is talking about is this: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188720"/>
            <a:ext cx="10362895" cy="256032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5BBCB3"/>
                </a:solidFill>
                <a:latin typeface="Ogg Text TRIAL"/>
              </a:defRPr>
            </a:pPr>
            <a:r>
              <a:t>The AI flood actually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98142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FFFFFF"/>
                </a:solidFill>
                <a:latin typeface="Ogg TRIAL"/>
              </a:defRPr>
            </a:pPr>
            <a:r>
              <a:t>CREATES an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200" b="0" i="0">
                <a:solidFill>
                  <a:srgbClr val="2D3436"/>
                </a:solidFill>
                <a:latin typeface="Ogg Text TRIAL"/>
              </a:defRPr>
            </a:pPr>
            <a:r>
              <a:t>— for a very specific type of seller...</a:t>
            </a:r>
          </a:p>
        </p:txBody>
      </p:sp>
      <p:sp>
        <p:nvSpPr>
          <p:cNvPr id="11" name="Freeform 10"/>
          <p:cNvSpPr/>
          <p:nvPr/>
        </p:nvSpPr>
        <p:spPr>
          <a:xfrm>
            <a:off x="4191263" y="4558559"/>
            <a:ext cx="4038337" cy="4585441"/>
          </a:xfrm>
          <a:custGeom>
            <a:avLst/>
            <a:gdLst/>
            <a:ahLst/>
            <a:cxnLst/>
            <a:rect l="l" t="t" r="r" b="b"/>
            <a:pathLst>
              <a:path w="4038337" h="4585441">
                <a:moveTo>
                  <a:pt x="4038337" y="4585441"/>
                </a:moveTo>
                <a:moveTo>
                  <a:pt x="3806390" y="562081"/>
                </a:moveTo>
                <a:lnTo>
                  <a:pt x="3697103" y="764578"/>
                </a:lnTo>
                <a:lnTo>
                  <a:pt x="3127393" y="901142"/>
                </a:lnTo>
                <a:lnTo>
                  <a:pt x="2627963" y="1040094"/>
                </a:lnTo>
                <a:lnTo>
                  <a:pt x="1904584" y="965605"/>
                </a:lnTo>
                <a:lnTo>
                  <a:pt x="1293270" y="976406"/>
                </a:lnTo>
                <a:lnTo>
                  <a:pt x="523291" y="938450"/>
                </a:lnTo>
                <a:lnTo>
                  <a:pt x="0" y="775505"/>
                </a:lnTo>
                <a:lnTo>
                  <a:pt x="319746" y="562081"/>
                </a:lnTo>
                <a:lnTo>
                  <a:pt x="475864" y="395056"/>
                </a:lnTo>
                <a:lnTo>
                  <a:pt x="661964" y="218355"/>
                </a:lnTo>
                <a:lnTo>
                  <a:pt x="1293682" y="147990"/>
                </a:lnTo>
                <a:lnTo>
                  <a:pt x="1904584" y="0"/>
                </a:lnTo>
                <a:lnTo>
                  <a:pt x="2627551" y="84302"/>
                </a:lnTo>
                <a:lnTo>
                  <a:pt x="2988720" y="255663"/>
                </a:lnTo>
                <a:lnTo>
                  <a:pt x="3221239" y="405983"/>
                </a:lnTo>
                <a:close/>
              </a:path>
            </a:pathLst>
          </a:custGeom>
          <a:solidFill>
            <a:srgbClr val="E07B6C"/>
          </a:solidFill>
          <a:ln>
            <a:noFill/>
          </a:ln>
          <a:effectLst>
            <a:outerShdw blurRad="127000" dist="38100" dir="5400000" algn="tl" rotWithShape="0">
              <a:srgbClr val="2D3436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709160"/>
            <a:ext cx="3047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600" b="1" i="0">
                <a:solidFill>
                  <a:srgbClr val="FFFFFF"/>
                </a:solidFill>
                <a:latin typeface="Ogg TRIAL"/>
              </a:defRPr>
            </a:pPr>
            <a:r>
              <a:t>BUT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800" b="0" i="0">
                <a:solidFill>
                  <a:srgbClr val="636E72"/>
                </a:solidFill>
                <a:latin typeface="Ogg Text TRIAL"/>
              </a:defRPr>
            </a:pPr>
            <a:r>
              <a:t>Only if you understand what's really happening...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