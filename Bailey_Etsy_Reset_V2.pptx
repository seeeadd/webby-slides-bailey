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486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Ogg Text TRIAL Medium"/>
              </a:defRPr>
            </a:pPr>
            <a:r>
              <a:t>DAY 1 OF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 b="0" i="0">
                <a:solidFill>
                  <a:srgbClr val="1B8A8A"/>
                </a:solidFill>
                <a:latin typeface="Ogg Text TRIAL"/>
              </a:defRPr>
            </a:pPr>
            <a:r>
              <a:t>The 2026 Etsy Upgrade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8000" b="1" i="0">
                <a:solidFill>
                  <a:srgbClr val="2D3436"/>
                </a:solidFill>
                <a:latin typeface="Ogg TRIAL"/>
              </a:defRPr>
            </a:pPr>
            <a:r>
              <a:t>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200" b="0" i="0">
                <a:solidFill>
                  <a:srgbClr val="636E72"/>
                </a:solidFill>
                <a:latin typeface="Ogg Text TRIAL"/>
              </a:defRPr>
            </a:pPr>
            <a:r>
              <a:t>Delete the Dead Weight.</a:t>
            </a:r>
            <a:br/>
            <a:r>
              <a:t>Find Your Focus.</a:t>
            </a:r>
            <a:br/>
            <a:r>
              <a:t>Build a Shop That Actually 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1B8A8A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400" b="0" i="0">
                <a:solidFill>
                  <a:srgbClr val="FFFFFF"/>
                </a:solidFill>
                <a:latin typeface="Ogg Text TRIAL"/>
              </a:defRPr>
            </a:pPr>
            <a:r>
              <a:t>with Bailey Vann  •  Top 0.1% Etsy Seller  •  $1M+ in Digital Product Sales</a:t>
            </a:r>
          </a:p>
        </p:txBody>
      </p:sp>
      <p:sp>
        <p:nvSpPr>
          <p:cNvPr id="12" name="Freeform 11"/>
          <p:cNvSpPr/>
          <p:nvPr/>
        </p:nvSpPr>
        <p:spPr>
          <a:xfrm>
            <a:off x="17373600" y="-30725394479"/>
            <a:ext cx="2867908158000" cy="2377656735052"/>
          </a:xfrm>
          <a:custGeom>
            <a:avLst/>
            <a:gdLst/>
            <a:ahLst/>
            <a:cxnLst/>
            <a:rect l="l" t="t" r="r" b="b"/>
            <a:pathLst>
              <a:path w="2867908158000" h="2377656735052">
                <a:moveTo>
                  <a:pt x="0" y="30729966479"/>
                </a:moveTo>
                <a:moveTo>
                  <a:pt x="2867908158000" y="1284918720479"/>
                </a:moveTo>
                <a:lnTo>
                  <a:pt x="2787187702831" y="1747827436471"/>
                </a:lnTo>
                <a:lnTo>
                  <a:pt x="2366394321135" y="2060013759131"/>
                </a:lnTo>
                <a:lnTo>
                  <a:pt x="1997509688553" y="2377656735052"/>
                </a:lnTo>
                <a:lnTo>
                  <a:pt x="1463214193200" y="2207376230398"/>
                </a:lnTo>
                <a:lnTo>
                  <a:pt x="1011691083512" y="2232066149061"/>
                </a:lnTo>
                <a:lnTo>
                  <a:pt x="442976234864" y="2145298749851"/>
                </a:lnTo>
                <a:lnTo>
                  <a:pt x="56468297901" y="1772806831919"/>
                </a:lnTo>
                <a:lnTo>
                  <a:pt x="292635889200" y="1284918720479"/>
                </a:lnTo>
                <a:lnTo>
                  <a:pt x="407946363043" y="903101124100"/>
                </a:lnTo>
                <a:lnTo>
                  <a:pt x="545401836464" y="499163057986"/>
                </a:lnTo>
                <a:lnTo>
                  <a:pt x="1011995657454" y="338307015234"/>
                </a:lnTo>
                <a:lnTo>
                  <a:pt x="1463214193199" y="0"/>
                </a:lnTo>
                <a:lnTo>
                  <a:pt x="1997205114611" y="192716429242"/>
                </a:lnTo>
                <a:lnTo>
                  <a:pt x="2263968719535" y="584448048706"/>
                </a:lnTo>
                <a:lnTo>
                  <a:pt x="2435709637689" y="928080519549"/>
                </a:lnTo>
                <a:close/>
              </a:path>
            </a:pathLst>
          </a:custGeom>
          <a:solidFill>
            <a:srgbClr val="F4A8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202400" y="-25603199999"/>
            <a:ext cx="2048502430800" cy="1981380612543"/>
          </a:xfrm>
          <a:custGeom>
            <a:avLst/>
            <a:gdLst/>
            <a:ahLst/>
            <a:cxnLst/>
            <a:rect l="l" t="t" r="r" b="b"/>
            <a:pathLst>
              <a:path w="2048502430800" h="1981380612543">
                <a:moveTo>
                  <a:pt x="0" y="25609600799"/>
                </a:moveTo>
                <a:moveTo>
                  <a:pt x="2048502430800" y="1070765600399"/>
                </a:moveTo>
                <a:lnTo>
                  <a:pt x="1990844962822" y="1456522863725"/>
                </a:lnTo>
                <a:lnTo>
                  <a:pt x="1690278261610" y="1716678132609"/>
                </a:lnTo>
                <a:lnTo>
                  <a:pt x="1426789238338" y="1981380612543"/>
                </a:lnTo>
                <a:lnTo>
                  <a:pt x="1045149598800" y="1839480191999"/>
                </a:lnTo>
                <a:lnTo>
                  <a:pt x="722633091880" y="1860055124217"/>
                </a:lnTo>
                <a:lnTo>
                  <a:pt x="316408199989" y="1787748958209"/>
                </a:lnTo>
                <a:lnTo>
                  <a:pt x="40331102158" y="1477339026599"/>
                </a:lnTo>
                <a:lnTo>
                  <a:pt x="209022238800" y="1070765600399"/>
                </a:lnTo>
                <a:lnTo>
                  <a:pt x="291386862973" y="752584270083"/>
                </a:lnTo>
                <a:lnTo>
                  <a:pt x="389569343989" y="415969214988"/>
                </a:lnTo>
                <a:lnTo>
                  <a:pt x="722850644696" y="281922512695"/>
                </a:lnTo>
                <a:lnTo>
                  <a:pt x="1045149598799" y="0"/>
                </a:lnTo>
                <a:lnTo>
                  <a:pt x="1426571685522" y="160597024368"/>
                </a:lnTo>
                <a:lnTo>
                  <a:pt x="1617117117610" y="487040040588"/>
                </a:lnTo>
                <a:lnTo>
                  <a:pt x="1739789202006" y="773400432957"/>
                </a:lnTo>
                <a:close/>
              </a:path>
            </a:pathLst>
          </a:custGeom>
          <a:solidFill>
            <a:srgbClr val="F7E19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DF8F3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51213715199"/>
            <a:ext cx="4916429791200" cy="3962761225088"/>
          </a:xfrm>
          <a:custGeom>
            <a:avLst/>
            <a:gdLst/>
            <a:ahLst/>
            <a:cxnLst/>
            <a:rect l="l" t="t" r="r" b="b"/>
            <a:pathLst>
              <a:path w="4916429791200" h="3962761225088">
                <a:moveTo>
                  <a:pt x="0" y="51211886399"/>
                </a:moveTo>
                <a:moveTo>
                  <a:pt x="4916429791200" y="2141531200799"/>
                </a:moveTo>
                <a:lnTo>
                  <a:pt x="4778051868054" y="2913045727452"/>
                </a:lnTo>
                <a:lnTo>
                  <a:pt x="4056691785145" y="3433356265220"/>
                </a:lnTo>
                <a:lnTo>
                  <a:pt x="3424318129292" y="3962761225088"/>
                </a:lnTo>
                <a:lnTo>
                  <a:pt x="2508382994400" y="3678960383999"/>
                </a:lnTo>
                <a:lnTo>
                  <a:pt x="1734343377793" y="3720110248435"/>
                </a:lnTo>
                <a:lnTo>
                  <a:pt x="759403637254" y="3575497916420"/>
                </a:lnTo>
                <a:lnTo>
                  <a:pt x="96818602459" y="2954678053200"/>
                </a:lnTo>
                <a:lnTo>
                  <a:pt x="501677330400" y="2141531200799"/>
                </a:lnTo>
                <a:lnTo>
                  <a:pt x="699352428417" y="1505168540168"/>
                </a:lnTo>
                <a:lnTo>
                  <a:pt x="934990382854" y="831938429977"/>
                </a:lnTo>
                <a:lnTo>
                  <a:pt x="1734865504551" y="563845025391"/>
                </a:lnTo>
                <a:lnTo>
                  <a:pt x="2508382994399" y="0"/>
                </a:lnTo>
                <a:lnTo>
                  <a:pt x="3423796002534" y="321194048738"/>
                </a:lnTo>
                <a:lnTo>
                  <a:pt x="3881105039545" y="974080081177"/>
                </a:lnTo>
                <a:lnTo>
                  <a:pt x="4175518042096" y="1546800865916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459200" y="-51210057599"/>
            <a:ext cx="4916420647200" cy="3962761225088"/>
          </a:xfrm>
          <a:custGeom>
            <a:avLst/>
            <a:gdLst/>
            <a:ahLst/>
            <a:cxnLst/>
            <a:rect l="l" t="t" r="r" b="b"/>
            <a:pathLst>
              <a:path w="4916420647200" h="3962761225088">
                <a:moveTo>
                  <a:pt x="0" y="51215543999"/>
                </a:moveTo>
                <a:moveTo>
                  <a:pt x="4916420647200" y="2141531200799"/>
                </a:moveTo>
                <a:lnTo>
                  <a:pt x="4778042724054" y="2913045727452"/>
                </a:lnTo>
                <a:lnTo>
                  <a:pt x="4056682641145" y="3433356265220"/>
                </a:lnTo>
                <a:lnTo>
                  <a:pt x="3424308985292" y="3962761225088"/>
                </a:lnTo>
                <a:lnTo>
                  <a:pt x="2508373850400" y="3678960383999"/>
                </a:lnTo>
                <a:lnTo>
                  <a:pt x="1734334233793" y="3720110248435"/>
                </a:lnTo>
                <a:lnTo>
                  <a:pt x="759394493254" y="3575497916420"/>
                </a:lnTo>
                <a:lnTo>
                  <a:pt x="96809458459" y="2954678053200"/>
                </a:lnTo>
                <a:lnTo>
                  <a:pt x="501668186400" y="2141531200799"/>
                </a:lnTo>
                <a:lnTo>
                  <a:pt x="699343284417" y="1505168540168"/>
                </a:lnTo>
                <a:lnTo>
                  <a:pt x="934981238854" y="831938429977"/>
                </a:lnTo>
                <a:lnTo>
                  <a:pt x="1734856360551" y="563845025391"/>
                </a:lnTo>
                <a:lnTo>
                  <a:pt x="2508373850399" y="0"/>
                </a:lnTo>
                <a:lnTo>
                  <a:pt x="3423786858534" y="321194048738"/>
                </a:lnTo>
                <a:lnTo>
                  <a:pt x="3881095895545" y="974080081177"/>
                </a:lnTo>
                <a:lnTo>
                  <a:pt x="4175508898096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097280"/>
            <a:ext cx="8534095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64592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200" b="1" i="0">
                <a:solidFill>
                  <a:srgbClr val="2D3436"/>
                </a:solidFill>
                <a:latin typeface="Ogg TRIAL"/>
              </a:defRPr>
            </a:pPr>
            <a:r>
              <a:t>Before We Begin...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834640"/>
            <a:ext cx="2133295" cy="36576"/>
          </a:xfrm>
          <a:prstGeom prst="rect">
            <a:avLst/>
          </a:prstGeom>
          <a:solidFill>
            <a:srgbClr val="2B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320040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Ogg Text TRIAL Medium"/>
              </a:defRPr>
            </a:pPr>
            <a:r>
              <a:t>QUICK POP 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2336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000" b="0" i="0">
                <a:solidFill>
                  <a:srgbClr val="636E72"/>
                </a:solidFill>
                <a:latin typeface="Ogg Text TRIAL"/>
              </a:defRPr>
            </a:pPr>
            <a:r>
              <a:t>I want to show you something that might change</a:t>
            </a:r>
            <a:br/>
            <a:r>
              <a:t>how you think about Etsy in 2026...</a:t>
            </a:r>
          </a:p>
        </p:txBody>
      </p:sp>
      <p:sp>
        <p:nvSpPr>
          <p:cNvPr id="10" name="Freeform 9"/>
          <p:cNvSpPr/>
          <p:nvPr/>
        </p:nvSpPr>
        <p:spPr>
          <a:xfrm>
            <a:off x="19202400" y="-20484388799"/>
            <a:ext cx="1638800024400" cy="1585104490034"/>
          </a:xfrm>
          <a:custGeom>
            <a:avLst/>
            <a:gdLst/>
            <a:ahLst/>
            <a:cxnLst/>
            <a:rect l="l" t="t" r="r" b="b"/>
            <a:pathLst>
              <a:path w="1638800024400" h="1585104490034">
                <a:moveTo>
                  <a:pt x="0" y="20485851839"/>
                </a:moveTo>
                <a:moveTo>
                  <a:pt x="1638800024400" y="856612480319"/>
                </a:moveTo>
                <a:lnTo>
                  <a:pt x="1592674050018" y="1165218290980"/>
                </a:lnTo>
                <a:lnTo>
                  <a:pt x="1352220689048" y="1373342506087"/>
                </a:lnTo>
                <a:lnTo>
                  <a:pt x="1141429470430" y="1585104490034"/>
                </a:lnTo>
                <a:lnTo>
                  <a:pt x="836117758800" y="1471584153599"/>
                </a:lnTo>
                <a:lnTo>
                  <a:pt x="578104553264" y="1488044099373"/>
                </a:lnTo>
                <a:lnTo>
                  <a:pt x="253124639751" y="1430199166567"/>
                </a:lnTo>
                <a:lnTo>
                  <a:pt x="32262961486" y="1181871221279"/>
                </a:lnTo>
                <a:lnTo>
                  <a:pt x="167215870800" y="856612480319"/>
                </a:lnTo>
                <a:lnTo>
                  <a:pt x="233107570139" y="602067416066"/>
                </a:lnTo>
                <a:lnTo>
                  <a:pt x="311653554951" y="332775371990"/>
                </a:lnTo>
                <a:lnTo>
                  <a:pt x="578278595517" y="225538010155"/>
                </a:lnTo>
                <a:lnTo>
                  <a:pt x="836117758799" y="0"/>
                </a:lnTo>
                <a:lnTo>
                  <a:pt x="1141255428178" y="128477619494"/>
                </a:lnTo>
                <a:lnTo>
                  <a:pt x="1293691773848" y="389632032470"/>
                </a:lnTo>
                <a:lnTo>
                  <a:pt x="1391829441365" y="618720346365"/>
                </a:lnTo>
                <a:close/>
              </a:path>
            </a:pathLst>
          </a:custGeom>
          <a:solidFill>
            <a:srgbClr val="5BBCB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EE5E0"/>
              </a:gs>
              <a:gs pos="100000">
                <a:srgbClr val="FEF0E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40971155039"/>
            <a:ext cx="3277620165600" cy="3170208980070"/>
          </a:xfrm>
          <a:custGeom>
            <a:avLst/>
            <a:gdLst/>
            <a:ahLst/>
            <a:cxnLst/>
            <a:rect l="l" t="t" r="r" b="b"/>
            <a:pathLst>
              <a:path w="3277620165600" h="3170208980070">
                <a:moveTo>
                  <a:pt x="0" y="40969326239"/>
                </a:moveTo>
                <a:moveTo>
                  <a:pt x="3277620165600" y="1713224960639"/>
                </a:moveTo>
                <a:lnTo>
                  <a:pt x="3185368216836" y="2330436581962"/>
                </a:lnTo>
                <a:lnTo>
                  <a:pt x="2704461494897" y="2746685012176"/>
                </a:lnTo>
                <a:lnTo>
                  <a:pt x="2282879057661" y="3170208980070"/>
                </a:lnTo>
                <a:lnTo>
                  <a:pt x="1672255634400" y="2943168307199"/>
                </a:lnTo>
                <a:lnTo>
                  <a:pt x="1156229223329" y="2976088198748"/>
                </a:lnTo>
                <a:lnTo>
                  <a:pt x="506269396302" y="2860398333136"/>
                </a:lnTo>
                <a:lnTo>
                  <a:pt x="64546039773" y="2363742442560"/>
                </a:lnTo>
                <a:lnTo>
                  <a:pt x="334451858400" y="1713224960639"/>
                </a:lnTo>
                <a:lnTo>
                  <a:pt x="466235257078" y="1204134832134"/>
                </a:lnTo>
                <a:lnTo>
                  <a:pt x="623327226702" y="665550743981"/>
                </a:lnTo>
                <a:lnTo>
                  <a:pt x="1156577307834" y="451076020312"/>
                </a:lnTo>
                <a:lnTo>
                  <a:pt x="1672255634399" y="0"/>
                </a:lnTo>
                <a:lnTo>
                  <a:pt x="2282530973156" y="256955238990"/>
                </a:lnTo>
                <a:lnTo>
                  <a:pt x="2587403664497" y="779264064941"/>
                </a:lnTo>
                <a:lnTo>
                  <a:pt x="2783678999531" y="1237440692732"/>
                </a:lnTo>
                <a:close/>
              </a:path>
            </a:pathLst>
          </a:custGeom>
          <a:solidFill>
            <a:srgbClr val="FDD5C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288000" y="-40966583039"/>
            <a:ext cx="3277610107200" cy="3170208980070"/>
          </a:xfrm>
          <a:custGeom>
            <a:avLst/>
            <a:gdLst/>
            <a:ahLst/>
            <a:cxnLst/>
            <a:rect l="l" t="t" r="r" b="b"/>
            <a:pathLst>
              <a:path w="3277610107200" h="3170208980070">
                <a:moveTo>
                  <a:pt x="0" y="40973898239"/>
                </a:moveTo>
                <a:moveTo>
                  <a:pt x="3277610107200" y="1713224960639"/>
                </a:moveTo>
                <a:lnTo>
                  <a:pt x="3185358158436" y="2330436581962"/>
                </a:lnTo>
                <a:lnTo>
                  <a:pt x="2704451436497" y="2746685012176"/>
                </a:lnTo>
                <a:lnTo>
                  <a:pt x="2282868999261" y="3170208980070"/>
                </a:lnTo>
                <a:lnTo>
                  <a:pt x="1672245576000" y="2943168307199"/>
                </a:lnTo>
                <a:lnTo>
                  <a:pt x="1156219164929" y="2976088198748"/>
                </a:lnTo>
                <a:lnTo>
                  <a:pt x="506259337902" y="2860398333136"/>
                </a:lnTo>
                <a:lnTo>
                  <a:pt x="64535981373" y="2363742442560"/>
                </a:lnTo>
                <a:lnTo>
                  <a:pt x="334441800000" y="1713224960639"/>
                </a:lnTo>
                <a:lnTo>
                  <a:pt x="466225198678" y="1204134832134"/>
                </a:lnTo>
                <a:lnTo>
                  <a:pt x="623317168302" y="665550743981"/>
                </a:lnTo>
                <a:lnTo>
                  <a:pt x="1156567249434" y="451076020312"/>
                </a:lnTo>
                <a:lnTo>
                  <a:pt x="1672245575999" y="0"/>
                </a:lnTo>
                <a:lnTo>
                  <a:pt x="2282520914756" y="256955238990"/>
                </a:lnTo>
                <a:lnTo>
                  <a:pt x="2587393606097" y="779264064941"/>
                </a:lnTo>
                <a:lnTo>
                  <a:pt x="2783668941131" y="1237440692732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7619695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 rot="10800000">
            <a:off x="4114800" y="4480560"/>
            <a:ext cx="548640" cy="4572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6705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4200" b="1" i="0">
                <a:solidFill>
                  <a:srgbClr val="2D3436"/>
                </a:solidFill>
                <a:latin typeface="Ogg TRIAL"/>
              </a:defRPr>
            </a:pPr>
            <a:r>
              <a:t>Get ready to type</a:t>
            </a:r>
            <a:br/>
            <a:r>
              <a:t>in the chat!</a:t>
            </a:r>
          </a:p>
        </p:txBody>
      </p:sp>
      <p:sp>
        <p:nvSpPr>
          <p:cNvPr id="8" name="Freeform 7"/>
          <p:cNvSpPr/>
          <p:nvPr/>
        </p:nvSpPr>
        <p:spPr>
          <a:xfrm>
            <a:off x="10607040" y="-3581055575"/>
            <a:ext cx="286786380959" cy="277393285755"/>
          </a:xfrm>
          <a:custGeom>
            <a:avLst/>
            <a:gdLst/>
            <a:ahLst/>
            <a:cxnLst/>
            <a:rect l="l" t="t" r="r" b="b"/>
            <a:pathLst>
              <a:path w="286786380959" h="277393285755">
                <a:moveTo>
                  <a:pt x="0" y="3588736535"/>
                </a:moveTo>
                <a:moveTo>
                  <a:pt x="286786380959" y="149907184055"/>
                </a:moveTo>
                <a:lnTo>
                  <a:pt x="278714335443" y="203913200920"/>
                </a:lnTo>
                <a:lnTo>
                  <a:pt x="236634997273" y="240334938564"/>
                </a:lnTo>
                <a:lnTo>
                  <a:pt x="199746534015" y="277393285755"/>
                </a:lnTo>
                <a:lnTo>
                  <a:pt x="146316984480" y="257527226879"/>
                </a:lnTo>
                <a:lnTo>
                  <a:pt x="101164673511" y="260407717389"/>
                </a:lnTo>
                <a:lnTo>
                  <a:pt x="44293188646" y="250284854148"/>
                </a:lnTo>
                <a:lnTo>
                  <a:pt x="5642394950" y="206827463723"/>
                </a:lnTo>
                <a:lnTo>
                  <a:pt x="29259154080" y="149907184055"/>
                </a:lnTo>
                <a:lnTo>
                  <a:pt x="40790201464" y="105361797810"/>
                </a:lnTo>
                <a:lnTo>
                  <a:pt x="54535748806" y="58235690097"/>
                </a:lnTo>
                <a:lnTo>
                  <a:pt x="101195130905" y="39469151776"/>
                </a:lnTo>
                <a:lnTo>
                  <a:pt x="146316984479" y="0"/>
                </a:lnTo>
                <a:lnTo>
                  <a:pt x="199716076621" y="22483583410"/>
                </a:lnTo>
                <a:lnTo>
                  <a:pt x="226392437113" y="68185605681"/>
                </a:lnTo>
                <a:lnTo>
                  <a:pt x="243566528928" y="108276060613"/>
                </a:lnTo>
                <a:close/>
              </a:path>
            </a:pathLst>
          </a:custGeom>
          <a:solidFill>
            <a:srgbClr val="1B8A8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521440" y="-3581055575"/>
            <a:ext cx="286785923759" cy="277393285755"/>
          </a:xfrm>
          <a:custGeom>
            <a:avLst/>
            <a:gdLst/>
            <a:ahLst/>
            <a:cxnLst/>
            <a:rect l="l" t="t" r="r" b="b"/>
            <a:pathLst>
              <a:path w="286785923759" h="277393285755">
                <a:moveTo>
                  <a:pt x="0" y="3588736535"/>
                </a:moveTo>
                <a:moveTo>
                  <a:pt x="286785923759" y="149907184055"/>
                </a:moveTo>
                <a:lnTo>
                  <a:pt x="278713878243" y="203913200920"/>
                </a:lnTo>
                <a:lnTo>
                  <a:pt x="236634540073" y="240334938564"/>
                </a:lnTo>
                <a:lnTo>
                  <a:pt x="199746076815" y="277393285755"/>
                </a:lnTo>
                <a:lnTo>
                  <a:pt x="146316527280" y="257527226879"/>
                </a:lnTo>
                <a:lnTo>
                  <a:pt x="101164216311" y="260407717389"/>
                </a:lnTo>
                <a:lnTo>
                  <a:pt x="44292731446" y="250284854148"/>
                </a:lnTo>
                <a:lnTo>
                  <a:pt x="5641937750" y="206827463723"/>
                </a:lnTo>
                <a:lnTo>
                  <a:pt x="29258696880" y="149907184055"/>
                </a:lnTo>
                <a:lnTo>
                  <a:pt x="40789744264" y="105361797810"/>
                </a:lnTo>
                <a:lnTo>
                  <a:pt x="54535291606" y="58235690097"/>
                </a:lnTo>
                <a:lnTo>
                  <a:pt x="101194673705" y="39469151776"/>
                </a:lnTo>
                <a:lnTo>
                  <a:pt x="146316527279" y="0"/>
                </a:lnTo>
                <a:lnTo>
                  <a:pt x="199715619421" y="22483583410"/>
                </a:lnTo>
                <a:lnTo>
                  <a:pt x="226391979913" y="68185605681"/>
                </a:lnTo>
                <a:lnTo>
                  <a:pt x="243566071728" y="108276060613"/>
                </a:lnTo>
                <a:close/>
              </a:path>
            </a:pathLst>
          </a:custGeom>
          <a:solidFill>
            <a:srgbClr val="1B8A8A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2435840" y="-3581055575"/>
            <a:ext cx="286785466559" cy="277393285755"/>
          </a:xfrm>
          <a:custGeom>
            <a:avLst/>
            <a:gdLst/>
            <a:ahLst/>
            <a:cxnLst/>
            <a:rect l="l" t="t" r="r" b="b"/>
            <a:pathLst>
              <a:path w="286785466559" h="277393285755">
                <a:moveTo>
                  <a:pt x="0" y="3588736535"/>
                </a:moveTo>
                <a:moveTo>
                  <a:pt x="286785466559" y="149907184055"/>
                </a:moveTo>
                <a:lnTo>
                  <a:pt x="278713421043" y="203913200920"/>
                </a:lnTo>
                <a:lnTo>
                  <a:pt x="236634082873" y="240334938564"/>
                </a:lnTo>
                <a:lnTo>
                  <a:pt x="199745619615" y="277393285755"/>
                </a:lnTo>
                <a:lnTo>
                  <a:pt x="146316070080" y="257527226879"/>
                </a:lnTo>
                <a:lnTo>
                  <a:pt x="101163759111" y="260407717389"/>
                </a:lnTo>
                <a:lnTo>
                  <a:pt x="44292274246" y="250284854148"/>
                </a:lnTo>
                <a:lnTo>
                  <a:pt x="5641480550" y="206827463723"/>
                </a:lnTo>
                <a:lnTo>
                  <a:pt x="29258239680" y="149907184055"/>
                </a:lnTo>
                <a:lnTo>
                  <a:pt x="40789287064" y="105361797810"/>
                </a:lnTo>
                <a:lnTo>
                  <a:pt x="54534834406" y="58235690097"/>
                </a:lnTo>
                <a:lnTo>
                  <a:pt x="101194216505" y="39469151776"/>
                </a:lnTo>
                <a:lnTo>
                  <a:pt x="146316070079" y="0"/>
                </a:lnTo>
                <a:lnTo>
                  <a:pt x="199715162221" y="22483583410"/>
                </a:lnTo>
                <a:lnTo>
                  <a:pt x="226391522713" y="68185605681"/>
                </a:lnTo>
                <a:lnTo>
                  <a:pt x="243565614528" y="108276060613"/>
                </a:lnTo>
                <a:close/>
              </a:path>
            </a:pathLst>
          </a:custGeom>
          <a:solidFill>
            <a:srgbClr val="1B8A8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303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 b="0" i="0">
                <a:solidFill>
                  <a:srgbClr val="636E72"/>
                </a:solidFill>
                <a:latin typeface="Ogg Text TRIAL"/>
              </a:defRPr>
            </a:pPr>
            <a:r>
              <a:t>This is interactive — your answers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200" b="1" i="0">
                <a:solidFill>
                  <a:srgbClr val="2D3436"/>
                </a:solidFill>
                <a:latin typeface="Ogg TRIAL"/>
              </a:defRPr>
            </a:pPr>
            <a:r>
              <a:t>Which design was made by a professional artist?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937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737360"/>
            <a:ext cx="4389120" cy="30175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5EEE6"/>
              </a:gs>
              <a:gs pos="100000">
                <a:srgbClr val="E8F5F3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 b="0" i="0">
                <a:solidFill>
                  <a:srgbClr val="9CA3A8"/>
                </a:solidFill>
                <a:latin typeface="Ogg Text TRIAL"/>
              </a:defRPr>
            </a:pPr>
            <a:r>
              <a:t>[ Image A ]</a:t>
            </a:r>
          </a:p>
        </p:txBody>
      </p:sp>
      <p:sp>
        <p:nvSpPr>
          <p:cNvPr id="10" name="Freeform 9"/>
          <p:cNvSpPr/>
          <p:nvPr/>
        </p:nvSpPr>
        <p:spPr>
          <a:xfrm>
            <a:off x="5486400" y="-9213274943"/>
            <a:ext cx="737461588320" cy="713297020515"/>
          </a:xfrm>
          <a:custGeom>
            <a:avLst/>
            <a:gdLst/>
            <a:ahLst/>
            <a:cxnLst/>
            <a:rect l="l" t="t" r="r" b="b"/>
            <a:pathLst>
              <a:path w="737461588320" h="713297020515">
                <a:moveTo>
                  <a:pt x="0" y="9223333343"/>
                </a:moveTo>
                <a:moveTo>
                  <a:pt x="737461588320" y="385475616143"/>
                </a:moveTo>
                <a:lnTo>
                  <a:pt x="716704899848" y="524348230940"/>
                </a:lnTo>
                <a:lnTo>
                  <a:pt x="608500887411" y="618004127738"/>
                </a:lnTo>
                <a:lnTo>
                  <a:pt x="513644839033" y="713297020515"/>
                </a:lnTo>
                <a:lnTo>
                  <a:pt x="376254568800" y="662212869119"/>
                </a:lnTo>
                <a:lnTo>
                  <a:pt x="260148626309" y="669619844717"/>
                </a:lnTo>
                <a:lnTo>
                  <a:pt x="113907665228" y="643589624954"/>
                </a:lnTo>
                <a:lnTo>
                  <a:pt x="14519910008" y="531842049575"/>
                </a:lnTo>
                <a:lnTo>
                  <a:pt x="75248719200" y="385475616143"/>
                </a:lnTo>
                <a:lnTo>
                  <a:pt x="104899983902" y="270930337229"/>
                </a:lnTo>
                <a:lnTo>
                  <a:pt x="140245677068" y="149748917395"/>
                </a:lnTo>
                <a:lnTo>
                  <a:pt x="260226945322" y="101492104569"/>
                </a:lnTo>
                <a:lnTo>
                  <a:pt x="376254568799" y="0"/>
                </a:lnTo>
                <a:lnTo>
                  <a:pt x="513566520020" y="57814928772"/>
                </a:lnTo>
                <a:lnTo>
                  <a:pt x="582162875571" y="175334414611"/>
                </a:lnTo>
                <a:lnTo>
                  <a:pt x="626324825954" y="278424155864"/>
                </a:lnTo>
                <a:close/>
              </a:path>
            </a:pathLst>
          </a:cu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5120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 i="0">
                <a:solidFill>
                  <a:srgbClr val="FFFFFF"/>
                </a:solidFill>
                <a:latin typeface="Ogg TRIAL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00400"/>
            <a:ext cx="1218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2400" b="1" i="0">
                <a:solidFill>
                  <a:srgbClr val="9CA3A8"/>
                </a:solidFill>
                <a:latin typeface="Ogg TRIAL"/>
              </a:defRPr>
            </a:pPr>
            <a:r>
              <a:t>vs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2415" y="1463040"/>
            <a:ext cx="493776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96735" y="1737360"/>
            <a:ext cx="4389120" cy="301752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F5EEE6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6735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 b="0" i="0">
                <a:solidFill>
                  <a:srgbClr val="9CA3A8"/>
                </a:solidFill>
                <a:latin typeface="Ogg Text TRIAL"/>
              </a:defRPr>
            </a:pPr>
            <a:r>
              <a:t>[ Image B ]</a:t>
            </a:r>
          </a:p>
        </p:txBody>
      </p:sp>
      <p:sp>
        <p:nvSpPr>
          <p:cNvPr id="16" name="Freeform 15"/>
          <p:cNvSpPr/>
          <p:nvPr/>
        </p:nvSpPr>
        <p:spPr>
          <a:xfrm>
            <a:off x="17190720" y="-9213274943"/>
            <a:ext cx="737455736160" cy="713297020515"/>
          </a:xfrm>
          <a:custGeom>
            <a:avLst/>
            <a:gdLst/>
            <a:ahLst/>
            <a:cxnLst/>
            <a:rect l="l" t="t" r="r" b="b"/>
            <a:pathLst>
              <a:path w="737455736160" h="713297020515">
                <a:moveTo>
                  <a:pt x="0" y="9223333343"/>
                </a:moveTo>
                <a:moveTo>
                  <a:pt x="737455736160" y="385475616143"/>
                </a:moveTo>
                <a:lnTo>
                  <a:pt x="716699047688" y="524348230940"/>
                </a:lnTo>
                <a:lnTo>
                  <a:pt x="608495035251" y="618004127738"/>
                </a:lnTo>
                <a:lnTo>
                  <a:pt x="513638986873" y="713297020515"/>
                </a:lnTo>
                <a:lnTo>
                  <a:pt x="376248716640" y="662212869119"/>
                </a:lnTo>
                <a:lnTo>
                  <a:pt x="260142774149" y="669619844717"/>
                </a:lnTo>
                <a:lnTo>
                  <a:pt x="113901813068" y="643589624954"/>
                </a:lnTo>
                <a:lnTo>
                  <a:pt x="14514057848" y="531842049575"/>
                </a:lnTo>
                <a:lnTo>
                  <a:pt x="75242867040" y="385475616143"/>
                </a:lnTo>
                <a:lnTo>
                  <a:pt x="104894131742" y="270930337229"/>
                </a:lnTo>
                <a:lnTo>
                  <a:pt x="140239824908" y="149748917395"/>
                </a:lnTo>
                <a:lnTo>
                  <a:pt x="260221093162" y="101492104569"/>
                </a:lnTo>
                <a:lnTo>
                  <a:pt x="376248716639" y="0"/>
                </a:lnTo>
                <a:lnTo>
                  <a:pt x="513560667860" y="57814928772"/>
                </a:lnTo>
                <a:lnTo>
                  <a:pt x="582157023411" y="175334414611"/>
                </a:lnTo>
                <a:lnTo>
                  <a:pt x="626318973794" y="278424155864"/>
                </a:lnTo>
                <a:close/>
              </a:path>
            </a:pathLst>
          </a:cu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5120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 i="0">
                <a:solidFill>
                  <a:srgbClr val="FFFFFF"/>
                </a:solidFill>
                <a:latin typeface="Ogg TRIAL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B8A8A"/>
              </a:gs>
              <a:gs pos="100000">
                <a:srgbClr val="2BA5A3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2801600" y="-61456275359"/>
            <a:ext cx="6555232101600" cy="4755313470106"/>
          </a:xfrm>
          <a:custGeom>
            <a:avLst/>
            <a:gdLst/>
            <a:ahLst/>
            <a:cxnLst/>
            <a:rect l="l" t="t" r="r" b="b"/>
            <a:pathLst>
              <a:path w="6555232101600" h="4755313470106">
                <a:moveTo>
                  <a:pt x="0" y="61454446559"/>
                </a:moveTo>
                <a:moveTo>
                  <a:pt x="6555232101600" y="2569837440959"/>
                </a:moveTo>
                <a:lnTo>
                  <a:pt x="6370728204072" y="3495654872943"/>
                </a:lnTo>
                <a:lnTo>
                  <a:pt x="5408914760194" y="4120027518264"/>
                </a:lnTo>
                <a:lnTo>
                  <a:pt x="4565749885723" y="4755313470106"/>
                </a:lnTo>
                <a:lnTo>
                  <a:pt x="3344503039200" y="4414752460798"/>
                </a:lnTo>
                <a:lnTo>
                  <a:pt x="2312450217058" y="4464132298123"/>
                </a:lnTo>
                <a:lnTo>
                  <a:pt x="1012530563005" y="4290597499704"/>
                </a:lnTo>
                <a:lnTo>
                  <a:pt x="129083849946" y="3545613663840"/>
                </a:lnTo>
                <a:lnTo>
                  <a:pt x="668895487200" y="2569837440959"/>
                </a:lnTo>
                <a:lnTo>
                  <a:pt x="932462284556" y="1806202248202"/>
                </a:lnTo>
                <a:lnTo>
                  <a:pt x="1246646223805" y="998326115973"/>
                </a:lnTo>
                <a:lnTo>
                  <a:pt x="2313146386068" y="676614030469"/>
                </a:lnTo>
                <a:lnTo>
                  <a:pt x="3344503039199" y="0"/>
                </a:lnTo>
                <a:lnTo>
                  <a:pt x="4565053716712" y="385432858486"/>
                </a:lnTo>
                <a:lnTo>
                  <a:pt x="5174799099394" y="1168896097413"/>
                </a:lnTo>
                <a:lnTo>
                  <a:pt x="5567349769462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400" b="1" i="0">
                <a:solidFill>
                  <a:srgbClr val="FFFFFF"/>
                </a:solidFill>
                <a:latin typeface="Ogg TRIAL"/>
              </a:defRPr>
            </a:pPr>
            <a:r>
              <a:t>Type A or B</a:t>
            </a:r>
            <a:br/>
            <a:r>
              <a:t>in the chat!</a:t>
            </a:r>
          </a:p>
        </p:txBody>
      </p:sp>
      <p:sp>
        <p:nvSpPr>
          <p:cNvPr id="5" name="Freeform 4"/>
          <p:cNvSpPr/>
          <p:nvPr/>
        </p:nvSpPr>
        <p:spPr>
          <a:xfrm>
            <a:off x="6400800" y="-20481005519"/>
            <a:ext cx="2048508831600" cy="1585104490034"/>
          </a:xfrm>
          <a:custGeom>
            <a:avLst/>
            <a:gdLst/>
            <a:ahLst/>
            <a:cxnLst/>
            <a:rect l="l" t="t" r="r" b="b"/>
            <a:pathLst>
              <a:path w="2048508831600" h="1585104490034">
                <a:moveTo>
                  <a:pt x="0" y="20489235119"/>
                </a:moveTo>
                <a:moveTo>
                  <a:pt x="2048508831600" y="856612480319"/>
                </a:moveTo>
                <a:lnTo>
                  <a:pt x="1990851363622" y="1165218290980"/>
                </a:lnTo>
                <a:lnTo>
                  <a:pt x="1690284662410" y="1373342506087"/>
                </a:lnTo>
                <a:lnTo>
                  <a:pt x="1426795639138" y="1585104490034"/>
                </a:lnTo>
                <a:lnTo>
                  <a:pt x="1045155999600" y="1471584153599"/>
                </a:lnTo>
                <a:lnTo>
                  <a:pt x="722639492680" y="1488044099373"/>
                </a:lnTo>
                <a:lnTo>
                  <a:pt x="316414600789" y="1430199166567"/>
                </a:lnTo>
                <a:lnTo>
                  <a:pt x="40337502958" y="1181871221279"/>
                </a:lnTo>
                <a:lnTo>
                  <a:pt x="209028639600" y="856612480319"/>
                </a:lnTo>
                <a:lnTo>
                  <a:pt x="291393263773" y="602067416066"/>
                </a:lnTo>
                <a:lnTo>
                  <a:pt x="389575744789" y="332775371990"/>
                </a:lnTo>
                <a:lnTo>
                  <a:pt x="722857045496" y="225538010155"/>
                </a:lnTo>
                <a:lnTo>
                  <a:pt x="1045155999599" y="0"/>
                </a:lnTo>
                <a:lnTo>
                  <a:pt x="1426578086322" y="128477619494"/>
                </a:lnTo>
                <a:lnTo>
                  <a:pt x="1617123518410" y="389632032470"/>
                </a:lnTo>
                <a:lnTo>
                  <a:pt x="1739795602806" y="61872034636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90500" dist="50800" dir="5400000" algn="tl" rotWithShape="0">
              <a:srgbClr val="2D343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600" b="1" i="0">
                <a:solidFill>
                  <a:srgbClr val="1B8A8A"/>
                </a:solidFill>
                <a:latin typeface="Ogg TRIAL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754880"/>
            <a:ext cx="1218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400" b="0" i="0">
                <a:solidFill>
                  <a:srgbClr val="FFFFFF"/>
                </a:solidFill>
                <a:latin typeface="Ogg Text TRIAL"/>
              </a:defRPr>
            </a:pPr>
            <a:r>
              <a:t>or</a:t>
            </a:r>
          </a:p>
        </p:txBody>
      </p:sp>
      <p:sp>
        <p:nvSpPr>
          <p:cNvPr id="8" name="Freeform 7"/>
          <p:cNvSpPr/>
          <p:nvPr/>
        </p:nvSpPr>
        <p:spPr>
          <a:xfrm>
            <a:off x="13410590" y="-20481005519"/>
            <a:ext cx="2048505326705" cy="1585104490034"/>
          </a:xfrm>
          <a:custGeom>
            <a:avLst/>
            <a:gdLst/>
            <a:ahLst/>
            <a:cxnLst/>
            <a:rect l="l" t="t" r="r" b="b"/>
            <a:pathLst>
              <a:path w="2048505326705" h="1585104490034">
                <a:moveTo>
                  <a:pt x="0" y="20489235119"/>
                </a:moveTo>
                <a:moveTo>
                  <a:pt x="2048505326705" y="856612480319"/>
                </a:moveTo>
                <a:lnTo>
                  <a:pt x="1990847858727" y="1165218290980"/>
                </a:lnTo>
                <a:lnTo>
                  <a:pt x="1690281157515" y="1373342506087"/>
                </a:lnTo>
                <a:lnTo>
                  <a:pt x="1426792134243" y="1585104490034"/>
                </a:lnTo>
                <a:lnTo>
                  <a:pt x="1045152494705" y="1471584153599"/>
                </a:lnTo>
                <a:lnTo>
                  <a:pt x="722635987785" y="1488044099373"/>
                </a:lnTo>
                <a:lnTo>
                  <a:pt x="316411095894" y="1430199166567"/>
                </a:lnTo>
                <a:lnTo>
                  <a:pt x="40333998063" y="1181871221279"/>
                </a:lnTo>
                <a:lnTo>
                  <a:pt x="209025134705" y="856612480319"/>
                </a:lnTo>
                <a:lnTo>
                  <a:pt x="291389758878" y="602067416066"/>
                </a:lnTo>
                <a:lnTo>
                  <a:pt x="389572239894" y="332775371990"/>
                </a:lnTo>
                <a:lnTo>
                  <a:pt x="722853540601" y="225538010155"/>
                </a:lnTo>
                <a:lnTo>
                  <a:pt x="1045152494704" y="0"/>
                </a:lnTo>
                <a:lnTo>
                  <a:pt x="1426574581427" y="128477619494"/>
                </a:lnTo>
                <a:lnTo>
                  <a:pt x="1617120013515" y="389632032470"/>
                </a:lnTo>
                <a:lnTo>
                  <a:pt x="1739792097911" y="618720346365"/>
                </a:lnTo>
                <a:close/>
              </a:path>
            </a:pathLst>
          </a:custGeom>
          <a:solidFill>
            <a:srgbClr val="E07B6C"/>
          </a:solidFill>
          <a:ln>
            <a:noFill/>
          </a:ln>
          <a:effectLst>
            <a:outerShdw blurRad="190500" dist="50800" dir="5400000" algn="tl" rotWithShape="0">
              <a:srgbClr val="2D3436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4480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600" b="1" i="0">
                <a:solidFill>
                  <a:srgbClr val="FFFFFF"/>
                </a:solidFill>
                <a:latin typeface="Ogg TRIAL"/>
              </a:defRPr>
            </a:pPr>
            <a:r>
              <a:t>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7200" b="1" i="0">
                <a:solidFill>
                  <a:srgbClr val="2D3436"/>
                </a:solidFill>
                <a:latin typeface="Ogg TRIAL"/>
              </a:defRPr>
            </a:pPr>
            <a:r>
              <a:t>The Answer Is...</a:t>
            </a:r>
          </a:p>
        </p:txBody>
      </p:sp>
      <p:sp>
        <p:nvSpPr>
          <p:cNvPr id="7" name="Freeform 6"/>
          <p:cNvSpPr/>
          <p:nvPr/>
        </p:nvSpPr>
        <p:spPr>
          <a:xfrm>
            <a:off x="10607040" y="-2556068039"/>
            <a:ext cx="204845899680" cy="198138061253"/>
          </a:xfrm>
          <a:custGeom>
            <a:avLst/>
            <a:gdLst/>
            <a:ahLst/>
            <a:cxnLst/>
            <a:rect l="l" t="t" r="r" b="b"/>
            <a:pathLst>
              <a:path w="204845899680" h="198138061253">
                <a:moveTo>
                  <a:pt x="0" y="2565212039"/>
                </a:moveTo>
                <a:moveTo>
                  <a:pt x="204845899680" y="107076560039"/>
                </a:moveTo>
                <a:lnTo>
                  <a:pt x="199080152882" y="145652286371"/>
                </a:lnTo>
                <a:lnTo>
                  <a:pt x="169023482761" y="171667813260"/>
                </a:lnTo>
                <a:lnTo>
                  <a:pt x="142674580433" y="198138061253"/>
                </a:lnTo>
                <a:lnTo>
                  <a:pt x="104510616480" y="183948019199"/>
                </a:lnTo>
                <a:lnTo>
                  <a:pt x="72258965788" y="186005512420"/>
                </a:lnTo>
                <a:lnTo>
                  <a:pt x="31636476598" y="178774895820"/>
                </a:lnTo>
                <a:lnTo>
                  <a:pt x="4028766815" y="147733902659"/>
                </a:lnTo>
                <a:lnTo>
                  <a:pt x="20897880480" y="107076560039"/>
                </a:lnTo>
                <a:lnTo>
                  <a:pt x="29134342897" y="75258427007"/>
                </a:lnTo>
                <a:lnTo>
                  <a:pt x="38952590998" y="41596921497"/>
                </a:lnTo>
                <a:lnTo>
                  <a:pt x="72280721069" y="28192251268"/>
                </a:lnTo>
                <a:lnTo>
                  <a:pt x="104510616479" y="0"/>
                </a:lnTo>
                <a:lnTo>
                  <a:pt x="142652825152" y="16059702435"/>
                </a:lnTo>
                <a:lnTo>
                  <a:pt x="161707368361" y="48704004057"/>
                </a:lnTo>
                <a:lnTo>
                  <a:pt x="173974576800" y="77340043294"/>
                </a:lnTo>
                <a:close/>
              </a:path>
            </a:pathLst>
          </a:custGeom>
          <a:solidFill>
            <a:srgbClr val="1B8A8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1521440" y="-2556068039"/>
            <a:ext cx="204845442480" cy="198138061253"/>
          </a:xfrm>
          <a:custGeom>
            <a:avLst/>
            <a:gdLst/>
            <a:ahLst/>
            <a:cxnLst/>
            <a:rect l="l" t="t" r="r" b="b"/>
            <a:pathLst>
              <a:path w="204845442480" h="198138061253">
                <a:moveTo>
                  <a:pt x="0" y="2565212039"/>
                </a:moveTo>
                <a:moveTo>
                  <a:pt x="204845442480" y="107076560039"/>
                </a:moveTo>
                <a:lnTo>
                  <a:pt x="199079695682" y="145652286371"/>
                </a:lnTo>
                <a:lnTo>
                  <a:pt x="169023025561" y="171667813260"/>
                </a:lnTo>
                <a:lnTo>
                  <a:pt x="142674123233" y="198138061253"/>
                </a:lnTo>
                <a:lnTo>
                  <a:pt x="104510159280" y="183948019199"/>
                </a:lnTo>
                <a:lnTo>
                  <a:pt x="72258508588" y="186005512420"/>
                </a:lnTo>
                <a:lnTo>
                  <a:pt x="31636019398" y="178774895820"/>
                </a:lnTo>
                <a:lnTo>
                  <a:pt x="4028309615" y="147733902659"/>
                </a:lnTo>
                <a:lnTo>
                  <a:pt x="20897423280" y="107076560039"/>
                </a:lnTo>
                <a:lnTo>
                  <a:pt x="29133885697" y="75258427007"/>
                </a:lnTo>
                <a:lnTo>
                  <a:pt x="38952133798" y="41596921497"/>
                </a:lnTo>
                <a:lnTo>
                  <a:pt x="72280263869" y="28192251268"/>
                </a:lnTo>
                <a:lnTo>
                  <a:pt x="104510159279" y="0"/>
                </a:lnTo>
                <a:lnTo>
                  <a:pt x="142652367952" y="16059702435"/>
                </a:lnTo>
                <a:lnTo>
                  <a:pt x="161706911161" y="48704004057"/>
                </a:lnTo>
                <a:lnTo>
                  <a:pt x="173974119600" y="77340043294"/>
                </a:lnTo>
                <a:close/>
              </a:path>
            </a:pathLst>
          </a:custGeom>
          <a:solidFill>
            <a:srgbClr val="1B8A8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2435840" y="-2556068039"/>
            <a:ext cx="204844985280" cy="198138061253"/>
          </a:xfrm>
          <a:custGeom>
            <a:avLst/>
            <a:gdLst/>
            <a:ahLst/>
            <a:cxnLst/>
            <a:rect l="l" t="t" r="r" b="b"/>
            <a:pathLst>
              <a:path w="204844985280" h="198138061253">
                <a:moveTo>
                  <a:pt x="0" y="2565212039"/>
                </a:moveTo>
                <a:moveTo>
                  <a:pt x="204844985280" y="107076560039"/>
                </a:moveTo>
                <a:lnTo>
                  <a:pt x="199079238482" y="145652286371"/>
                </a:lnTo>
                <a:lnTo>
                  <a:pt x="169022568361" y="171667813260"/>
                </a:lnTo>
                <a:lnTo>
                  <a:pt x="142673666033" y="198138061253"/>
                </a:lnTo>
                <a:lnTo>
                  <a:pt x="104509702080" y="183948019199"/>
                </a:lnTo>
                <a:lnTo>
                  <a:pt x="72258051388" y="186005512420"/>
                </a:lnTo>
                <a:lnTo>
                  <a:pt x="31635562198" y="178774895820"/>
                </a:lnTo>
                <a:lnTo>
                  <a:pt x="4027852415" y="147733902659"/>
                </a:lnTo>
                <a:lnTo>
                  <a:pt x="20896966080" y="107076560039"/>
                </a:lnTo>
                <a:lnTo>
                  <a:pt x="29133428497" y="75258427007"/>
                </a:lnTo>
                <a:lnTo>
                  <a:pt x="38951676598" y="41596921497"/>
                </a:lnTo>
                <a:lnTo>
                  <a:pt x="72279806669" y="28192251268"/>
                </a:lnTo>
                <a:lnTo>
                  <a:pt x="104509702079" y="0"/>
                </a:lnTo>
                <a:lnTo>
                  <a:pt x="142651910752" y="16059702435"/>
                </a:lnTo>
                <a:lnTo>
                  <a:pt x="161706453961" y="48704004057"/>
                </a:lnTo>
                <a:lnTo>
                  <a:pt x="173973662400" y="77340043294"/>
                </a:lnTo>
                <a:close/>
              </a:path>
            </a:pathLst>
          </a:custGeom>
          <a:solidFill>
            <a:srgbClr val="1B8A8A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07B6C"/>
              </a:gs>
              <a:gs pos="100000">
                <a:srgbClr val="F4A89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51213715199"/>
            <a:ext cx="5735826374400" cy="3962761225088"/>
          </a:xfrm>
          <a:custGeom>
            <a:avLst/>
            <a:gdLst/>
            <a:ahLst/>
            <a:cxnLst/>
            <a:rect l="l" t="t" r="r" b="b"/>
            <a:pathLst>
              <a:path w="5735826374400" h="3962761225088">
                <a:moveTo>
                  <a:pt x="0" y="51211886399"/>
                </a:moveTo>
                <a:moveTo>
                  <a:pt x="5735826374400" y="2141531200799"/>
                </a:moveTo>
                <a:lnTo>
                  <a:pt x="5574385464063" y="2913045727452"/>
                </a:lnTo>
                <a:lnTo>
                  <a:pt x="4732798700670" y="3433356265220"/>
                </a:lnTo>
                <a:lnTo>
                  <a:pt x="3995029435507" y="3962761225088"/>
                </a:lnTo>
                <a:lnTo>
                  <a:pt x="2926438444800" y="3678960383999"/>
                </a:lnTo>
                <a:lnTo>
                  <a:pt x="2023392225425" y="3720110248435"/>
                </a:lnTo>
                <a:lnTo>
                  <a:pt x="885962528129" y="3575497916420"/>
                </a:lnTo>
                <a:lnTo>
                  <a:pt x="112946654202" y="2954678053200"/>
                </a:lnTo>
                <a:lnTo>
                  <a:pt x="585281836800" y="2141531200799"/>
                </a:lnTo>
                <a:lnTo>
                  <a:pt x="815902784486" y="1505168540168"/>
                </a:lnTo>
                <a:lnTo>
                  <a:pt x="1090813731329" y="831938429977"/>
                </a:lnTo>
                <a:lnTo>
                  <a:pt x="2024001373309" y="563845025391"/>
                </a:lnTo>
                <a:lnTo>
                  <a:pt x="2926438444799" y="0"/>
                </a:lnTo>
                <a:lnTo>
                  <a:pt x="3994420287623" y="321194048738"/>
                </a:lnTo>
                <a:lnTo>
                  <a:pt x="4527947497470" y="974080081177"/>
                </a:lnTo>
                <a:lnTo>
                  <a:pt x="4871429333779" y="1546800865916"/>
                </a:lnTo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800" b="1" i="0">
                <a:solidFill>
                  <a:srgbClr val="FFFFFF"/>
                </a:solidFill>
                <a:latin typeface="Ogg TRIAL"/>
              </a:defRPr>
            </a:pPr>
            <a:r>
              <a:t>Both Were Made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840480"/>
            <a:ext cx="5790895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4114800"/>
            <a:ext cx="5425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600" b="0" i="0">
                <a:solidFill>
                  <a:srgbClr val="2D3436"/>
                </a:solidFill>
                <a:latin typeface="Ogg Text TRIAL"/>
              </a:defRPr>
            </a:pPr>
            <a:r>
              <a:t>In less than 30 seconds.</a:t>
            </a:r>
            <a:br/>
            <a:r>
              <a:t>For free.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DF8F3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51213715199"/>
            <a:ext cx="4916429791200" cy="3962761225088"/>
          </a:xfrm>
          <a:custGeom>
            <a:avLst/>
            <a:gdLst/>
            <a:ahLst/>
            <a:cxnLst/>
            <a:rect l="l" t="t" r="r" b="b"/>
            <a:pathLst>
              <a:path w="4916429791200" h="3962761225088">
                <a:moveTo>
                  <a:pt x="0" y="51211886399"/>
                </a:moveTo>
                <a:moveTo>
                  <a:pt x="4916429791200" y="2141531200799"/>
                </a:moveTo>
                <a:lnTo>
                  <a:pt x="4778051868054" y="2913045727452"/>
                </a:lnTo>
                <a:lnTo>
                  <a:pt x="4056691785145" y="3433356265220"/>
                </a:lnTo>
                <a:lnTo>
                  <a:pt x="3424318129292" y="3962761225088"/>
                </a:lnTo>
                <a:lnTo>
                  <a:pt x="2508382994400" y="3678960383999"/>
                </a:lnTo>
                <a:lnTo>
                  <a:pt x="1734343377793" y="3720110248435"/>
                </a:lnTo>
                <a:lnTo>
                  <a:pt x="759403637254" y="3575497916420"/>
                </a:lnTo>
                <a:lnTo>
                  <a:pt x="96818602459" y="2954678053200"/>
                </a:lnTo>
                <a:lnTo>
                  <a:pt x="501677330400" y="2141531200799"/>
                </a:lnTo>
                <a:lnTo>
                  <a:pt x="699352428417" y="1505168540168"/>
                </a:lnTo>
                <a:lnTo>
                  <a:pt x="934990382854" y="831938429977"/>
                </a:lnTo>
                <a:lnTo>
                  <a:pt x="1734865504551" y="563845025391"/>
                </a:lnTo>
                <a:lnTo>
                  <a:pt x="2508382994399" y="0"/>
                </a:lnTo>
                <a:lnTo>
                  <a:pt x="3423796002534" y="321194048738"/>
                </a:lnTo>
                <a:lnTo>
                  <a:pt x="3881105039545" y="974080081177"/>
                </a:lnTo>
                <a:lnTo>
                  <a:pt x="4175518042096" y="1546800865916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459200" y="-51210057599"/>
            <a:ext cx="4916420647200" cy="3962761225088"/>
          </a:xfrm>
          <a:custGeom>
            <a:avLst/>
            <a:gdLst/>
            <a:ahLst/>
            <a:cxnLst/>
            <a:rect l="l" t="t" r="r" b="b"/>
            <a:pathLst>
              <a:path w="4916420647200" h="3962761225088">
                <a:moveTo>
                  <a:pt x="0" y="51215543999"/>
                </a:moveTo>
                <a:moveTo>
                  <a:pt x="4916420647200" y="2141531200799"/>
                </a:moveTo>
                <a:lnTo>
                  <a:pt x="4778042724054" y="2913045727452"/>
                </a:lnTo>
                <a:lnTo>
                  <a:pt x="4056682641145" y="3433356265220"/>
                </a:lnTo>
                <a:lnTo>
                  <a:pt x="3424308985292" y="3962761225088"/>
                </a:lnTo>
                <a:lnTo>
                  <a:pt x="2508373850400" y="3678960383999"/>
                </a:lnTo>
                <a:lnTo>
                  <a:pt x="1734334233793" y="3720110248435"/>
                </a:lnTo>
                <a:lnTo>
                  <a:pt x="759394493254" y="3575497916420"/>
                </a:lnTo>
                <a:lnTo>
                  <a:pt x="96809458459" y="2954678053200"/>
                </a:lnTo>
                <a:lnTo>
                  <a:pt x="501668186400" y="2141531200799"/>
                </a:lnTo>
                <a:lnTo>
                  <a:pt x="699343284417" y="1505168540168"/>
                </a:lnTo>
                <a:lnTo>
                  <a:pt x="934981238854" y="831938429977"/>
                </a:lnTo>
                <a:lnTo>
                  <a:pt x="1734856360551" y="563845025391"/>
                </a:lnTo>
                <a:lnTo>
                  <a:pt x="2508373850399" y="0"/>
                </a:lnTo>
                <a:lnTo>
                  <a:pt x="3423786858534" y="321194048738"/>
                </a:lnTo>
                <a:lnTo>
                  <a:pt x="3881095895545" y="974080081177"/>
                </a:lnTo>
                <a:lnTo>
                  <a:pt x="4175508898096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645920"/>
            <a:ext cx="8899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800" b="0" i="0">
                <a:solidFill>
                  <a:srgbClr val="9CA3A8"/>
                </a:solidFill>
                <a:latin typeface="Ogg Text TRIAL"/>
              </a:defRPr>
            </a:pPr>
            <a:r>
              <a:t>Yes, we all use AI nowadays...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560320"/>
            <a:ext cx="2743200" cy="36576"/>
          </a:xfrm>
          <a:prstGeom prst="rect">
            <a:avLst/>
          </a:prstGeom>
          <a:solidFill>
            <a:srgbClr val="2BA5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926080"/>
            <a:ext cx="88998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2D3436"/>
                </a:solidFill>
                <a:latin typeface="Ogg TRIAL"/>
              </a:defRPr>
            </a:pPr>
            <a:r>
              <a:t>But in 2026, they've gotten so good</a:t>
            </a:r>
            <a:br/>
            <a:r>
              <a:t>that hiring someone REAL is</a:t>
            </a:r>
            <a:br/>
            <a:r>
              <a:t>starting to become just an option...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512064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F4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07B6C"/>
                </a:solidFill>
                <a:latin typeface="Ogg Text TRIAL Medium"/>
              </a:defRPr>
            </a:pPr>
            <a:r>
              <a:t>JUST AN OPTION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8F5F3"/>
              </a:gs>
              <a:gs pos="100000">
                <a:srgbClr val="FDF8F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6459200" y="-40966583039"/>
            <a:ext cx="4097015834400" cy="3170208980070"/>
          </a:xfrm>
          <a:custGeom>
            <a:avLst/>
            <a:gdLst/>
            <a:ahLst/>
            <a:cxnLst/>
            <a:rect l="l" t="t" r="r" b="b"/>
            <a:pathLst>
              <a:path w="4097015834400" h="3170208980070">
                <a:moveTo>
                  <a:pt x="0" y="40973898239"/>
                </a:moveTo>
                <a:moveTo>
                  <a:pt x="4097015834400" y="1713224960639"/>
                </a:moveTo>
                <a:lnTo>
                  <a:pt x="3981700898445" y="2330436581962"/>
                </a:lnTo>
                <a:lnTo>
                  <a:pt x="3380567496021" y="2746685012176"/>
                </a:lnTo>
                <a:lnTo>
                  <a:pt x="2853589449477" y="3170208980070"/>
                </a:lnTo>
                <a:lnTo>
                  <a:pt x="2090310170400" y="2943168307199"/>
                </a:lnTo>
                <a:lnTo>
                  <a:pt x="1445277156561" y="2976088198748"/>
                </a:lnTo>
                <a:lnTo>
                  <a:pt x="632827372778" y="2860398333136"/>
                </a:lnTo>
                <a:lnTo>
                  <a:pt x="80673177116" y="2363742442560"/>
                </a:lnTo>
                <a:lnTo>
                  <a:pt x="418055450400" y="1713224960639"/>
                </a:lnTo>
                <a:lnTo>
                  <a:pt x="582784698747" y="1204134832134"/>
                </a:lnTo>
                <a:lnTo>
                  <a:pt x="779149660778" y="665550743981"/>
                </a:lnTo>
                <a:lnTo>
                  <a:pt x="1445712262192" y="451076020312"/>
                </a:lnTo>
                <a:lnTo>
                  <a:pt x="2090310170399" y="0"/>
                </a:lnTo>
                <a:lnTo>
                  <a:pt x="2853154343845" y="256955238990"/>
                </a:lnTo>
                <a:lnTo>
                  <a:pt x="3234245208021" y="779264064941"/>
                </a:lnTo>
                <a:lnTo>
                  <a:pt x="3479589376813" y="1237440692732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1828800" y="-40971155039"/>
            <a:ext cx="3277620165600" cy="3170208980070"/>
          </a:xfrm>
          <a:custGeom>
            <a:avLst/>
            <a:gdLst/>
            <a:ahLst/>
            <a:cxnLst/>
            <a:rect l="l" t="t" r="r" b="b"/>
            <a:pathLst>
              <a:path w="3277620165600" h="3170208980070">
                <a:moveTo>
                  <a:pt x="0" y="40969326239"/>
                </a:moveTo>
                <a:moveTo>
                  <a:pt x="3277620165600" y="1713224960639"/>
                </a:moveTo>
                <a:lnTo>
                  <a:pt x="3185368216836" y="2330436581962"/>
                </a:lnTo>
                <a:lnTo>
                  <a:pt x="2704461494897" y="2746685012176"/>
                </a:lnTo>
                <a:lnTo>
                  <a:pt x="2282879057661" y="3170208980070"/>
                </a:lnTo>
                <a:lnTo>
                  <a:pt x="1672255634400" y="2943168307199"/>
                </a:lnTo>
                <a:lnTo>
                  <a:pt x="1156229223329" y="2976088198748"/>
                </a:lnTo>
                <a:lnTo>
                  <a:pt x="506269396302" y="2860398333136"/>
                </a:lnTo>
                <a:lnTo>
                  <a:pt x="64546039773" y="2363742442560"/>
                </a:lnTo>
                <a:lnTo>
                  <a:pt x="334451858400" y="1713224960639"/>
                </a:lnTo>
                <a:lnTo>
                  <a:pt x="466235257078" y="1204134832134"/>
                </a:lnTo>
                <a:lnTo>
                  <a:pt x="623327226702" y="665550743981"/>
                </a:lnTo>
                <a:lnTo>
                  <a:pt x="1156577307834" y="451076020312"/>
                </a:lnTo>
                <a:lnTo>
                  <a:pt x="1672255634399" y="0"/>
                </a:lnTo>
                <a:lnTo>
                  <a:pt x="2282530973156" y="256955238990"/>
                </a:lnTo>
                <a:lnTo>
                  <a:pt x="2587403664497" y="779264064941"/>
                </a:lnTo>
                <a:lnTo>
                  <a:pt x="2783678999531" y="1237440692732"/>
                </a:lnTo>
                <a:close/>
              </a:path>
            </a:pathLst>
          </a:custGeom>
          <a:solidFill>
            <a:srgbClr val="F7E19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200" b="1" i="0">
                <a:solidFill>
                  <a:srgbClr val="1B8A8A"/>
                </a:solidFill>
                <a:latin typeface="Ogg TRIAL"/>
              </a:defRPr>
            </a:pPr>
            <a:r>
              <a:t>Let that sink in</a:t>
            </a:r>
            <a:br/>
            <a:r>
              <a:t>for a second.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315200" y="-40968411839"/>
            <a:ext cx="4916425219200" cy="3170208980070"/>
          </a:xfrm>
          <a:custGeom>
            <a:avLst/>
            <a:gdLst/>
            <a:ahLst/>
            <a:cxnLst/>
            <a:rect l="l" t="t" r="r" b="b"/>
            <a:pathLst>
              <a:path w="4916425219200" h="3170208980070">
                <a:moveTo>
                  <a:pt x="0" y="40972069439"/>
                </a:moveTo>
                <a:moveTo>
                  <a:pt x="4916425219200" y="1713224960639"/>
                </a:moveTo>
                <a:lnTo>
                  <a:pt x="4778047296054" y="2330436581962"/>
                </a:lnTo>
                <a:lnTo>
                  <a:pt x="4056687213145" y="2746685012176"/>
                </a:lnTo>
                <a:lnTo>
                  <a:pt x="3424313557292" y="3170208980070"/>
                </a:lnTo>
                <a:lnTo>
                  <a:pt x="2508378422400" y="2943168307199"/>
                </a:lnTo>
                <a:lnTo>
                  <a:pt x="1734338805793" y="2976088198748"/>
                </a:lnTo>
                <a:lnTo>
                  <a:pt x="759399065254" y="2860398333136"/>
                </a:lnTo>
                <a:lnTo>
                  <a:pt x="96814030459" y="2363742442560"/>
                </a:lnTo>
                <a:lnTo>
                  <a:pt x="501672758400" y="1713224960639"/>
                </a:lnTo>
                <a:lnTo>
                  <a:pt x="699347856417" y="1204134832134"/>
                </a:lnTo>
                <a:lnTo>
                  <a:pt x="934985810854" y="665550743981"/>
                </a:lnTo>
                <a:lnTo>
                  <a:pt x="1734860932551" y="451076020312"/>
                </a:lnTo>
                <a:lnTo>
                  <a:pt x="2508378422399" y="0"/>
                </a:lnTo>
                <a:lnTo>
                  <a:pt x="3423791430534" y="256955238990"/>
                </a:lnTo>
                <a:lnTo>
                  <a:pt x="3881100467545" y="779264064941"/>
                </a:lnTo>
                <a:lnTo>
                  <a:pt x="4175513470096" y="1237440692732"/>
                </a:lnTo>
                <a:close/>
              </a:path>
            </a:pathLst>
          </a:custGeom>
          <a:solidFill>
            <a:srgbClr val="E07B6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200" b="0" i="0">
                <a:solidFill>
                  <a:srgbClr val="FFFFFF"/>
                </a:solidFill>
                <a:latin typeface="Ogg TRIAL"/>
              </a:defRPr>
            </a:pPr>
            <a:r>
              <a:t>Now let me ask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600" b="1" i="0">
                <a:solidFill>
                  <a:srgbClr val="E07B6C"/>
                </a:solidFill>
                <a:latin typeface="Ogg TRIAL"/>
              </a:defRPr>
            </a:pPr>
            <a:r>
              <a:t>something uncomfortable...</a:t>
            </a:r>
          </a:p>
        </p:txBody>
      </p:sp>
      <p:sp>
        <p:nvSpPr>
          <p:cNvPr id="6" name="Freeform 5"/>
          <p:cNvSpPr/>
          <p:nvPr/>
        </p:nvSpPr>
        <p:spPr>
          <a:xfrm>
            <a:off x="5486400" y="-20482194239"/>
            <a:ext cx="5735830946400" cy="1585104490034"/>
          </a:xfrm>
          <a:custGeom>
            <a:avLst/>
            <a:gdLst/>
            <a:ahLst/>
            <a:cxnLst/>
            <a:rect l="l" t="t" r="r" b="b"/>
            <a:pathLst>
              <a:path w="5735830946400" h="1585104490034">
                <a:moveTo>
                  <a:pt x="0" y="20488046399"/>
                </a:moveTo>
                <a:moveTo>
                  <a:pt x="5735830946400" y="856612480319"/>
                </a:moveTo>
                <a:lnTo>
                  <a:pt x="5574390036063" y="1165218290980"/>
                </a:lnTo>
                <a:lnTo>
                  <a:pt x="4732803272670" y="1373342506087"/>
                </a:lnTo>
                <a:lnTo>
                  <a:pt x="3995034007507" y="1585104490034"/>
                </a:lnTo>
                <a:lnTo>
                  <a:pt x="2926443016800" y="1471584153599"/>
                </a:lnTo>
                <a:lnTo>
                  <a:pt x="2023396797425" y="1488044099373"/>
                </a:lnTo>
                <a:lnTo>
                  <a:pt x="885967100129" y="1430199166567"/>
                </a:lnTo>
                <a:lnTo>
                  <a:pt x="112951226202" y="1181871221279"/>
                </a:lnTo>
                <a:lnTo>
                  <a:pt x="585286408800" y="856612480319"/>
                </a:lnTo>
                <a:lnTo>
                  <a:pt x="815907356486" y="602067416066"/>
                </a:lnTo>
                <a:lnTo>
                  <a:pt x="1090818303329" y="332775371990"/>
                </a:lnTo>
                <a:lnTo>
                  <a:pt x="2024005945309" y="225538010155"/>
                </a:lnTo>
                <a:lnTo>
                  <a:pt x="2926443016799" y="0"/>
                </a:lnTo>
                <a:lnTo>
                  <a:pt x="3994424859623" y="128477619494"/>
                </a:lnTo>
                <a:lnTo>
                  <a:pt x="4527952069470" y="389632032470"/>
                </a:lnTo>
                <a:lnTo>
                  <a:pt x="4871433905779" y="618720346365"/>
                </a:lnTo>
                <a:close/>
              </a:path>
            </a:pathLst>
          </a:custGeom>
          <a:solidFill>
            <a:srgbClr val="E07B6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200" b="0" i="0">
                <a:solidFill>
                  <a:srgbClr val="636E72"/>
                </a:solidFill>
                <a:latin typeface="Ogg Text TRIAL"/>
              </a:defRPr>
            </a:pPr>
            <a:r>
              <a:t>If anyone can create designs like this in seconds...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000" b="1" i="0">
                <a:solidFill>
                  <a:srgbClr val="2D3436"/>
                </a:solidFill>
                <a:latin typeface="Ogg TRIAL"/>
              </a:defRPr>
            </a:pPr>
            <a:r>
              <a:t>What happens to</a:t>
            </a:r>
            <a:br/>
            <a:r>
              <a:t>YOUR Etsy shop</a:t>
            </a:r>
            <a:br/>
            <a:r>
              <a:t>in 2026?</a:t>
            </a:r>
          </a:p>
        </p:txBody>
      </p:sp>
      <p:sp>
        <p:nvSpPr>
          <p:cNvPr id="8" name="Freeform 7"/>
          <p:cNvSpPr/>
          <p:nvPr/>
        </p:nvSpPr>
        <p:spPr>
          <a:xfrm>
            <a:off x="18288000" y="-25602285599"/>
            <a:ext cx="2048502888000" cy="1981380612543"/>
          </a:xfrm>
          <a:custGeom>
            <a:avLst/>
            <a:gdLst/>
            <a:ahLst/>
            <a:cxnLst/>
            <a:rect l="l" t="t" r="r" b="b"/>
            <a:pathLst>
              <a:path w="2048502888000" h="1981380612543">
                <a:moveTo>
                  <a:pt x="0" y="25610515199"/>
                </a:moveTo>
                <a:moveTo>
                  <a:pt x="2048502888000" y="1070765600399"/>
                </a:moveTo>
                <a:lnTo>
                  <a:pt x="1990845420022" y="1456522863725"/>
                </a:lnTo>
                <a:lnTo>
                  <a:pt x="1690278718810" y="1716678132609"/>
                </a:lnTo>
                <a:lnTo>
                  <a:pt x="1426789695538" y="1981380612543"/>
                </a:lnTo>
                <a:lnTo>
                  <a:pt x="1045150056000" y="1839480191999"/>
                </a:lnTo>
                <a:lnTo>
                  <a:pt x="722633549080" y="1860055124217"/>
                </a:lnTo>
                <a:lnTo>
                  <a:pt x="316408657189" y="1787748958209"/>
                </a:lnTo>
                <a:lnTo>
                  <a:pt x="40331559358" y="1477339026599"/>
                </a:lnTo>
                <a:lnTo>
                  <a:pt x="209022696000" y="1070765600399"/>
                </a:lnTo>
                <a:lnTo>
                  <a:pt x="291387320173" y="752584270083"/>
                </a:lnTo>
                <a:lnTo>
                  <a:pt x="389569801189" y="415969214988"/>
                </a:lnTo>
                <a:lnTo>
                  <a:pt x="722851101896" y="281922512695"/>
                </a:lnTo>
                <a:lnTo>
                  <a:pt x="1045150055999" y="0"/>
                </a:lnTo>
                <a:lnTo>
                  <a:pt x="1426572142722" y="160597024368"/>
                </a:lnTo>
                <a:lnTo>
                  <a:pt x="1617117574810" y="487040040588"/>
                </a:lnTo>
                <a:lnTo>
                  <a:pt x="1739789659206" y="773400432957"/>
                </a:lnTo>
                <a:close/>
              </a:path>
            </a:pathLst>
          </a:custGeom>
          <a:solidFill>
            <a:srgbClr val="FDD5CC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420624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9600" b="1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DF8F3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51213715199"/>
            <a:ext cx="4916429791200" cy="3962761225088"/>
          </a:xfrm>
          <a:custGeom>
            <a:avLst/>
            <a:gdLst/>
            <a:ahLst/>
            <a:cxnLst/>
            <a:rect l="l" t="t" r="r" b="b"/>
            <a:pathLst>
              <a:path w="4916429791200" h="3962761225088">
                <a:moveTo>
                  <a:pt x="0" y="51211886399"/>
                </a:moveTo>
                <a:moveTo>
                  <a:pt x="4916429791200" y="2141531200799"/>
                </a:moveTo>
                <a:lnTo>
                  <a:pt x="4778051868054" y="2913045727452"/>
                </a:lnTo>
                <a:lnTo>
                  <a:pt x="4056691785145" y="3433356265220"/>
                </a:lnTo>
                <a:lnTo>
                  <a:pt x="3424318129292" y="3962761225088"/>
                </a:lnTo>
                <a:lnTo>
                  <a:pt x="2508382994400" y="3678960383999"/>
                </a:lnTo>
                <a:lnTo>
                  <a:pt x="1734343377793" y="3720110248435"/>
                </a:lnTo>
                <a:lnTo>
                  <a:pt x="759403637254" y="3575497916420"/>
                </a:lnTo>
                <a:lnTo>
                  <a:pt x="96818602459" y="2954678053200"/>
                </a:lnTo>
                <a:lnTo>
                  <a:pt x="501677330400" y="2141531200799"/>
                </a:lnTo>
                <a:lnTo>
                  <a:pt x="699352428417" y="1505168540168"/>
                </a:lnTo>
                <a:lnTo>
                  <a:pt x="934990382854" y="831938429977"/>
                </a:lnTo>
                <a:lnTo>
                  <a:pt x="1734865504551" y="563845025391"/>
                </a:lnTo>
                <a:lnTo>
                  <a:pt x="2508382994399" y="0"/>
                </a:lnTo>
                <a:lnTo>
                  <a:pt x="3423796002534" y="321194048738"/>
                </a:lnTo>
                <a:lnTo>
                  <a:pt x="3881105039545" y="974080081177"/>
                </a:lnTo>
                <a:lnTo>
                  <a:pt x="4175518042096" y="1546800865916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459200" y="-51210057599"/>
            <a:ext cx="4916420647200" cy="3962761225088"/>
          </a:xfrm>
          <a:custGeom>
            <a:avLst/>
            <a:gdLst/>
            <a:ahLst/>
            <a:cxnLst/>
            <a:rect l="l" t="t" r="r" b="b"/>
            <a:pathLst>
              <a:path w="4916420647200" h="3962761225088">
                <a:moveTo>
                  <a:pt x="0" y="51215543999"/>
                </a:moveTo>
                <a:moveTo>
                  <a:pt x="4916420647200" y="2141531200799"/>
                </a:moveTo>
                <a:lnTo>
                  <a:pt x="4778042724054" y="2913045727452"/>
                </a:lnTo>
                <a:lnTo>
                  <a:pt x="4056682641145" y="3433356265220"/>
                </a:lnTo>
                <a:lnTo>
                  <a:pt x="3424308985292" y="3962761225088"/>
                </a:lnTo>
                <a:lnTo>
                  <a:pt x="2508373850400" y="3678960383999"/>
                </a:lnTo>
                <a:lnTo>
                  <a:pt x="1734334233793" y="3720110248435"/>
                </a:lnTo>
                <a:lnTo>
                  <a:pt x="759394493254" y="3575497916420"/>
                </a:lnTo>
                <a:lnTo>
                  <a:pt x="96809458459" y="2954678053200"/>
                </a:lnTo>
                <a:lnTo>
                  <a:pt x="501668186400" y="2141531200799"/>
                </a:lnTo>
                <a:lnTo>
                  <a:pt x="699343284417" y="1505168540168"/>
                </a:lnTo>
                <a:lnTo>
                  <a:pt x="934981238854" y="831938429977"/>
                </a:lnTo>
                <a:lnTo>
                  <a:pt x="1734856360551" y="563845025391"/>
                </a:lnTo>
                <a:lnTo>
                  <a:pt x="2508373850399" y="0"/>
                </a:lnTo>
                <a:lnTo>
                  <a:pt x="3423786858534" y="321194048738"/>
                </a:lnTo>
                <a:lnTo>
                  <a:pt x="3881095895545" y="974080081177"/>
                </a:lnTo>
                <a:lnTo>
                  <a:pt x="4175508898096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4800" b="1" i="0">
                <a:solidFill>
                  <a:srgbClr val="2D3436"/>
                </a:solidFill>
                <a:latin typeface="Ogg TRIAL"/>
              </a:defRPr>
            </a:pPr>
            <a:r>
              <a:t>The numbers I'm about</a:t>
            </a:r>
            <a:br/>
            <a:r>
              <a:t>to show you aren't random...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3657600"/>
            <a:ext cx="7619695" cy="2011680"/>
          </a:xfrm>
          <a:prstGeom prst="roundRect">
            <a:avLst>
              <a:gd name="adj" fmla="val 8000"/>
            </a:avLst>
          </a:prstGeom>
          <a:solidFill>
            <a:srgbClr val="1B8A8A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3931920"/>
            <a:ext cx="7071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800" b="0" i="0">
                <a:solidFill>
                  <a:srgbClr val="FFFFFF"/>
                </a:solidFill>
                <a:latin typeface="Ogg Text TRIAL Medium"/>
              </a:defRPr>
            </a:pPr>
            <a:r>
              <a:t>These are from YOUR OWN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4480560"/>
            <a:ext cx="70710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0" i="0">
                <a:solidFill>
                  <a:srgbClr val="5BBCB3"/>
                </a:solidFill>
                <a:latin typeface="Ogg Text TRIAL"/>
              </a:defRPr>
            </a:pPr>
            <a:r>
              <a:t>after I asked 160+ of you last week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212080"/>
            <a:ext cx="2185415" cy="292608"/>
          </a:xfrm>
          <a:prstGeom prst="roundRect">
            <a:avLst>
              <a:gd name="adj" fmla="val 50000"/>
            </a:avLst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Ogg Text TRIAL Medium"/>
              </a:defRPr>
            </a:pPr>
            <a:r>
              <a:t>160+ SELLERS SURVEYED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12000" b="1" i="0">
                <a:solidFill>
                  <a:srgbClr val="E07B6C"/>
                </a:solidFill>
                <a:latin typeface="Ogg TRIAL"/>
              </a:defRPr>
            </a:pPr>
            <a:r>
              <a:t>75+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400" b="0" i="0">
                <a:solidFill>
                  <a:srgbClr val="2D3436"/>
                </a:solidFill>
                <a:latin typeface="Ogg Text TRIAL"/>
              </a:defRPr>
            </a:pPr>
            <a:r>
              <a:t>sellers report their shops</a:t>
            </a:r>
            <a:br/>
            <a:r>
              <a:t>tanked in the last 2 months</a:t>
            </a:r>
          </a:p>
        </p:txBody>
      </p:sp>
      <p:sp>
        <p:nvSpPr>
          <p:cNvPr id="8" name="Freeform 7"/>
          <p:cNvSpPr/>
          <p:nvPr/>
        </p:nvSpPr>
        <p:spPr>
          <a:xfrm>
            <a:off x="12435840" y="-409610966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09793846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3441680" y="-409610966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09793846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447520" y="-409610966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09793846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453358" y="-409610966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09793846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459200" y="-409610966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09793846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7465040" y="-409610966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09793846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8470880" y="-409610966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09793846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9476720" y="-409610966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09793846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0482560" y="-409610966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09793846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1488400" y="-409610966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09793846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2435840" y="-409560674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09844138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3441680" y="-409560674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09844138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4447520" y="-409560674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09844138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453358" y="-409560674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09844138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6459200" y="-409560674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09844138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7465040" y="-409560674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09844138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8470880" y="-409560674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09844138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9476720" y="-409560674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09844138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0482560" y="-409560674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09844138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1488400" y="-409560674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09844138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2435840" y="-409510382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09894430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3441680" y="-409510382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09894430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4447520" y="-409510382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09894430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453358" y="-409510382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09894430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59200" y="-409510382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09894430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465040" y="-409510382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09894430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8470880" y="-409510382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09894430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9476720" y="-409510382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09894430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20482560" y="-409510382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09894430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21488400" y="-409510382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09894430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435840" y="-409460090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09944722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3441680" y="-409460090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09944722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4447520" y="-409460090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09944722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5453358" y="-409460090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09944722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6459200" y="-409460090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09944722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465040" y="-409460090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09944722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8470880" y="-409460090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09944722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9476720" y="-409460090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09944722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20482560" y="-409460090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09944722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21488400" y="-409460090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09944722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2435840" y="-409409798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09995014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3441680" y="-409409798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09995014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4447520" y="-409409798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09995014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5453358" y="-409409798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09995014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6459200" y="-409409798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09995014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7465040" y="-409409798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09995014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8470880" y="-409409798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09995014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9476720" y="-409409798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09995014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0482560" y="-409409798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09995014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1488400" y="-409409798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09995014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2435840" y="-409359506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10045306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3441680" y="-409359506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10045306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4447520" y="-409359506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10045306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15453358" y="-409359506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10045306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6459200" y="-409359506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10045306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7465040" y="-409359506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10045306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8470880" y="-409359506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10045306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9476720" y="-409359506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10045306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20482560" y="-409359506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10045306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1488400" y="-409359506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10045306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2435840" y="-409309214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10095598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3441680" y="-409309214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10095598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447520" y="-409309214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10095598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5453358" y="-409309214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10095598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6459200" y="-409309214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10095598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7465040" y="-409309214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10095598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8470880" y="-409309214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10095598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9476720" y="-409309214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10095598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0482560" y="-409309214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10095598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1488400" y="-409309214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10095598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2435840" y="-4092589223"/>
            <a:ext cx="327755707200" cy="317020898006"/>
          </a:xfrm>
          <a:custGeom>
            <a:avLst/>
            <a:gdLst/>
            <a:ahLst/>
            <a:cxnLst/>
            <a:rect l="l" t="t" r="r" b="b"/>
            <a:pathLst>
              <a:path w="327755707200" h="317020898006">
                <a:moveTo>
                  <a:pt x="0" y="4101458903"/>
                </a:moveTo>
                <a:moveTo>
                  <a:pt x="327755707200" y="171322496063"/>
                </a:moveTo>
                <a:lnTo>
                  <a:pt x="318530512323" y="233043658195"/>
                </a:lnTo>
                <a:lnTo>
                  <a:pt x="270439840129" y="274668501216"/>
                </a:lnTo>
                <a:lnTo>
                  <a:pt x="228281596406" y="317020898006"/>
                </a:lnTo>
                <a:lnTo>
                  <a:pt x="167219254080" y="294316830719"/>
                </a:lnTo>
                <a:lnTo>
                  <a:pt x="115616612972" y="297608819873"/>
                </a:lnTo>
                <a:lnTo>
                  <a:pt x="50620630270" y="286039833312"/>
                </a:lnTo>
                <a:lnTo>
                  <a:pt x="6448294617" y="236374244255"/>
                </a:lnTo>
                <a:lnTo>
                  <a:pt x="33438876480" y="171322496063"/>
                </a:lnTo>
                <a:lnTo>
                  <a:pt x="46617216347" y="120413483212"/>
                </a:lnTo>
                <a:lnTo>
                  <a:pt x="62326413310" y="66555074397"/>
                </a:lnTo>
                <a:lnTo>
                  <a:pt x="115651421423" y="45107602030"/>
                </a:lnTo>
                <a:lnTo>
                  <a:pt x="167219254079" y="0"/>
                </a:lnTo>
                <a:lnTo>
                  <a:pt x="228246787955" y="25695523898"/>
                </a:lnTo>
                <a:lnTo>
                  <a:pt x="258734057089" y="77926406493"/>
                </a:lnTo>
                <a:lnTo>
                  <a:pt x="27836159059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3441680" y="-4092589223"/>
            <a:ext cx="327755204280" cy="317020898006"/>
          </a:xfrm>
          <a:custGeom>
            <a:avLst/>
            <a:gdLst/>
            <a:ahLst/>
            <a:cxnLst/>
            <a:rect l="l" t="t" r="r" b="b"/>
            <a:pathLst>
              <a:path w="327755204280" h="317020898006">
                <a:moveTo>
                  <a:pt x="0" y="4101458903"/>
                </a:moveTo>
                <a:moveTo>
                  <a:pt x="327755204280" y="171322496063"/>
                </a:moveTo>
                <a:lnTo>
                  <a:pt x="318530009403" y="233043658195"/>
                </a:lnTo>
                <a:lnTo>
                  <a:pt x="270439337209" y="274668501216"/>
                </a:lnTo>
                <a:lnTo>
                  <a:pt x="228281093486" y="317020898006"/>
                </a:lnTo>
                <a:lnTo>
                  <a:pt x="167218751160" y="294316830719"/>
                </a:lnTo>
                <a:lnTo>
                  <a:pt x="115616110052" y="297608819873"/>
                </a:lnTo>
                <a:lnTo>
                  <a:pt x="50620127350" y="286039833312"/>
                </a:lnTo>
                <a:lnTo>
                  <a:pt x="6447791697" y="236374244255"/>
                </a:lnTo>
                <a:lnTo>
                  <a:pt x="33438373560" y="171322496063"/>
                </a:lnTo>
                <a:lnTo>
                  <a:pt x="46616713427" y="120413483212"/>
                </a:lnTo>
                <a:lnTo>
                  <a:pt x="62325910390" y="66555074397"/>
                </a:lnTo>
                <a:lnTo>
                  <a:pt x="115650918503" y="45107602030"/>
                </a:lnTo>
                <a:lnTo>
                  <a:pt x="167218751159" y="0"/>
                </a:lnTo>
                <a:lnTo>
                  <a:pt x="228246285035" y="25695523898"/>
                </a:lnTo>
                <a:lnTo>
                  <a:pt x="258733554169" y="77926406493"/>
                </a:lnTo>
                <a:lnTo>
                  <a:pt x="27836108767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447520" y="-4092589223"/>
            <a:ext cx="327754701360" cy="317020898006"/>
          </a:xfrm>
          <a:custGeom>
            <a:avLst/>
            <a:gdLst/>
            <a:ahLst/>
            <a:cxnLst/>
            <a:rect l="l" t="t" r="r" b="b"/>
            <a:pathLst>
              <a:path w="327754701360" h="317020898006">
                <a:moveTo>
                  <a:pt x="0" y="4101458903"/>
                </a:moveTo>
                <a:moveTo>
                  <a:pt x="327754701360" y="171322496063"/>
                </a:moveTo>
                <a:lnTo>
                  <a:pt x="318529506483" y="233043658195"/>
                </a:lnTo>
                <a:lnTo>
                  <a:pt x="270438834289" y="274668501216"/>
                </a:lnTo>
                <a:lnTo>
                  <a:pt x="228280590566" y="317020898006"/>
                </a:lnTo>
                <a:lnTo>
                  <a:pt x="167218248240" y="294316830719"/>
                </a:lnTo>
                <a:lnTo>
                  <a:pt x="115615607132" y="297608819873"/>
                </a:lnTo>
                <a:lnTo>
                  <a:pt x="50619624430" y="286039833312"/>
                </a:lnTo>
                <a:lnTo>
                  <a:pt x="6447288777" y="236374244255"/>
                </a:lnTo>
                <a:lnTo>
                  <a:pt x="33437870640" y="171322496063"/>
                </a:lnTo>
                <a:lnTo>
                  <a:pt x="46616210507" y="120413483212"/>
                </a:lnTo>
                <a:lnTo>
                  <a:pt x="62325407470" y="66555074397"/>
                </a:lnTo>
                <a:lnTo>
                  <a:pt x="115650415583" y="45107602030"/>
                </a:lnTo>
                <a:lnTo>
                  <a:pt x="167218248239" y="0"/>
                </a:lnTo>
                <a:lnTo>
                  <a:pt x="228245782115" y="25695523898"/>
                </a:lnTo>
                <a:lnTo>
                  <a:pt x="258733051249" y="77926406493"/>
                </a:lnTo>
                <a:lnTo>
                  <a:pt x="27836058475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5453358" y="-4092589223"/>
            <a:ext cx="327754198441" cy="317020898006"/>
          </a:xfrm>
          <a:custGeom>
            <a:avLst/>
            <a:gdLst/>
            <a:ahLst/>
            <a:cxnLst/>
            <a:rect l="l" t="t" r="r" b="b"/>
            <a:pathLst>
              <a:path w="327754198441" h="317020898006">
                <a:moveTo>
                  <a:pt x="0" y="4101458903"/>
                </a:moveTo>
                <a:moveTo>
                  <a:pt x="327754198441" y="171322496063"/>
                </a:moveTo>
                <a:lnTo>
                  <a:pt x="318529003564" y="233043658195"/>
                </a:lnTo>
                <a:lnTo>
                  <a:pt x="270438331370" y="274668501216"/>
                </a:lnTo>
                <a:lnTo>
                  <a:pt x="228280087647" y="317020898006"/>
                </a:lnTo>
                <a:lnTo>
                  <a:pt x="167217745321" y="294316830719"/>
                </a:lnTo>
                <a:lnTo>
                  <a:pt x="115615104213" y="297608819873"/>
                </a:lnTo>
                <a:lnTo>
                  <a:pt x="50619121511" y="286039833312"/>
                </a:lnTo>
                <a:lnTo>
                  <a:pt x="6446785858" y="236374244255"/>
                </a:lnTo>
                <a:lnTo>
                  <a:pt x="33437367721" y="171322496063"/>
                </a:lnTo>
                <a:lnTo>
                  <a:pt x="46615707588" y="120413483212"/>
                </a:lnTo>
                <a:lnTo>
                  <a:pt x="62324904551" y="66555074397"/>
                </a:lnTo>
                <a:lnTo>
                  <a:pt x="115649912664" y="45107602030"/>
                </a:lnTo>
                <a:lnTo>
                  <a:pt x="167217745320" y="0"/>
                </a:lnTo>
                <a:lnTo>
                  <a:pt x="228245279196" y="25695523898"/>
                </a:lnTo>
                <a:lnTo>
                  <a:pt x="258732548330" y="77926406493"/>
                </a:lnTo>
                <a:lnTo>
                  <a:pt x="278360081834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6459200" y="-4092589223"/>
            <a:ext cx="327753695520" cy="317020898006"/>
          </a:xfrm>
          <a:custGeom>
            <a:avLst/>
            <a:gdLst/>
            <a:ahLst/>
            <a:cxnLst/>
            <a:rect l="l" t="t" r="r" b="b"/>
            <a:pathLst>
              <a:path w="327753695520" h="317020898006">
                <a:moveTo>
                  <a:pt x="0" y="4101458903"/>
                </a:moveTo>
                <a:moveTo>
                  <a:pt x="327753695520" y="171322496063"/>
                </a:moveTo>
                <a:lnTo>
                  <a:pt x="318528500643" y="233043658195"/>
                </a:lnTo>
                <a:lnTo>
                  <a:pt x="270437828449" y="274668501216"/>
                </a:lnTo>
                <a:lnTo>
                  <a:pt x="228279584726" y="317020898006"/>
                </a:lnTo>
                <a:lnTo>
                  <a:pt x="167217242400" y="294316830719"/>
                </a:lnTo>
                <a:lnTo>
                  <a:pt x="115614601292" y="297608819873"/>
                </a:lnTo>
                <a:lnTo>
                  <a:pt x="50618618590" y="286039833312"/>
                </a:lnTo>
                <a:lnTo>
                  <a:pt x="6446282937" y="236374244255"/>
                </a:lnTo>
                <a:lnTo>
                  <a:pt x="33436864800" y="171322496063"/>
                </a:lnTo>
                <a:lnTo>
                  <a:pt x="46615204667" y="120413483212"/>
                </a:lnTo>
                <a:lnTo>
                  <a:pt x="62324401630" y="66555074397"/>
                </a:lnTo>
                <a:lnTo>
                  <a:pt x="115649409743" y="45107602030"/>
                </a:lnTo>
                <a:lnTo>
                  <a:pt x="167217242399" y="0"/>
                </a:lnTo>
                <a:lnTo>
                  <a:pt x="228244776275" y="25695523898"/>
                </a:lnTo>
                <a:lnTo>
                  <a:pt x="258732045409" y="77926406493"/>
                </a:lnTo>
                <a:lnTo>
                  <a:pt x="278359578913" y="123744069272"/>
                </a:lnTo>
                <a:close/>
              </a:path>
            </a:pathLst>
          </a:custGeom>
          <a:solidFill>
            <a:srgbClr val="E07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7465040" y="-4092589223"/>
            <a:ext cx="327753192600" cy="317020898006"/>
          </a:xfrm>
          <a:custGeom>
            <a:avLst/>
            <a:gdLst/>
            <a:ahLst/>
            <a:cxnLst/>
            <a:rect l="l" t="t" r="r" b="b"/>
            <a:pathLst>
              <a:path w="327753192600" h="317020898006">
                <a:moveTo>
                  <a:pt x="0" y="4101458903"/>
                </a:moveTo>
                <a:moveTo>
                  <a:pt x="327753192600" y="171322496063"/>
                </a:moveTo>
                <a:lnTo>
                  <a:pt x="318527997723" y="233043658195"/>
                </a:lnTo>
                <a:lnTo>
                  <a:pt x="270437325529" y="274668501216"/>
                </a:lnTo>
                <a:lnTo>
                  <a:pt x="228279081806" y="317020898006"/>
                </a:lnTo>
                <a:lnTo>
                  <a:pt x="167216739480" y="294316830719"/>
                </a:lnTo>
                <a:lnTo>
                  <a:pt x="115614098372" y="297608819873"/>
                </a:lnTo>
                <a:lnTo>
                  <a:pt x="50618115670" y="286039833312"/>
                </a:lnTo>
                <a:lnTo>
                  <a:pt x="6445780017" y="236374244255"/>
                </a:lnTo>
                <a:lnTo>
                  <a:pt x="33436361880" y="171322496063"/>
                </a:lnTo>
                <a:lnTo>
                  <a:pt x="46614701747" y="120413483212"/>
                </a:lnTo>
                <a:lnTo>
                  <a:pt x="62323898710" y="66555074397"/>
                </a:lnTo>
                <a:lnTo>
                  <a:pt x="115648906823" y="45107602030"/>
                </a:lnTo>
                <a:lnTo>
                  <a:pt x="167216739479" y="0"/>
                </a:lnTo>
                <a:lnTo>
                  <a:pt x="228244273355" y="25695523898"/>
                </a:lnTo>
                <a:lnTo>
                  <a:pt x="258731542489" y="77926406493"/>
                </a:lnTo>
                <a:lnTo>
                  <a:pt x="278359075993" y="123744069272"/>
                </a:lnTo>
                <a:close/>
              </a:path>
            </a:pathLst>
          </a:custGeom>
          <a:solidFill>
            <a:srgbClr val="F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18470880" y="-4092589223"/>
            <a:ext cx="327752689680" cy="317020898006"/>
          </a:xfrm>
          <a:custGeom>
            <a:avLst/>
            <a:gdLst/>
            <a:ahLst/>
            <a:cxnLst/>
            <a:rect l="l" t="t" r="r" b="b"/>
            <a:pathLst>
              <a:path w="327752689680" h="317020898006">
                <a:moveTo>
                  <a:pt x="0" y="4101458903"/>
                </a:moveTo>
                <a:moveTo>
                  <a:pt x="327752689680" y="171322496063"/>
                </a:moveTo>
                <a:lnTo>
                  <a:pt x="318527494803" y="233043658195"/>
                </a:lnTo>
                <a:lnTo>
                  <a:pt x="270436822609" y="274668501216"/>
                </a:lnTo>
                <a:lnTo>
                  <a:pt x="228278578886" y="317020898006"/>
                </a:lnTo>
                <a:lnTo>
                  <a:pt x="167216236560" y="294316830719"/>
                </a:lnTo>
                <a:lnTo>
                  <a:pt x="115613595452" y="297608819873"/>
                </a:lnTo>
                <a:lnTo>
                  <a:pt x="50617612750" y="286039833312"/>
                </a:lnTo>
                <a:lnTo>
                  <a:pt x="6445277097" y="236374244255"/>
                </a:lnTo>
                <a:lnTo>
                  <a:pt x="33435858960" y="171322496063"/>
                </a:lnTo>
                <a:lnTo>
                  <a:pt x="46614198827" y="120413483212"/>
                </a:lnTo>
                <a:lnTo>
                  <a:pt x="62323395790" y="66555074397"/>
                </a:lnTo>
                <a:lnTo>
                  <a:pt x="115648403903" y="45107602030"/>
                </a:lnTo>
                <a:lnTo>
                  <a:pt x="167216236559" y="0"/>
                </a:lnTo>
                <a:lnTo>
                  <a:pt x="228243770435" y="25695523898"/>
                </a:lnTo>
                <a:lnTo>
                  <a:pt x="258731039569" y="77926406493"/>
                </a:lnTo>
                <a:lnTo>
                  <a:pt x="278358573073" y="123744069272"/>
                </a:lnTo>
                <a:close/>
              </a:path>
            </a:pathLst>
          </a:custGeom>
          <a:solidFill>
            <a:srgbClr val="F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19476720" y="-4092589223"/>
            <a:ext cx="327752186760" cy="317020898006"/>
          </a:xfrm>
          <a:custGeom>
            <a:avLst/>
            <a:gdLst/>
            <a:ahLst/>
            <a:cxnLst/>
            <a:rect l="l" t="t" r="r" b="b"/>
            <a:pathLst>
              <a:path w="327752186760" h="317020898006">
                <a:moveTo>
                  <a:pt x="0" y="4101458903"/>
                </a:moveTo>
                <a:moveTo>
                  <a:pt x="327752186760" y="171322496063"/>
                </a:moveTo>
                <a:lnTo>
                  <a:pt x="318526991883" y="233043658195"/>
                </a:lnTo>
                <a:lnTo>
                  <a:pt x="270436319689" y="274668501216"/>
                </a:lnTo>
                <a:lnTo>
                  <a:pt x="228278075966" y="317020898006"/>
                </a:lnTo>
                <a:lnTo>
                  <a:pt x="167215733640" y="294316830719"/>
                </a:lnTo>
                <a:lnTo>
                  <a:pt x="115613092532" y="297608819873"/>
                </a:lnTo>
                <a:lnTo>
                  <a:pt x="50617109830" y="286039833312"/>
                </a:lnTo>
                <a:lnTo>
                  <a:pt x="6444774177" y="236374244255"/>
                </a:lnTo>
                <a:lnTo>
                  <a:pt x="33435356040" y="171322496063"/>
                </a:lnTo>
                <a:lnTo>
                  <a:pt x="46613695907" y="120413483212"/>
                </a:lnTo>
                <a:lnTo>
                  <a:pt x="62322892870" y="66555074397"/>
                </a:lnTo>
                <a:lnTo>
                  <a:pt x="115647900983" y="45107602030"/>
                </a:lnTo>
                <a:lnTo>
                  <a:pt x="167215733639" y="0"/>
                </a:lnTo>
                <a:lnTo>
                  <a:pt x="228243267515" y="25695523898"/>
                </a:lnTo>
                <a:lnTo>
                  <a:pt x="258730536649" y="77926406493"/>
                </a:lnTo>
                <a:lnTo>
                  <a:pt x="278358070153" y="123744069272"/>
                </a:lnTo>
                <a:close/>
              </a:path>
            </a:pathLst>
          </a:custGeom>
          <a:solidFill>
            <a:srgbClr val="F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0482560" y="-4092589223"/>
            <a:ext cx="327751683840" cy="317020898006"/>
          </a:xfrm>
          <a:custGeom>
            <a:avLst/>
            <a:gdLst/>
            <a:ahLst/>
            <a:cxnLst/>
            <a:rect l="l" t="t" r="r" b="b"/>
            <a:pathLst>
              <a:path w="327751683840" h="317020898006">
                <a:moveTo>
                  <a:pt x="0" y="4101458903"/>
                </a:moveTo>
                <a:moveTo>
                  <a:pt x="327751683840" y="171322496063"/>
                </a:moveTo>
                <a:lnTo>
                  <a:pt x="318526488963" y="233043658195"/>
                </a:lnTo>
                <a:lnTo>
                  <a:pt x="270435816769" y="274668501216"/>
                </a:lnTo>
                <a:lnTo>
                  <a:pt x="228277573046" y="317020898006"/>
                </a:lnTo>
                <a:lnTo>
                  <a:pt x="167215230720" y="294316830719"/>
                </a:lnTo>
                <a:lnTo>
                  <a:pt x="115612589612" y="297608819873"/>
                </a:lnTo>
                <a:lnTo>
                  <a:pt x="50616606910" y="286039833312"/>
                </a:lnTo>
                <a:lnTo>
                  <a:pt x="6444271257" y="236374244255"/>
                </a:lnTo>
                <a:lnTo>
                  <a:pt x="33434853120" y="171322496063"/>
                </a:lnTo>
                <a:lnTo>
                  <a:pt x="46613192987" y="120413483212"/>
                </a:lnTo>
                <a:lnTo>
                  <a:pt x="62322389950" y="66555074397"/>
                </a:lnTo>
                <a:lnTo>
                  <a:pt x="115647398063" y="45107602030"/>
                </a:lnTo>
                <a:lnTo>
                  <a:pt x="167215230719" y="0"/>
                </a:lnTo>
                <a:lnTo>
                  <a:pt x="228242764595" y="25695523898"/>
                </a:lnTo>
                <a:lnTo>
                  <a:pt x="258730033729" y="77926406493"/>
                </a:lnTo>
                <a:lnTo>
                  <a:pt x="278357567233" y="123744069272"/>
                </a:lnTo>
                <a:close/>
              </a:path>
            </a:pathLst>
          </a:custGeom>
          <a:solidFill>
            <a:srgbClr val="F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1488400" y="-4092589223"/>
            <a:ext cx="327751180920" cy="317020898006"/>
          </a:xfrm>
          <a:custGeom>
            <a:avLst/>
            <a:gdLst/>
            <a:ahLst/>
            <a:cxnLst/>
            <a:rect l="l" t="t" r="r" b="b"/>
            <a:pathLst>
              <a:path w="327751180920" h="317020898006">
                <a:moveTo>
                  <a:pt x="0" y="4101458903"/>
                </a:moveTo>
                <a:moveTo>
                  <a:pt x="327751180920" y="171322496063"/>
                </a:moveTo>
                <a:lnTo>
                  <a:pt x="318525986043" y="233043658195"/>
                </a:lnTo>
                <a:lnTo>
                  <a:pt x="270435313849" y="274668501216"/>
                </a:lnTo>
                <a:lnTo>
                  <a:pt x="228277070126" y="317020898006"/>
                </a:lnTo>
                <a:lnTo>
                  <a:pt x="167214727800" y="294316830719"/>
                </a:lnTo>
                <a:lnTo>
                  <a:pt x="115612086692" y="297608819873"/>
                </a:lnTo>
                <a:lnTo>
                  <a:pt x="50616103990" y="286039833312"/>
                </a:lnTo>
                <a:lnTo>
                  <a:pt x="6443768337" y="236374244255"/>
                </a:lnTo>
                <a:lnTo>
                  <a:pt x="33434350200" y="171322496063"/>
                </a:lnTo>
                <a:lnTo>
                  <a:pt x="46612690067" y="120413483212"/>
                </a:lnTo>
                <a:lnTo>
                  <a:pt x="62321887030" y="66555074397"/>
                </a:lnTo>
                <a:lnTo>
                  <a:pt x="115646895143" y="45107602030"/>
                </a:lnTo>
                <a:lnTo>
                  <a:pt x="167214727799" y="0"/>
                </a:lnTo>
                <a:lnTo>
                  <a:pt x="228242261675" y="25695523898"/>
                </a:lnTo>
                <a:lnTo>
                  <a:pt x="258729530809" y="77926406493"/>
                </a:lnTo>
                <a:lnTo>
                  <a:pt x="278357064313" y="123744069272"/>
                </a:lnTo>
                <a:close/>
              </a:path>
            </a:pathLst>
          </a:custGeom>
          <a:solidFill>
            <a:srgbClr val="F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48640" y="3840480"/>
            <a:ext cx="50292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2960" y="411480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 b="0" i="0">
                <a:solidFill>
                  <a:srgbClr val="636E72"/>
                </a:solidFill>
                <a:latin typeface="Ogg Text TRIAL"/>
              </a:defRPr>
            </a:pPr>
            <a:r>
              <a:t>If there are 4 people on your row in this chat,</a:t>
            </a:r>
            <a:br/>
            <a:r>
              <a:t>3 of them are feeling this...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DF8F3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51213715199"/>
            <a:ext cx="4916429791200" cy="3962761225088"/>
          </a:xfrm>
          <a:custGeom>
            <a:avLst/>
            <a:gdLst/>
            <a:ahLst/>
            <a:cxnLst/>
            <a:rect l="l" t="t" r="r" b="b"/>
            <a:pathLst>
              <a:path w="4916429791200" h="3962761225088">
                <a:moveTo>
                  <a:pt x="0" y="51211886399"/>
                </a:moveTo>
                <a:moveTo>
                  <a:pt x="4916429791200" y="2141531200799"/>
                </a:moveTo>
                <a:lnTo>
                  <a:pt x="4778051868054" y="2913045727452"/>
                </a:lnTo>
                <a:lnTo>
                  <a:pt x="4056691785145" y="3433356265220"/>
                </a:lnTo>
                <a:lnTo>
                  <a:pt x="3424318129292" y="3962761225088"/>
                </a:lnTo>
                <a:lnTo>
                  <a:pt x="2508382994400" y="3678960383999"/>
                </a:lnTo>
                <a:lnTo>
                  <a:pt x="1734343377793" y="3720110248435"/>
                </a:lnTo>
                <a:lnTo>
                  <a:pt x="759403637254" y="3575497916420"/>
                </a:lnTo>
                <a:lnTo>
                  <a:pt x="96818602459" y="2954678053200"/>
                </a:lnTo>
                <a:lnTo>
                  <a:pt x="501677330400" y="2141531200799"/>
                </a:lnTo>
                <a:lnTo>
                  <a:pt x="699352428417" y="1505168540168"/>
                </a:lnTo>
                <a:lnTo>
                  <a:pt x="934990382854" y="831938429977"/>
                </a:lnTo>
                <a:lnTo>
                  <a:pt x="1734865504551" y="563845025391"/>
                </a:lnTo>
                <a:lnTo>
                  <a:pt x="2508382994399" y="0"/>
                </a:lnTo>
                <a:lnTo>
                  <a:pt x="3423796002534" y="321194048738"/>
                </a:lnTo>
                <a:lnTo>
                  <a:pt x="3881105039545" y="974080081177"/>
                </a:lnTo>
                <a:lnTo>
                  <a:pt x="4175518042096" y="1546800865916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459200" y="-51210057599"/>
            <a:ext cx="4916420647200" cy="3962761225088"/>
          </a:xfrm>
          <a:custGeom>
            <a:avLst/>
            <a:gdLst/>
            <a:ahLst/>
            <a:cxnLst/>
            <a:rect l="l" t="t" r="r" b="b"/>
            <a:pathLst>
              <a:path w="4916420647200" h="3962761225088">
                <a:moveTo>
                  <a:pt x="0" y="51215543999"/>
                </a:moveTo>
                <a:moveTo>
                  <a:pt x="4916420647200" y="2141531200799"/>
                </a:moveTo>
                <a:lnTo>
                  <a:pt x="4778042724054" y="2913045727452"/>
                </a:lnTo>
                <a:lnTo>
                  <a:pt x="4056682641145" y="3433356265220"/>
                </a:lnTo>
                <a:lnTo>
                  <a:pt x="3424308985292" y="3962761225088"/>
                </a:lnTo>
                <a:lnTo>
                  <a:pt x="2508373850400" y="3678960383999"/>
                </a:lnTo>
                <a:lnTo>
                  <a:pt x="1734334233793" y="3720110248435"/>
                </a:lnTo>
                <a:lnTo>
                  <a:pt x="759394493254" y="3575497916420"/>
                </a:lnTo>
                <a:lnTo>
                  <a:pt x="96809458459" y="2954678053200"/>
                </a:lnTo>
                <a:lnTo>
                  <a:pt x="501668186400" y="2141531200799"/>
                </a:lnTo>
                <a:lnTo>
                  <a:pt x="699343284417" y="1505168540168"/>
                </a:lnTo>
                <a:lnTo>
                  <a:pt x="934981238854" y="831938429977"/>
                </a:lnTo>
                <a:lnTo>
                  <a:pt x="1734856360551" y="563845025391"/>
                </a:lnTo>
                <a:lnTo>
                  <a:pt x="2508373850399" y="0"/>
                </a:lnTo>
                <a:lnTo>
                  <a:pt x="3423786858534" y="321194048738"/>
                </a:lnTo>
                <a:lnTo>
                  <a:pt x="3881095895545" y="974080081177"/>
                </a:lnTo>
                <a:lnTo>
                  <a:pt x="4175508898096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5943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28016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Ogg Text TRIAL Medium"/>
              </a:defRPr>
            </a:pPr>
            <a:r>
              <a:t>VIEWS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18288" cy="2286000"/>
          </a:xfrm>
          <a:prstGeom prst="rect">
            <a:avLst/>
          </a:prstGeom>
          <a:solidFill>
            <a:srgbClr val="9C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4297680"/>
            <a:ext cx="4572000" cy="18288"/>
          </a:xfrm>
          <a:prstGeom prst="rect">
            <a:avLst/>
          </a:prstGeom>
          <a:solidFill>
            <a:srgbClr val="9C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114800"/>
            <a:ext cx="4572000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2004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2800" b="1" i="0">
                <a:solidFill>
                  <a:srgbClr val="E07B6C"/>
                </a:solidFill>
                <a:latin typeface="Ogg TRIAL"/>
              </a:defRPr>
            </a:pPr>
            <a:r>
              <a:t>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0972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defRPr sz="9600" b="1" i="0">
                <a:solidFill>
                  <a:srgbClr val="1B8A8A"/>
                </a:solidFill>
                <a:latin typeface="Ogg TRIAL"/>
              </a:defRPr>
            </a:pPr>
            <a:r>
              <a:t>58+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60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defRPr sz="2200" b="0" i="0">
                <a:solidFill>
                  <a:srgbClr val="2D3436"/>
                </a:solidFill>
                <a:latin typeface="Ogg Text TRIAL"/>
              </a:defRPr>
            </a:pPr>
            <a:r>
              <a:t>sellers said their #1 problem:</a:t>
            </a:r>
            <a:br/>
            <a:r>
              <a:t>"No views anymore"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40000"/>
              </a:lnSpc>
              <a:defRPr sz="1600" b="0" i="0">
                <a:solidFill>
                  <a:srgbClr val="636E72"/>
                </a:solidFill>
                <a:latin typeface="Ogg Text TRIAL"/>
              </a:defRPr>
            </a:pPr>
            <a:r>
              <a:t>"Not fewer views. Zero.</a:t>
            </a:r>
            <a:br/>
            <a:r>
              <a:t>Like a switch was flipped."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315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12000" b="1" i="0">
                <a:solidFill>
                  <a:srgbClr val="2D3436"/>
                </a:solidFill>
                <a:latin typeface="Ogg TRIAL"/>
              </a:defRPr>
            </a:pPr>
            <a:r>
              <a:t>47+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800" b="0" i="0">
                <a:solidFill>
                  <a:srgbClr val="636E72"/>
                </a:solidFill>
                <a:latin typeface="Ogg Text TRIAL"/>
              </a:defRPr>
            </a:pPr>
            <a:r>
              <a:t>said they have "No idea what to design"</a:t>
            </a:r>
          </a:p>
        </p:txBody>
      </p:sp>
      <p:sp>
        <p:nvSpPr>
          <p:cNvPr id="8" name="Freeform 7"/>
          <p:cNvSpPr/>
          <p:nvPr/>
        </p:nvSpPr>
        <p:spPr>
          <a:xfrm>
            <a:off x="2194560" y="-5117805359"/>
            <a:ext cx="409701309120" cy="396276122507"/>
          </a:xfrm>
          <a:custGeom>
            <a:avLst/>
            <a:gdLst/>
            <a:ahLst/>
            <a:cxnLst/>
            <a:rect l="l" t="t" r="r" b="b"/>
            <a:pathLst>
              <a:path w="409701309120" h="396276122507">
                <a:moveTo>
                  <a:pt x="0" y="5124754799"/>
                </a:moveTo>
                <a:moveTo>
                  <a:pt x="409701309120" y="214153120079"/>
                </a:moveTo>
                <a:lnTo>
                  <a:pt x="398169815524" y="291304572744"/>
                </a:lnTo>
                <a:lnTo>
                  <a:pt x="338056475282" y="343335626521"/>
                </a:lnTo>
                <a:lnTo>
                  <a:pt x="285358670627" y="396276122507"/>
                </a:lnTo>
                <a:lnTo>
                  <a:pt x="209030742720" y="367896038399"/>
                </a:lnTo>
                <a:lnTo>
                  <a:pt x="144527441336" y="372011024842"/>
                </a:lnTo>
                <a:lnTo>
                  <a:pt x="63282462957" y="357549791641"/>
                </a:lnTo>
                <a:lnTo>
                  <a:pt x="8067043391" y="295467805319"/>
                </a:lnTo>
                <a:lnTo>
                  <a:pt x="41805270720" y="214153120079"/>
                </a:lnTo>
                <a:lnTo>
                  <a:pt x="58278195554" y="150516854015"/>
                </a:lnTo>
                <a:lnTo>
                  <a:pt x="77914691757" y="83193842996"/>
                </a:lnTo>
                <a:lnTo>
                  <a:pt x="144570951899" y="56384502538"/>
                </a:lnTo>
                <a:lnTo>
                  <a:pt x="209030742719" y="0"/>
                </a:lnTo>
                <a:lnTo>
                  <a:pt x="285315160064" y="32119404872"/>
                </a:lnTo>
                <a:lnTo>
                  <a:pt x="323424246482" y="97408008116"/>
                </a:lnTo>
                <a:lnTo>
                  <a:pt x="347958663361" y="154680086590"/>
                </a:lnTo>
                <a:close/>
              </a:path>
            </a:pathLst>
          </a:custGeom>
          <a:solidFill>
            <a:srgbClr val="FDD5CC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93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0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10" name="Freeform 9"/>
          <p:cNvSpPr/>
          <p:nvPr/>
        </p:nvSpPr>
        <p:spPr>
          <a:xfrm>
            <a:off x="5120640" y="-5117348159"/>
            <a:ext cx="409699846080" cy="396276122507"/>
          </a:xfrm>
          <a:custGeom>
            <a:avLst/>
            <a:gdLst/>
            <a:ahLst/>
            <a:cxnLst/>
            <a:rect l="l" t="t" r="r" b="b"/>
            <a:pathLst>
              <a:path w="409699846080" h="396276122507">
                <a:moveTo>
                  <a:pt x="0" y="5125211999"/>
                </a:moveTo>
                <a:moveTo>
                  <a:pt x="409699846080" y="214153120079"/>
                </a:moveTo>
                <a:lnTo>
                  <a:pt x="398168352484" y="291304572744"/>
                </a:lnTo>
                <a:lnTo>
                  <a:pt x="338055012242" y="343335626521"/>
                </a:lnTo>
                <a:lnTo>
                  <a:pt x="285357207587" y="396276122507"/>
                </a:lnTo>
                <a:lnTo>
                  <a:pt x="209029279680" y="367896038399"/>
                </a:lnTo>
                <a:lnTo>
                  <a:pt x="144525978296" y="372011024842"/>
                </a:lnTo>
                <a:lnTo>
                  <a:pt x="63280999917" y="357549791641"/>
                </a:lnTo>
                <a:lnTo>
                  <a:pt x="8065580351" y="295467805319"/>
                </a:lnTo>
                <a:lnTo>
                  <a:pt x="41803807680" y="214153120079"/>
                </a:lnTo>
                <a:lnTo>
                  <a:pt x="58276732514" y="150516854015"/>
                </a:lnTo>
                <a:lnTo>
                  <a:pt x="77913228717" y="83193842996"/>
                </a:lnTo>
                <a:lnTo>
                  <a:pt x="144569488859" y="56384502538"/>
                </a:lnTo>
                <a:lnTo>
                  <a:pt x="209029279679" y="0"/>
                </a:lnTo>
                <a:lnTo>
                  <a:pt x="285313697024" y="32119404872"/>
                </a:lnTo>
                <a:lnTo>
                  <a:pt x="323422783442" y="97408008116"/>
                </a:lnTo>
                <a:lnTo>
                  <a:pt x="347957200321" y="154680086590"/>
                </a:lnTo>
                <a:close/>
              </a:path>
            </a:pathLst>
          </a:custGeom>
          <a:solidFill>
            <a:srgbClr val="9CA3A8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39" y="395020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0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12" name="Freeform 11"/>
          <p:cNvSpPr/>
          <p:nvPr/>
        </p:nvSpPr>
        <p:spPr>
          <a:xfrm>
            <a:off x="7680960" y="-5117988239"/>
            <a:ext cx="409698565920" cy="396276122507"/>
          </a:xfrm>
          <a:custGeom>
            <a:avLst/>
            <a:gdLst/>
            <a:ahLst/>
            <a:cxnLst/>
            <a:rect l="l" t="t" r="r" b="b"/>
            <a:pathLst>
              <a:path w="409698565920" h="396276122507">
                <a:moveTo>
                  <a:pt x="0" y="5124571919"/>
                </a:moveTo>
                <a:moveTo>
                  <a:pt x="409698565920" y="214153120079"/>
                </a:moveTo>
                <a:lnTo>
                  <a:pt x="398167072324" y="291304572744"/>
                </a:lnTo>
                <a:lnTo>
                  <a:pt x="338053732082" y="343335626521"/>
                </a:lnTo>
                <a:lnTo>
                  <a:pt x="285355927427" y="396276122507"/>
                </a:lnTo>
                <a:lnTo>
                  <a:pt x="209027999520" y="367896038399"/>
                </a:lnTo>
                <a:lnTo>
                  <a:pt x="144524698136" y="372011024842"/>
                </a:lnTo>
                <a:lnTo>
                  <a:pt x="63279719757" y="357549791641"/>
                </a:lnTo>
                <a:lnTo>
                  <a:pt x="8064300191" y="295467805319"/>
                </a:lnTo>
                <a:lnTo>
                  <a:pt x="41802527520" y="214153120079"/>
                </a:lnTo>
                <a:lnTo>
                  <a:pt x="58275452354" y="150516854015"/>
                </a:lnTo>
                <a:lnTo>
                  <a:pt x="77911948557" y="83193842996"/>
                </a:lnTo>
                <a:lnTo>
                  <a:pt x="144568208699" y="56384502538"/>
                </a:lnTo>
                <a:lnTo>
                  <a:pt x="209027999519" y="0"/>
                </a:lnTo>
                <a:lnTo>
                  <a:pt x="285312416864" y="32119404872"/>
                </a:lnTo>
                <a:lnTo>
                  <a:pt x="323421503282" y="97408008116"/>
                </a:lnTo>
                <a:lnTo>
                  <a:pt x="347955920161" y="154680086590"/>
                </a:lnTo>
                <a:close/>
              </a:path>
            </a:pathLst>
          </a:custGeom>
          <a:solidFill>
            <a:srgbClr val="FDD5CC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31012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7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14" name="Freeform 13"/>
          <p:cNvSpPr/>
          <p:nvPr/>
        </p:nvSpPr>
        <p:spPr>
          <a:xfrm>
            <a:off x="10607040" y="-5117165279"/>
            <a:ext cx="409697102880" cy="396276122507"/>
          </a:xfrm>
          <a:custGeom>
            <a:avLst/>
            <a:gdLst/>
            <a:ahLst/>
            <a:cxnLst/>
            <a:rect l="l" t="t" r="r" b="b"/>
            <a:pathLst>
              <a:path w="409697102880" h="396276122507">
                <a:moveTo>
                  <a:pt x="0" y="5125394879"/>
                </a:moveTo>
                <a:moveTo>
                  <a:pt x="409697102880" y="214153120079"/>
                </a:moveTo>
                <a:lnTo>
                  <a:pt x="398165609284" y="291304572744"/>
                </a:lnTo>
                <a:lnTo>
                  <a:pt x="338052269042" y="343335626521"/>
                </a:lnTo>
                <a:lnTo>
                  <a:pt x="285354464387" y="396276122507"/>
                </a:lnTo>
                <a:lnTo>
                  <a:pt x="209026536480" y="367896038399"/>
                </a:lnTo>
                <a:lnTo>
                  <a:pt x="144523235096" y="372011024842"/>
                </a:lnTo>
                <a:lnTo>
                  <a:pt x="63278256717" y="357549791641"/>
                </a:lnTo>
                <a:lnTo>
                  <a:pt x="8062837151" y="295467805319"/>
                </a:lnTo>
                <a:lnTo>
                  <a:pt x="41801064480" y="214153120079"/>
                </a:lnTo>
                <a:lnTo>
                  <a:pt x="58273989314" y="150516854015"/>
                </a:lnTo>
                <a:lnTo>
                  <a:pt x="77910485517" y="83193842996"/>
                </a:lnTo>
                <a:lnTo>
                  <a:pt x="144566745659" y="56384502538"/>
                </a:lnTo>
                <a:lnTo>
                  <a:pt x="209026536479" y="0"/>
                </a:lnTo>
                <a:lnTo>
                  <a:pt x="285310953824" y="32119404872"/>
                </a:lnTo>
                <a:lnTo>
                  <a:pt x="323420040242" y="97408008116"/>
                </a:lnTo>
                <a:lnTo>
                  <a:pt x="347954457121" y="154680086590"/>
                </a:lnTo>
                <a:close/>
              </a:path>
            </a:pathLst>
          </a:custGeom>
          <a:solidFill>
            <a:srgbClr val="9CA3A8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413308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4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16" name="Freeform 15"/>
          <p:cNvSpPr/>
          <p:nvPr/>
        </p:nvSpPr>
        <p:spPr>
          <a:xfrm>
            <a:off x="13167360" y="-5117713919"/>
            <a:ext cx="409695822720" cy="396276122507"/>
          </a:xfrm>
          <a:custGeom>
            <a:avLst/>
            <a:gdLst/>
            <a:ahLst/>
            <a:cxnLst/>
            <a:rect l="l" t="t" r="r" b="b"/>
            <a:pathLst>
              <a:path w="409695822720" h="396276122507">
                <a:moveTo>
                  <a:pt x="0" y="5124846239"/>
                </a:moveTo>
                <a:moveTo>
                  <a:pt x="409695822720" y="214153120079"/>
                </a:moveTo>
                <a:lnTo>
                  <a:pt x="398164329124" y="291304572744"/>
                </a:lnTo>
                <a:lnTo>
                  <a:pt x="338050988882" y="343335626521"/>
                </a:lnTo>
                <a:lnTo>
                  <a:pt x="285353184227" y="396276122507"/>
                </a:lnTo>
                <a:lnTo>
                  <a:pt x="209025256320" y="367896038399"/>
                </a:lnTo>
                <a:lnTo>
                  <a:pt x="144521954936" y="372011024842"/>
                </a:lnTo>
                <a:lnTo>
                  <a:pt x="63276976557" y="357549791641"/>
                </a:lnTo>
                <a:lnTo>
                  <a:pt x="8061556991" y="295467805319"/>
                </a:lnTo>
                <a:lnTo>
                  <a:pt x="41799784320" y="214153120079"/>
                </a:lnTo>
                <a:lnTo>
                  <a:pt x="58272709154" y="150516854015"/>
                </a:lnTo>
                <a:lnTo>
                  <a:pt x="77909205357" y="83193842996"/>
                </a:lnTo>
                <a:lnTo>
                  <a:pt x="144565465499" y="56384502538"/>
                </a:lnTo>
                <a:lnTo>
                  <a:pt x="209025256319" y="0"/>
                </a:lnTo>
                <a:lnTo>
                  <a:pt x="285309673664" y="32119404872"/>
                </a:lnTo>
                <a:lnTo>
                  <a:pt x="323418760082" y="97408008116"/>
                </a:lnTo>
                <a:lnTo>
                  <a:pt x="347953176961" y="154680086590"/>
                </a:lnTo>
                <a:close/>
              </a:path>
            </a:pathLst>
          </a:custGeom>
          <a:solidFill>
            <a:srgbClr val="FDD5C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35844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7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18" name="Freeform 17"/>
          <p:cNvSpPr/>
          <p:nvPr/>
        </p:nvSpPr>
        <p:spPr>
          <a:xfrm>
            <a:off x="16093440" y="-5117439599"/>
            <a:ext cx="409694359680" cy="396276122507"/>
          </a:xfrm>
          <a:custGeom>
            <a:avLst/>
            <a:gdLst/>
            <a:ahLst/>
            <a:cxnLst/>
            <a:rect l="l" t="t" r="r" b="b"/>
            <a:pathLst>
              <a:path w="409694359680" h="396276122507">
                <a:moveTo>
                  <a:pt x="0" y="5125120559"/>
                </a:moveTo>
                <a:moveTo>
                  <a:pt x="409694359680" y="214153120079"/>
                </a:moveTo>
                <a:lnTo>
                  <a:pt x="398162866084" y="291304572744"/>
                </a:lnTo>
                <a:lnTo>
                  <a:pt x="338049525842" y="343335626521"/>
                </a:lnTo>
                <a:lnTo>
                  <a:pt x="285351721187" y="396276122507"/>
                </a:lnTo>
                <a:lnTo>
                  <a:pt x="209023793280" y="367896038399"/>
                </a:lnTo>
                <a:lnTo>
                  <a:pt x="144520491896" y="372011024842"/>
                </a:lnTo>
                <a:lnTo>
                  <a:pt x="63275513517" y="357549791641"/>
                </a:lnTo>
                <a:lnTo>
                  <a:pt x="8060093951" y="295467805319"/>
                </a:lnTo>
                <a:lnTo>
                  <a:pt x="41798321280" y="214153120079"/>
                </a:lnTo>
                <a:lnTo>
                  <a:pt x="58271246114" y="150516854015"/>
                </a:lnTo>
                <a:lnTo>
                  <a:pt x="77907742317" y="83193842996"/>
                </a:lnTo>
                <a:lnTo>
                  <a:pt x="144564002459" y="56384502538"/>
                </a:lnTo>
                <a:lnTo>
                  <a:pt x="209023793279" y="0"/>
                </a:lnTo>
                <a:lnTo>
                  <a:pt x="285308210624" y="32119404872"/>
                </a:lnTo>
                <a:lnTo>
                  <a:pt x="323417297042" y="97408008116"/>
                </a:lnTo>
                <a:lnTo>
                  <a:pt x="347951713921" y="154680086590"/>
                </a:lnTo>
                <a:close/>
              </a:path>
            </a:pathLst>
          </a:custGeom>
          <a:solidFill>
            <a:srgbClr val="9CA3A8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38587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8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20" name="Freeform 19"/>
          <p:cNvSpPr/>
          <p:nvPr/>
        </p:nvSpPr>
        <p:spPr>
          <a:xfrm>
            <a:off x="18836640" y="-5117896799"/>
            <a:ext cx="409692988080" cy="396276122507"/>
          </a:xfrm>
          <a:custGeom>
            <a:avLst/>
            <a:gdLst/>
            <a:ahLst/>
            <a:cxnLst/>
            <a:rect l="l" t="t" r="r" b="b"/>
            <a:pathLst>
              <a:path w="409692988080" h="396276122507">
                <a:moveTo>
                  <a:pt x="0" y="5124663359"/>
                </a:moveTo>
                <a:moveTo>
                  <a:pt x="409692988080" y="214153120079"/>
                </a:moveTo>
                <a:lnTo>
                  <a:pt x="398161494484" y="291304572744"/>
                </a:lnTo>
                <a:lnTo>
                  <a:pt x="338048154242" y="343335626521"/>
                </a:lnTo>
                <a:lnTo>
                  <a:pt x="285350349587" y="396276122507"/>
                </a:lnTo>
                <a:lnTo>
                  <a:pt x="209022421680" y="367896038399"/>
                </a:lnTo>
                <a:lnTo>
                  <a:pt x="144519120296" y="372011024842"/>
                </a:lnTo>
                <a:lnTo>
                  <a:pt x="63274141917" y="357549791641"/>
                </a:lnTo>
                <a:lnTo>
                  <a:pt x="8058722351" y="295467805319"/>
                </a:lnTo>
                <a:lnTo>
                  <a:pt x="41796949680" y="214153120079"/>
                </a:lnTo>
                <a:lnTo>
                  <a:pt x="58269874514" y="150516854015"/>
                </a:lnTo>
                <a:lnTo>
                  <a:pt x="77906370717" y="83193842996"/>
                </a:lnTo>
                <a:lnTo>
                  <a:pt x="144562630859" y="56384502538"/>
                </a:lnTo>
                <a:lnTo>
                  <a:pt x="209022421679" y="0"/>
                </a:lnTo>
                <a:lnTo>
                  <a:pt x="285306839024" y="32119404872"/>
                </a:lnTo>
                <a:lnTo>
                  <a:pt x="323415925442" y="97408008116"/>
                </a:lnTo>
                <a:lnTo>
                  <a:pt x="347950342321" y="154680086590"/>
                </a:lnTo>
                <a:close/>
              </a:path>
            </a:pathLst>
          </a:custGeom>
          <a:solidFill>
            <a:srgbClr val="FDD5CC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40156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1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22" name="Freeform 21"/>
          <p:cNvSpPr/>
          <p:nvPr/>
        </p:nvSpPr>
        <p:spPr>
          <a:xfrm>
            <a:off x="3291840" y="-5116708079"/>
            <a:ext cx="409700760480" cy="396276122507"/>
          </a:xfrm>
          <a:custGeom>
            <a:avLst/>
            <a:gdLst/>
            <a:ahLst/>
            <a:cxnLst/>
            <a:rect l="l" t="t" r="r" b="b"/>
            <a:pathLst>
              <a:path w="409700760480" h="396276122507">
                <a:moveTo>
                  <a:pt x="0" y="5125852079"/>
                </a:moveTo>
                <a:moveTo>
                  <a:pt x="409700760480" y="214153120079"/>
                </a:moveTo>
                <a:lnTo>
                  <a:pt x="398169266884" y="291304572744"/>
                </a:lnTo>
                <a:lnTo>
                  <a:pt x="338055926642" y="343335626521"/>
                </a:lnTo>
                <a:lnTo>
                  <a:pt x="285358121987" y="396276122507"/>
                </a:lnTo>
                <a:lnTo>
                  <a:pt x="209030194080" y="367896038399"/>
                </a:lnTo>
                <a:lnTo>
                  <a:pt x="144526892696" y="372011024842"/>
                </a:lnTo>
                <a:lnTo>
                  <a:pt x="63281914317" y="357549791641"/>
                </a:lnTo>
                <a:lnTo>
                  <a:pt x="8066494751" y="295467805319"/>
                </a:lnTo>
                <a:lnTo>
                  <a:pt x="41804722080" y="214153120079"/>
                </a:lnTo>
                <a:lnTo>
                  <a:pt x="58277646914" y="150516854015"/>
                </a:lnTo>
                <a:lnTo>
                  <a:pt x="77914143117" y="83193842996"/>
                </a:lnTo>
                <a:lnTo>
                  <a:pt x="144570403259" y="56384502538"/>
                </a:lnTo>
                <a:lnTo>
                  <a:pt x="209030194079" y="0"/>
                </a:lnTo>
                <a:lnTo>
                  <a:pt x="285314611424" y="32119404872"/>
                </a:lnTo>
                <a:lnTo>
                  <a:pt x="323423697842" y="97408008116"/>
                </a:lnTo>
                <a:lnTo>
                  <a:pt x="347958114721" y="154680086590"/>
                </a:lnTo>
                <a:close/>
              </a:path>
            </a:pathLst>
          </a:custGeom>
          <a:solidFill>
            <a:srgbClr val="9CA3A8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5902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2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24" name="Freeform 23"/>
          <p:cNvSpPr/>
          <p:nvPr/>
        </p:nvSpPr>
        <p:spPr>
          <a:xfrm>
            <a:off x="6400800" y="-5116433759"/>
            <a:ext cx="409699206000" cy="396276122507"/>
          </a:xfrm>
          <a:custGeom>
            <a:avLst/>
            <a:gdLst/>
            <a:ahLst/>
            <a:cxnLst/>
            <a:rect l="l" t="t" r="r" b="b"/>
            <a:pathLst>
              <a:path w="409699206000" h="396276122507">
                <a:moveTo>
                  <a:pt x="0" y="5126126399"/>
                </a:moveTo>
                <a:moveTo>
                  <a:pt x="409699206000" y="214153120079"/>
                </a:moveTo>
                <a:lnTo>
                  <a:pt x="398167712404" y="291304572744"/>
                </a:lnTo>
                <a:lnTo>
                  <a:pt x="338054372162" y="343335626521"/>
                </a:lnTo>
                <a:lnTo>
                  <a:pt x="285356567507" y="396276122507"/>
                </a:lnTo>
                <a:lnTo>
                  <a:pt x="209028639600" y="367896038399"/>
                </a:lnTo>
                <a:lnTo>
                  <a:pt x="144525338216" y="372011024842"/>
                </a:lnTo>
                <a:lnTo>
                  <a:pt x="63280359837" y="357549791641"/>
                </a:lnTo>
                <a:lnTo>
                  <a:pt x="8064940271" y="295467805319"/>
                </a:lnTo>
                <a:lnTo>
                  <a:pt x="41803167600" y="214153120079"/>
                </a:lnTo>
                <a:lnTo>
                  <a:pt x="58276092434" y="150516854015"/>
                </a:lnTo>
                <a:lnTo>
                  <a:pt x="77912588637" y="83193842996"/>
                </a:lnTo>
                <a:lnTo>
                  <a:pt x="144568848779" y="56384502538"/>
                </a:lnTo>
                <a:lnTo>
                  <a:pt x="209028639599" y="0"/>
                </a:lnTo>
                <a:lnTo>
                  <a:pt x="285313056944" y="32119404872"/>
                </a:lnTo>
                <a:lnTo>
                  <a:pt x="323422143362" y="97408008116"/>
                </a:lnTo>
                <a:lnTo>
                  <a:pt x="347956560241" y="154680086590"/>
                </a:lnTo>
                <a:close/>
              </a:path>
            </a:pathLst>
          </a:custGeom>
          <a:solidFill>
            <a:srgbClr val="FDD5CC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486460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7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26" name="Freeform 25"/>
          <p:cNvSpPr/>
          <p:nvPr/>
        </p:nvSpPr>
        <p:spPr>
          <a:xfrm>
            <a:off x="10058400" y="-5116616639"/>
            <a:ext cx="409697377200" cy="396276122507"/>
          </a:xfrm>
          <a:custGeom>
            <a:avLst/>
            <a:gdLst/>
            <a:ahLst/>
            <a:cxnLst/>
            <a:rect l="l" t="t" r="r" b="b"/>
            <a:pathLst>
              <a:path w="409697377200" h="396276122507">
                <a:moveTo>
                  <a:pt x="0" y="5125943519"/>
                </a:moveTo>
                <a:moveTo>
                  <a:pt x="409697377200" y="214153120079"/>
                </a:moveTo>
                <a:lnTo>
                  <a:pt x="398165883604" y="291304572744"/>
                </a:lnTo>
                <a:lnTo>
                  <a:pt x="338052543362" y="343335626521"/>
                </a:lnTo>
                <a:lnTo>
                  <a:pt x="285354738707" y="396276122507"/>
                </a:lnTo>
                <a:lnTo>
                  <a:pt x="209026810800" y="367896038399"/>
                </a:lnTo>
                <a:lnTo>
                  <a:pt x="144523509416" y="372011024842"/>
                </a:lnTo>
                <a:lnTo>
                  <a:pt x="63278531037" y="357549791641"/>
                </a:lnTo>
                <a:lnTo>
                  <a:pt x="8063111471" y="295467805319"/>
                </a:lnTo>
                <a:lnTo>
                  <a:pt x="41801338800" y="214153120079"/>
                </a:lnTo>
                <a:lnTo>
                  <a:pt x="58274263634" y="150516854015"/>
                </a:lnTo>
                <a:lnTo>
                  <a:pt x="77910759837" y="83193842996"/>
                </a:lnTo>
                <a:lnTo>
                  <a:pt x="144567019979" y="56384502538"/>
                </a:lnTo>
                <a:lnTo>
                  <a:pt x="209026810799" y="0"/>
                </a:lnTo>
                <a:lnTo>
                  <a:pt x="285311228144" y="32119404872"/>
                </a:lnTo>
                <a:lnTo>
                  <a:pt x="323420314562" y="97408008116"/>
                </a:lnTo>
                <a:lnTo>
                  <a:pt x="347954731441" y="154680086590"/>
                </a:lnTo>
                <a:close/>
              </a:path>
            </a:pathLst>
          </a:custGeom>
          <a:solidFill>
            <a:srgbClr val="9CA3A8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68172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9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28" name="Freeform 27"/>
          <p:cNvSpPr/>
          <p:nvPr/>
        </p:nvSpPr>
        <p:spPr>
          <a:xfrm>
            <a:off x="13716000" y="-5116342319"/>
            <a:ext cx="409695548400" cy="396276122507"/>
          </a:xfrm>
          <a:custGeom>
            <a:avLst/>
            <a:gdLst/>
            <a:ahLst/>
            <a:cxnLst/>
            <a:rect l="l" t="t" r="r" b="b"/>
            <a:pathLst>
              <a:path w="409695548400" h="396276122507">
                <a:moveTo>
                  <a:pt x="0" y="5126217839"/>
                </a:moveTo>
                <a:moveTo>
                  <a:pt x="409695548400" y="214153120079"/>
                </a:moveTo>
                <a:lnTo>
                  <a:pt x="398164054804" y="291304572744"/>
                </a:lnTo>
                <a:lnTo>
                  <a:pt x="338050714562" y="343335626521"/>
                </a:lnTo>
                <a:lnTo>
                  <a:pt x="285352909907" y="396276122507"/>
                </a:lnTo>
                <a:lnTo>
                  <a:pt x="209024982000" y="367896038399"/>
                </a:lnTo>
                <a:lnTo>
                  <a:pt x="144521680616" y="372011024842"/>
                </a:lnTo>
                <a:lnTo>
                  <a:pt x="63276702237" y="357549791641"/>
                </a:lnTo>
                <a:lnTo>
                  <a:pt x="8061282671" y="295467805319"/>
                </a:lnTo>
                <a:lnTo>
                  <a:pt x="41799510000" y="214153120079"/>
                </a:lnTo>
                <a:lnTo>
                  <a:pt x="58272434834" y="150516854015"/>
                </a:lnTo>
                <a:lnTo>
                  <a:pt x="77908931037" y="83193842996"/>
                </a:lnTo>
                <a:lnTo>
                  <a:pt x="144565191179" y="56384502538"/>
                </a:lnTo>
                <a:lnTo>
                  <a:pt x="209024981999" y="0"/>
                </a:lnTo>
                <a:lnTo>
                  <a:pt x="285309399344" y="32119404872"/>
                </a:lnTo>
                <a:lnTo>
                  <a:pt x="323418485762" y="97408008116"/>
                </a:lnTo>
                <a:lnTo>
                  <a:pt x="347952902641" y="154680086590"/>
                </a:lnTo>
                <a:close/>
              </a:path>
            </a:pathLst>
          </a:custGeom>
          <a:solidFill>
            <a:srgbClr val="FDD5CC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95604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7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30" name="Freeform 29"/>
          <p:cNvSpPr/>
          <p:nvPr/>
        </p:nvSpPr>
        <p:spPr>
          <a:xfrm>
            <a:off x="17373600" y="-5116708079"/>
            <a:ext cx="409693719600" cy="396276122507"/>
          </a:xfrm>
          <a:custGeom>
            <a:avLst/>
            <a:gdLst/>
            <a:ahLst/>
            <a:cxnLst/>
            <a:rect l="l" t="t" r="r" b="b"/>
            <a:pathLst>
              <a:path w="409693719600" h="396276122507">
                <a:moveTo>
                  <a:pt x="0" y="5125852079"/>
                </a:moveTo>
                <a:moveTo>
                  <a:pt x="409693719600" y="214153120079"/>
                </a:moveTo>
                <a:lnTo>
                  <a:pt x="398162226004" y="291304572744"/>
                </a:lnTo>
                <a:lnTo>
                  <a:pt x="338048885762" y="343335626521"/>
                </a:lnTo>
                <a:lnTo>
                  <a:pt x="285351081107" y="396276122507"/>
                </a:lnTo>
                <a:lnTo>
                  <a:pt x="209023153200" y="367896038399"/>
                </a:lnTo>
                <a:lnTo>
                  <a:pt x="144519851816" y="372011024842"/>
                </a:lnTo>
                <a:lnTo>
                  <a:pt x="63274873437" y="357549791641"/>
                </a:lnTo>
                <a:lnTo>
                  <a:pt x="8059453871" y="295467805319"/>
                </a:lnTo>
                <a:lnTo>
                  <a:pt x="41797681200" y="214153120079"/>
                </a:lnTo>
                <a:lnTo>
                  <a:pt x="58270606034" y="150516854015"/>
                </a:lnTo>
                <a:lnTo>
                  <a:pt x="77907102237" y="83193842996"/>
                </a:lnTo>
                <a:lnTo>
                  <a:pt x="144563362379" y="56384502538"/>
                </a:lnTo>
                <a:lnTo>
                  <a:pt x="209023153199" y="0"/>
                </a:lnTo>
                <a:lnTo>
                  <a:pt x="285307570544" y="32119404872"/>
                </a:lnTo>
                <a:lnTo>
                  <a:pt x="323416656962" y="97408008116"/>
                </a:lnTo>
                <a:lnTo>
                  <a:pt x="347951073841" y="154680086590"/>
                </a:lnTo>
                <a:close/>
              </a:path>
            </a:pathLst>
          </a:custGeom>
          <a:solidFill>
            <a:srgbClr val="9CA3A8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32520" y="459028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0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32" name="Freeform 31"/>
          <p:cNvSpPr/>
          <p:nvPr/>
        </p:nvSpPr>
        <p:spPr>
          <a:xfrm>
            <a:off x="20116800" y="-5116890959"/>
            <a:ext cx="409692348000" cy="396276122507"/>
          </a:xfrm>
          <a:custGeom>
            <a:avLst/>
            <a:gdLst/>
            <a:ahLst/>
            <a:cxnLst/>
            <a:rect l="l" t="t" r="r" b="b"/>
            <a:pathLst>
              <a:path w="409692348000" h="396276122507">
                <a:moveTo>
                  <a:pt x="0" y="5125669199"/>
                </a:moveTo>
                <a:moveTo>
                  <a:pt x="409692348000" y="214153120079"/>
                </a:moveTo>
                <a:lnTo>
                  <a:pt x="398160854404" y="291304572744"/>
                </a:lnTo>
                <a:lnTo>
                  <a:pt x="338047514162" y="343335626521"/>
                </a:lnTo>
                <a:lnTo>
                  <a:pt x="285349709507" y="396276122507"/>
                </a:lnTo>
                <a:lnTo>
                  <a:pt x="209021781600" y="367896038399"/>
                </a:lnTo>
                <a:lnTo>
                  <a:pt x="144518480216" y="372011024842"/>
                </a:lnTo>
                <a:lnTo>
                  <a:pt x="63273501837" y="357549791641"/>
                </a:lnTo>
                <a:lnTo>
                  <a:pt x="8058082271" y="295467805319"/>
                </a:lnTo>
                <a:lnTo>
                  <a:pt x="41796309600" y="214153120079"/>
                </a:lnTo>
                <a:lnTo>
                  <a:pt x="58269234434" y="150516854015"/>
                </a:lnTo>
                <a:lnTo>
                  <a:pt x="77905730637" y="83193842996"/>
                </a:lnTo>
                <a:lnTo>
                  <a:pt x="144561990779" y="56384502538"/>
                </a:lnTo>
                <a:lnTo>
                  <a:pt x="209021781599" y="0"/>
                </a:lnTo>
                <a:lnTo>
                  <a:pt x="285306198944" y="32119404872"/>
                </a:lnTo>
                <a:lnTo>
                  <a:pt x="323415285362" y="97408008116"/>
                </a:lnTo>
                <a:lnTo>
                  <a:pt x="347949702241" y="154680086590"/>
                </a:lnTo>
                <a:close/>
              </a:path>
            </a:pathLst>
          </a:custGeom>
          <a:solidFill>
            <a:srgbClr val="FDD5CC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4407407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3300" b="0" i="0">
                <a:solidFill>
                  <a:srgbClr val="E07B6C"/>
                </a:solidFill>
                <a:latin typeface="Ogg TRIAL"/>
              </a:defRPr>
            </a:pPr>
            <a:r>
              <a:t>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5486400"/>
            <a:ext cx="8534095" cy="822960"/>
          </a:xfrm>
          <a:prstGeom prst="roundRect">
            <a:avLst>
              <a:gd name="adj" fmla="val 8000"/>
            </a:avLst>
          </a:prstGeom>
          <a:solidFill>
            <a:srgbClr val="1B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0" y="5623560"/>
            <a:ext cx="7985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0" i="0">
                <a:solidFill>
                  <a:srgbClr val="FFFFFF"/>
                </a:solidFill>
                <a:latin typeface="Ogg Text TRIAL"/>
              </a:defRPr>
            </a:pPr>
            <a:r>
              <a:t>They're not lazy. They're paralyzed because the rules changed.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EE5E0"/>
              </a:gs>
              <a:gs pos="100000">
                <a:srgbClr val="FDF8F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30723108479"/>
            <a:ext cx="3277620165600" cy="2377656735052"/>
          </a:xfrm>
          <a:custGeom>
            <a:avLst/>
            <a:gdLst/>
            <a:ahLst/>
            <a:cxnLst/>
            <a:rect l="l" t="t" r="r" b="b"/>
            <a:pathLst>
              <a:path w="3277620165600" h="2377656735052">
                <a:moveTo>
                  <a:pt x="0" y="30732252479"/>
                </a:moveTo>
                <a:moveTo>
                  <a:pt x="3277620165600" y="1284918720479"/>
                </a:moveTo>
                <a:lnTo>
                  <a:pt x="3185368216836" y="1747827436471"/>
                </a:lnTo>
                <a:lnTo>
                  <a:pt x="2704461494897" y="2060013759131"/>
                </a:lnTo>
                <a:lnTo>
                  <a:pt x="2282879057661" y="2377656735052"/>
                </a:lnTo>
                <a:lnTo>
                  <a:pt x="1672255634400" y="2207376230398"/>
                </a:lnTo>
                <a:lnTo>
                  <a:pt x="1156229223329" y="2232066149061"/>
                </a:lnTo>
                <a:lnTo>
                  <a:pt x="506269396302" y="2145298749851"/>
                </a:lnTo>
                <a:lnTo>
                  <a:pt x="64546039773" y="1772806831919"/>
                </a:lnTo>
                <a:lnTo>
                  <a:pt x="334451858400" y="1284918720479"/>
                </a:lnTo>
                <a:lnTo>
                  <a:pt x="466235257078" y="903101124100"/>
                </a:lnTo>
                <a:lnTo>
                  <a:pt x="623327226702" y="499163057986"/>
                </a:lnTo>
                <a:lnTo>
                  <a:pt x="1156577307834" y="338307015234"/>
                </a:lnTo>
                <a:lnTo>
                  <a:pt x="1672255634399" y="0"/>
                </a:lnTo>
                <a:lnTo>
                  <a:pt x="2282530973156" y="192716429242"/>
                </a:lnTo>
                <a:lnTo>
                  <a:pt x="2587403664497" y="584448048706"/>
                </a:lnTo>
                <a:lnTo>
                  <a:pt x="2783678999531" y="928080519549"/>
                </a:lnTo>
                <a:close/>
              </a:path>
            </a:pathLst>
          </a:custGeom>
          <a:solidFill>
            <a:srgbClr val="FDD5C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288000" y="-40971155039"/>
            <a:ext cx="3277610107200" cy="3170208980070"/>
          </a:xfrm>
          <a:custGeom>
            <a:avLst/>
            <a:gdLst/>
            <a:ahLst/>
            <a:cxnLst/>
            <a:rect l="l" t="t" r="r" b="b"/>
            <a:pathLst>
              <a:path w="3277610107200" h="3170208980070">
                <a:moveTo>
                  <a:pt x="0" y="40969326239"/>
                </a:moveTo>
                <a:moveTo>
                  <a:pt x="3277610107200" y="1713224960639"/>
                </a:moveTo>
                <a:lnTo>
                  <a:pt x="3185358158436" y="2330436581962"/>
                </a:lnTo>
                <a:lnTo>
                  <a:pt x="2704451436497" y="2746685012176"/>
                </a:lnTo>
                <a:lnTo>
                  <a:pt x="2282868999261" y="3170208980070"/>
                </a:lnTo>
                <a:lnTo>
                  <a:pt x="1672245576000" y="2943168307199"/>
                </a:lnTo>
                <a:lnTo>
                  <a:pt x="1156219164929" y="2976088198748"/>
                </a:lnTo>
                <a:lnTo>
                  <a:pt x="506259337902" y="2860398333136"/>
                </a:lnTo>
                <a:lnTo>
                  <a:pt x="64535981373" y="2363742442560"/>
                </a:lnTo>
                <a:lnTo>
                  <a:pt x="334441800000" y="1713224960639"/>
                </a:lnTo>
                <a:lnTo>
                  <a:pt x="466225198678" y="1204134832134"/>
                </a:lnTo>
                <a:lnTo>
                  <a:pt x="623317168302" y="665550743981"/>
                </a:lnTo>
                <a:lnTo>
                  <a:pt x="1156567249434" y="451076020312"/>
                </a:lnTo>
                <a:lnTo>
                  <a:pt x="1672245575999" y="0"/>
                </a:lnTo>
                <a:lnTo>
                  <a:pt x="2282520914756" y="256955238990"/>
                </a:lnTo>
                <a:lnTo>
                  <a:pt x="2587393606097" y="779264064941"/>
                </a:lnTo>
                <a:lnTo>
                  <a:pt x="2783668941131" y="1237440692732"/>
                </a:lnTo>
                <a:close/>
              </a:path>
            </a:pathLst>
          </a:custGeom>
          <a:solidFill>
            <a:srgbClr val="E8F5F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8534095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7619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4400" b="1" i="0">
                <a:solidFill>
                  <a:srgbClr val="2D3436"/>
                </a:solidFill>
                <a:latin typeface="Ogg TRIAL"/>
              </a:defRPr>
            </a:pPr>
            <a:r>
              <a:t>Does anyone else</a:t>
            </a:r>
            <a:br/>
            <a:r>
              <a:t>feel that way?</a:t>
            </a:r>
          </a:p>
        </p:txBody>
      </p:sp>
      <p:sp>
        <p:nvSpPr>
          <p:cNvPr id="7" name="Freeform 6"/>
          <p:cNvSpPr/>
          <p:nvPr/>
        </p:nvSpPr>
        <p:spPr>
          <a:xfrm>
            <a:off x="9144000" y="-10238719679"/>
            <a:ext cx="2731071489839" cy="792552245016"/>
          </a:xfrm>
          <a:custGeom>
            <a:avLst/>
            <a:gdLst/>
            <a:ahLst/>
            <a:cxnLst/>
            <a:rect l="l" t="t" r="r" b="b"/>
            <a:pathLst>
              <a:path w="2731071489839" h="792552245016">
                <a:moveTo>
                  <a:pt x="0" y="10246400639"/>
                </a:moveTo>
                <a:moveTo>
                  <a:pt x="2731071489839" y="428306240159"/>
                </a:moveTo>
                <a:lnTo>
                  <a:pt x="2654202558576" y="582609145489"/>
                </a:lnTo>
                <a:lnTo>
                  <a:pt x="2253487058817" y="686671253043"/>
                </a:lnTo>
                <a:lnTo>
                  <a:pt x="1902203516043" y="792552245016"/>
                </a:lnTo>
                <a:lnTo>
                  <a:pt x="1393401582000" y="735792076799"/>
                </a:lnTo>
                <a:lnTo>
                  <a:pt x="963422603191" y="744022049686"/>
                </a:lnTo>
                <a:lnTo>
                  <a:pt x="421843612862" y="715099583283"/>
                </a:lnTo>
                <a:lnTo>
                  <a:pt x="53777650187" y="590935610639"/>
                </a:lnTo>
                <a:lnTo>
                  <a:pt x="278676658800" y="428306240159"/>
                </a:lnTo>
                <a:lnTo>
                  <a:pt x="388485168542" y="301033708032"/>
                </a:lnTo>
                <a:lnTo>
                  <a:pt x="519382043642" y="166387685994"/>
                </a:lnTo>
                <a:lnTo>
                  <a:pt x="963712644586" y="112769005077"/>
                </a:lnTo>
                <a:lnTo>
                  <a:pt x="1393401581999" y="0"/>
                </a:lnTo>
                <a:lnTo>
                  <a:pt x="1901913474648" y="64238809746"/>
                </a:lnTo>
                <a:lnTo>
                  <a:pt x="2155948628037" y="194816016234"/>
                </a:lnTo>
                <a:lnTo>
                  <a:pt x="2319495040222" y="309360173182"/>
                </a:lnTo>
                <a:close/>
              </a:path>
            </a:pathLst>
          </a:custGeom>
          <a:solidFill>
            <a:srgbClr val="1B8A8A"/>
          </a:solidFill>
          <a:ln>
            <a:noFill/>
          </a:ln>
          <a:effectLst>
            <a:outerShdw blurRad="127000" dist="38100" dir="5400000" algn="tl" rotWithShape="0">
              <a:srgbClr val="2D343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3977639"/>
            <a:ext cx="26819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800" b="0" i="0">
                <a:solidFill>
                  <a:srgbClr val="FFFFFF"/>
                </a:solidFill>
                <a:latin typeface="Ogg Text TRIAL Medium"/>
              </a:defRPr>
            </a:pPr>
            <a:r>
              <a:t>Type "YES" in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 b="0" i="0">
                <a:solidFill>
                  <a:srgbClr val="636E72"/>
                </a:solidFill>
                <a:latin typeface="Ogg Text TRIAL"/>
              </a:defRPr>
            </a:pPr>
            <a:r>
              <a:t>I'm curious how many of you are seeing the same problems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400" b="0" i="0">
                <a:solidFill>
                  <a:srgbClr val="636E72"/>
                </a:solidFill>
                <a:latin typeface="Ogg Text TRIAL"/>
              </a:defRPr>
            </a:pPr>
            <a:r>
              <a:t>So the real question isn't: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400" b="0" i="0">
                <a:solidFill>
                  <a:srgbClr val="9CA3A8"/>
                </a:solidFill>
                <a:latin typeface="Ogg TRIAL"/>
              </a:defRPr>
            </a:pPr>
            <a:r>
              <a:t>"How do I make more listings?"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7619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291840" y="-12288328991"/>
            <a:ext cx="983284129439" cy="951062694020"/>
          </a:xfrm>
          <a:custGeom>
            <a:avLst/>
            <a:gdLst/>
            <a:ahLst/>
            <a:cxnLst/>
            <a:rect l="l" t="t" r="r" b="b"/>
            <a:pathLst>
              <a:path w="983284129439" h="951062694020">
                <a:moveTo>
                  <a:pt x="0" y="12293815391"/>
                </a:moveTo>
                <a:moveTo>
                  <a:pt x="983284129439" y="513967488191"/>
                </a:moveTo>
                <a:lnTo>
                  <a:pt x="955608544810" y="699130974587"/>
                </a:lnTo>
                <a:lnTo>
                  <a:pt x="811336528229" y="824005503652"/>
                </a:lnTo>
                <a:lnTo>
                  <a:pt x="684861797058" y="951062694020"/>
                </a:lnTo>
                <a:lnTo>
                  <a:pt x="501674770080" y="882950492159"/>
                </a:lnTo>
                <a:lnTo>
                  <a:pt x="346866846758" y="892826459623"/>
                </a:lnTo>
                <a:lnTo>
                  <a:pt x="151878898650" y="858119499940"/>
                </a:lnTo>
                <a:lnTo>
                  <a:pt x="19361891691" y="709122732767"/>
                </a:lnTo>
                <a:lnTo>
                  <a:pt x="100333637280" y="513967488191"/>
                </a:lnTo>
                <a:lnTo>
                  <a:pt x="139868656883" y="361240449639"/>
                </a:lnTo>
                <a:lnTo>
                  <a:pt x="186996247770" y="199665223193"/>
                </a:lnTo>
                <a:lnTo>
                  <a:pt x="346971272110" y="135322806093"/>
                </a:lnTo>
                <a:lnTo>
                  <a:pt x="501674770079" y="0"/>
                </a:lnTo>
                <a:lnTo>
                  <a:pt x="684757371706" y="77086571696"/>
                </a:lnTo>
                <a:lnTo>
                  <a:pt x="776219179109" y="233779219481"/>
                </a:lnTo>
                <a:lnTo>
                  <a:pt x="835101779619" y="371232207819"/>
                </a:lnTo>
                <a:close/>
              </a:path>
            </a:pathLst>
          </a:custGeom>
          <a:solidFill>
            <a:srgbClr val="FDD5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834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200" b="1" i="0">
                <a:solidFill>
                  <a:srgbClr val="E07B6C"/>
                </a:solidFill>
                <a:latin typeface="Ogg TRIAL"/>
              </a:defRPr>
            </a:pPr>
            <a:r>
              <a:t>X</a:t>
            </a:r>
          </a:p>
        </p:txBody>
      </p:sp>
      <p:sp>
        <p:nvSpPr>
          <p:cNvPr id="11" name="Freeform 10"/>
          <p:cNvSpPr/>
          <p:nvPr/>
        </p:nvSpPr>
        <p:spPr>
          <a:xfrm>
            <a:off x="18836640" y="-12288328991"/>
            <a:ext cx="983276357039" cy="951062694020"/>
          </a:xfrm>
          <a:custGeom>
            <a:avLst/>
            <a:gdLst/>
            <a:ahLst/>
            <a:cxnLst/>
            <a:rect l="l" t="t" r="r" b="b"/>
            <a:pathLst>
              <a:path w="983276357039" h="951062694020">
                <a:moveTo>
                  <a:pt x="0" y="12293815391"/>
                </a:moveTo>
                <a:moveTo>
                  <a:pt x="983276357039" y="513967488191"/>
                </a:moveTo>
                <a:lnTo>
                  <a:pt x="955600772410" y="699130974587"/>
                </a:lnTo>
                <a:lnTo>
                  <a:pt x="811328755829" y="824005503652"/>
                </a:lnTo>
                <a:lnTo>
                  <a:pt x="684854024658" y="951062694020"/>
                </a:lnTo>
                <a:lnTo>
                  <a:pt x="501666997680" y="882950492159"/>
                </a:lnTo>
                <a:lnTo>
                  <a:pt x="346859074358" y="892826459623"/>
                </a:lnTo>
                <a:lnTo>
                  <a:pt x="151871126250" y="858119499940"/>
                </a:lnTo>
                <a:lnTo>
                  <a:pt x="19354119291" y="709122732767"/>
                </a:lnTo>
                <a:lnTo>
                  <a:pt x="100325864880" y="513967488191"/>
                </a:lnTo>
                <a:lnTo>
                  <a:pt x="139860884483" y="361240449639"/>
                </a:lnTo>
                <a:lnTo>
                  <a:pt x="186988475370" y="199665223193"/>
                </a:lnTo>
                <a:lnTo>
                  <a:pt x="346963499710" y="135322806093"/>
                </a:lnTo>
                <a:lnTo>
                  <a:pt x="501666997679" y="0"/>
                </a:lnTo>
                <a:lnTo>
                  <a:pt x="684749599306" y="77086571696"/>
                </a:lnTo>
                <a:lnTo>
                  <a:pt x="776211406709" y="233779219481"/>
                </a:lnTo>
                <a:lnTo>
                  <a:pt x="835094007219" y="371232207819"/>
                </a:lnTo>
                <a:close/>
              </a:path>
            </a:pathLst>
          </a:custGeom>
          <a:solidFill>
            <a:srgbClr val="FDD5C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8346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200" b="1" i="0">
                <a:solidFill>
                  <a:srgbClr val="E07B6C"/>
                </a:solidFill>
                <a:latin typeface="Ogg TRIAL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315200" y="-40968411839"/>
            <a:ext cx="4916425219200" cy="3170208980070"/>
          </a:xfrm>
          <a:custGeom>
            <a:avLst/>
            <a:gdLst/>
            <a:ahLst/>
            <a:cxnLst/>
            <a:rect l="l" t="t" r="r" b="b"/>
            <a:pathLst>
              <a:path w="4916425219200" h="3170208980070">
                <a:moveTo>
                  <a:pt x="0" y="40972069439"/>
                </a:moveTo>
                <a:moveTo>
                  <a:pt x="4916425219200" y="1713224960639"/>
                </a:moveTo>
                <a:lnTo>
                  <a:pt x="4778047296054" y="2330436581962"/>
                </a:lnTo>
                <a:lnTo>
                  <a:pt x="4056687213145" y="2746685012176"/>
                </a:lnTo>
                <a:lnTo>
                  <a:pt x="3424313557292" y="3170208980070"/>
                </a:lnTo>
                <a:lnTo>
                  <a:pt x="2508378422400" y="2943168307199"/>
                </a:lnTo>
                <a:lnTo>
                  <a:pt x="1734338805793" y="2976088198748"/>
                </a:lnTo>
                <a:lnTo>
                  <a:pt x="759399065254" y="2860398333136"/>
                </a:lnTo>
                <a:lnTo>
                  <a:pt x="96814030459" y="2363742442560"/>
                </a:lnTo>
                <a:lnTo>
                  <a:pt x="501672758400" y="1713224960639"/>
                </a:lnTo>
                <a:lnTo>
                  <a:pt x="699347856417" y="1204134832134"/>
                </a:lnTo>
                <a:lnTo>
                  <a:pt x="934985810854" y="665550743981"/>
                </a:lnTo>
                <a:lnTo>
                  <a:pt x="1734860932551" y="451076020312"/>
                </a:lnTo>
                <a:lnTo>
                  <a:pt x="2508378422399" y="0"/>
                </a:lnTo>
                <a:lnTo>
                  <a:pt x="3423791430534" y="256955238990"/>
                </a:lnTo>
                <a:lnTo>
                  <a:pt x="3881100467545" y="779264064941"/>
                </a:lnTo>
                <a:lnTo>
                  <a:pt x="4175513470096" y="1237440692732"/>
                </a:lnTo>
                <a:close/>
              </a:path>
            </a:pathLst>
          </a:custGeom>
          <a:solidFill>
            <a:srgbClr val="E07B6C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6000" b="1" i="0">
                <a:solidFill>
                  <a:srgbClr val="FFFFFF"/>
                </a:solidFill>
                <a:latin typeface="Ogg TRIAL"/>
              </a:defRPr>
            </a:pPr>
            <a:r>
              <a:t>Is Etsy even worth</a:t>
            </a:r>
            <a:br/>
            <a:r>
              <a:t>pursuing in 2026?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5303520"/>
            <a:ext cx="3047695" cy="54864"/>
          </a:xfrm>
          <a:prstGeom prst="rect">
            <a:avLst/>
          </a:prstGeom>
          <a:solidFill>
            <a:srgbClr val="E0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DF8F3"/>
              </a:gs>
              <a:gs pos="100000">
                <a:srgbClr val="FEE5E0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828800" y="-51213715199"/>
            <a:ext cx="4916429791200" cy="3962761225088"/>
          </a:xfrm>
          <a:custGeom>
            <a:avLst/>
            <a:gdLst/>
            <a:ahLst/>
            <a:cxnLst/>
            <a:rect l="l" t="t" r="r" b="b"/>
            <a:pathLst>
              <a:path w="4916429791200" h="3962761225088">
                <a:moveTo>
                  <a:pt x="0" y="51211886399"/>
                </a:moveTo>
                <a:moveTo>
                  <a:pt x="4916429791200" y="2141531200799"/>
                </a:moveTo>
                <a:lnTo>
                  <a:pt x="4778051868054" y="2913045727452"/>
                </a:lnTo>
                <a:lnTo>
                  <a:pt x="4056691785145" y="3433356265220"/>
                </a:lnTo>
                <a:lnTo>
                  <a:pt x="3424318129292" y="3962761225088"/>
                </a:lnTo>
                <a:lnTo>
                  <a:pt x="2508382994400" y="3678960383999"/>
                </a:lnTo>
                <a:lnTo>
                  <a:pt x="1734343377793" y="3720110248435"/>
                </a:lnTo>
                <a:lnTo>
                  <a:pt x="759403637254" y="3575497916420"/>
                </a:lnTo>
                <a:lnTo>
                  <a:pt x="96818602459" y="2954678053200"/>
                </a:lnTo>
                <a:lnTo>
                  <a:pt x="501677330400" y="2141531200799"/>
                </a:lnTo>
                <a:lnTo>
                  <a:pt x="699352428417" y="1505168540168"/>
                </a:lnTo>
                <a:lnTo>
                  <a:pt x="934990382854" y="831938429977"/>
                </a:lnTo>
                <a:lnTo>
                  <a:pt x="1734865504551" y="563845025391"/>
                </a:lnTo>
                <a:lnTo>
                  <a:pt x="2508382994399" y="0"/>
                </a:lnTo>
                <a:lnTo>
                  <a:pt x="3423796002534" y="321194048738"/>
                </a:lnTo>
                <a:lnTo>
                  <a:pt x="3881105039545" y="974080081177"/>
                </a:lnTo>
                <a:lnTo>
                  <a:pt x="4175518042096" y="1546800865916"/>
                </a:lnTo>
                <a:close/>
              </a:path>
            </a:pathLst>
          </a:custGeom>
          <a:solidFill>
            <a:srgbClr val="E8F5F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6459200" y="-51210057599"/>
            <a:ext cx="4916420647200" cy="3962761225088"/>
          </a:xfrm>
          <a:custGeom>
            <a:avLst/>
            <a:gdLst/>
            <a:ahLst/>
            <a:cxnLst/>
            <a:rect l="l" t="t" r="r" b="b"/>
            <a:pathLst>
              <a:path w="4916420647200" h="3962761225088">
                <a:moveTo>
                  <a:pt x="0" y="51215543999"/>
                </a:moveTo>
                <a:moveTo>
                  <a:pt x="4916420647200" y="2141531200799"/>
                </a:moveTo>
                <a:lnTo>
                  <a:pt x="4778042724054" y="2913045727452"/>
                </a:lnTo>
                <a:lnTo>
                  <a:pt x="4056682641145" y="3433356265220"/>
                </a:lnTo>
                <a:lnTo>
                  <a:pt x="3424308985292" y="3962761225088"/>
                </a:lnTo>
                <a:lnTo>
                  <a:pt x="2508373850400" y="3678960383999"/>
                </a:lnTo>
                <a:lnTo>
                  <a:pt x="1734334233793" y="3720110248435"/>
                </a:lnTo>
                <a:lnTo>
                  <a:pt x="759394493254" y="3575497916420"/>
                </a:lnTo>
                <a:lnTo>
                  <a:pt x="96809458459" y="2954678053200"/>
                </a:lnTo>
                <a:lnTo>
                  <a:pt x="501668186400" y="2141531200799"/>
                </a:lnTo>
                <a:lnTo>
                  <a:pt x="699343284417" y="1505168540168"/>
                </a:lnTo>
                <a:lnTo>
                  <a:pt x="934981238854" y="831938429977"/>
                </a:lnTo>
                <a:lnTo>
                  <a:pt x="1734856360551" y="563845025391"/>
                </a:lnTo>
                <a:lnTo>
                  <a:pt x="2508373850399" y="0"/>
                </a:lnTo>
                <a:lnTo>
                  <a:pt x="3423786858534" y="321194048738"/>
                </a:lnTo>
                <a:lnTo>
                  <a:pt x="3881095895545" y="974080081177"/>
                </a:lnTo>
                <a:lnTo>
                  <a:pt x="4175508898096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4400" b="1" i="0">
                <a:solidFill>
                  <a:srgbClr val="2D3436"/>
                </a:solidFill>
                <a:latin typeface="Ogg TRIAL"/>
              </a:defRPr>
            </a:pPr>
            <a:r>
              <a:t>I'm going to answer that</a:t>
            </a:r>
            <a:br/>
            <a:r>
              <a:t>question tonight.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474720"/>
            <a:ext cx="6705295" cy="2011680"/>
          </a:xfrm>
          <a:prstGeom prst="roundRect">
            <a:avLst>
              <a:gd name="adj" fmla="val 8000"/>
            </a:avLst>
          </a:prstGeom>
          <a:solidFill>
            <a:srgbClr val="1B8A8A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3749039"/>
            <a:ext cx="6156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000" b="0" i="0">
                <a:solidFill>
                  <a:srgbClr val="5BBCB3"/>
                </a:solidFill>
                <a:latin typeface="Ogg Text TRIAL"/>
              </a:defRPr>
            </a:pPr>
            <a:r>
              <a:t>And the answer?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297680"/>
            <a:ext cx="6156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Ogg TRIAL"/>
              </a:defRPr>
            </a:pPr>
            <a:r>
              <a:t>It might honestly</a:t>
            </a:r>
            <a:br/>
            <a:r>
              <a:t>surprise you.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30400" y="-61457189759"/>
            <a:ext cx="5735826374400" cy="4755313470106"/>
          </a:xfrm>
          <a:custGeom>
            <a:avLst/>
            <a:gdLst/>
            <a:ahLst/>
            <a:cxnLst/>
            <a:rect l="l" t="t" r="r" b="b"/>
            <a:pathLst>
              <a:path w="5735826374400" h="4755313470106">
                <a:moveTo>
                  <a:pt x="0" y="61453532159"/>
                </a:moveTo>
                <a:moveTo>
                  <a:pt x="5735826374400" y="2569837440959"/>
                </a:moveTo>
                <a:lnTo>
                  <a:pt x="5574385464063" y="3495654872943"/>
                </a:lnTo>
                <a:lnTo>
                  <a:pt x="4732798700670" y="4120027518264"/>
                </a:lnTo>
                <a:lnTo>
                  <a:pt x="3995029435507" y="4755313470106"/>
                </a:lnTo>
                <a:lnTo>
                  <a:pt x="2926438444800" y="4414752460798"/>
                </a:lnTo>
                <a:lnTo>
                  <a:pt x="2023392225425" y="4464132298123"/>
                </a:lnTo>
                <a:lnTo>
                  <a:pt x="885962528129" y="4290597499704"/>
                </a:lnTo>
                <a:lnTo>
                  <a:pt x="112946654202" y="3545613663840"/>
                </a:lnTo>
                <a:lnTo>
                  <a:pt x="585281836800" y="2569837440959"/>
                </a:lnTo>
                <a:lnTo>
                  <a:pt x="815902784486" y="1806202248202"/>
                </a:lnTo>
                <a:lnTo>
                  <a:pt x="1090813731329" y="998326115973"/>
                </a:lnTo>
                <a:lnTo>
                  <a:pt x="2024001373309" y="676614030469"/>
                </a:lnTo>
                <a:lnTo>
                  <a:pt x="2926438444799" y="0"/>
                </a:lnTo>
                <a:lnTo>
                  <a:pt x="3994420287623" y="385432858486"/>
                </a:lnTo>
                <a:lnTo>
                  <a:pt x="4527947497470" y="1168896097413"/>
                </a:lnTo>
                <a:lnTo>
                  <a:pt x="4871429333779" y="1856161039099"/>
                </a:lnTo>
                <a:close/>
              </a:path>
            </a:pathLst>
          </a:custGeom>
          <a:solidFill>
            <a:srgbClr val="5BBCB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-3657600" y="-51209143199"/>
            <a:ext cx="4097025892800" cy="3962761225088"/>
          </a:xfrm>
          <a:custGeom>
            <a:avLst/>
            <a:gdLst/>
            <a:ahLst/>
            <a:cxnLst/>
            <a:rect l="l" t="t" r="r" b="b"/>
            <a:pathLst>
              <a:path w="4097025892800" h="3962761225088">
                <a:moveTo>
                  <a:pt x="0" y="51216458399"/>
                </a:moveTo>
                <a:moveTo>
                  <a:pt x="4097025892800" y="2141531200799"/>
                </a:moveTo>
                <a:lnTo>
                  <a:pt x="3981710956845" y="2913045727452"/>
                </a:lnTo>
                <a:lnTo>
                  <a:pt x="3380577554421" y="3433356265220"/>
                </a:lnTo>
                <a:lnTo>
                  <a:pt x="2853599507877" y="3962761225088"/>
                </a:lnTo>
                <a:lnTo>
                  <a:pt x="2090320228800" y="3678960383999"/>
                </a:lnTo>
                <a:lnTo>
                  <a:pt x="1445287214961" y="3720110248435"/>
                </a:lnTo>
                <a:lnTo>
                  <a:pt x="632837431178" y="3575497916420"/>
                </a:lnTo>
                <a:lnTo>
                  <a:pt x="80683235516" y="2954678053200"/>
                </a:lnTo>
                <a:lnTo>
                  <a:pt x="418065508800" y="2141531200799"/>
                </a:lnTo>
                <a:lnTo>
                  <a:pt x="582794757147" y="1505168540168"/>
                </a:lnTo>
                <a:lnTo>
                  <a:pt x="779159719178" y="831938429977"/>
                </a:lnTo>
                <a:lnTo>
                  <a:pt x="1445722320592" y="563845025391"/>
                </a:lnTo>
                <a:lnTo>
                  <a:pt x="2090320228799" y="0"/>
                </a:lnTo>
                <a:lnTo>
                  <a:pt x="2853164402245" y="321194048738"/>
                </a:lnTo>
                <a:lnTo>
                  <a:pt x="3234255266421" y="974080081177"/>
                </a:lnTo>
                <a:lnTo>
                  <a:pt x="3479599435213" y="1546800865916"/>
                </a:lnTo>
                <a:close/>
              </a:path>
            </a:pathLst>
          </a:custGeom>
          <a:solidFill>
            <a:srgbClr val="FDD5CC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8288000" y="-30723108479"/>
            <a:ext cx="3277610107200" cy="2377656735052"/>
          </a:xfrm>
          <a:custGeom>
            <a:avLst/>
            <a:gdLst/>
            <a:ahLst/>
            <a:cxnLst/>
            <a:rect l="l" t="t" r="r" b="b"/>
            <a:pathLst>
              <a:path w="3277610107200" h="2377656735052">
                <a:moveTo>
                  <a:pt x="0" y="30732252479"/>
                </a:moveTo>
                <a:moveTo>
                  <a:pt x="3277610107200" y="1284918720479"/>
                </a:moveTo>
                <a:lnTo>
                  <a:pt x="3185358158436" y="1747827436471"/>
                </a:lnTo>
                <a:lnTo>
                  <a:pt x="2704451436497" y="2060013759131"/>
                </a:lnTo>
                <a:lnTo>
                  <a:pt x="2282868999261" y="2377656735052"/>
                </a:lnTo>
                <a:lnTo>
                  <a:pt x="1672245576000" y="2207376230398"/>
                </a:lnTo>
                <a:lnTo>
                  <a:pt x="1156219164929" y="2232066149061"/>
                </a:lnTo>
                <a:lnTo>
                  <a:pt x="506259337902" y="2145298749851"/>
                </a:lnTo>
                <a:lnTo>
                  <a:pt x="64535981373" y="1772806831919"/>
                </a:lnTo>
                <a:lnTo>
                  <a:pt x="334441800000" y="1284918720479"/>
                </a:lnTo>
                <a:lnTo>
                  <a:pt x="466225198678" y="903101124100"/>
                </a:lnTo>
                <a:lnTo>
                  <a:pt x="623317168302" y="499163057986"/>
                </a:lnTo>
                <a:lnTo>
                  <a:pt x="1156567249434" y="338307015234"/>
                </a:lnTo>
                <a:lnTo>
                  <a:pt x="1672245575999" y="0"/>
                </a:lnTo>
                <a:lnTo>
                  <a:pt x="2282520914756" y="192716429242"/>
                </a:lnTo>
                <a:lnTo>
                  <a:pt x="2587393606097" y="584448048706"/>
                </a:lnTo>
                <a:lnTo>
                  <a:pt x="2783668941131" y="928080519549"/>
                </a:lnTo>
                <a:close/>
              </a:path>
            </a:pathLst>
          </a:custGeom>
          <a:solidFill>
            <a:srgbClr val="F7E19C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 b="0" i="0">
                <a:solidFill>
                  <a:srgbClr val="636E72"/>
                </a:solidFill>
                <a:latin typeface="Ogg Text TRIAL"/>
              </a:defRPr>
            </a:pPr>
            <a:r>
              <a:t>Because what nobody is talking about is this: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188720"/>
            <a:ext cx="10362895" cy="2560320"/>
          </a:xfrm>
          <a:prstGeom prst="roundRect">
            <a:avLst>
              <a:gd name="adj" fmla="val 8000"/>
            </a:avLst>
          </a:prstGeom>
          <a:solidFill>
            <a:srgbClr val="1B8A8A"/>
          </a:solidFill>
          <a:ln>
            <a:noFill/>
          </a:ln>
          <a:effectLst>
            <a:outerShdw blurRad="254000" dist="76200" dir="5400000" algn="tl" rotWithShape="0">
              <a:srgbClr val="2D3436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9814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400" b="0" i="0">
                <a:solidFill>
                  <a:srgbClr val="5BBCB3"/>
                </a:solidFill>
                <a:latin typeface="Ogg Text TRIAL"/>
              </a:defRPr>
            </a:pPr>
            <a:r>
              <a:t>The AI flood actually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98142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5200" b="1" i="0">
                <a:solidFill>
                  <a:srgbClr val="FFFFFF"/>
                </a:solidFill>
                <a:latin typeface="Ogg TRIAL"/>
              </a:defRPr>
            </a:pPr>
            <a:r>
              <a:t>CREATES an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200" b="0" i="0">
                <a:solidFill>
                  <a:srgbClr val="2D3436"/>
                </a:solidFill>
                <a:latin typeface="Ogg Text TRIAL"/>
              </a:defRPr>
            </a:pPr>
            <a:r>
              <a:t>— for a very specific type of seller...</a:t>
            </a:r>
          </a:p>
        </p:txBody>
      </p:sp>
      <p:sp>
        <p:nvSpPr>
          <p:cNvPr id="11" name="Freeform 10"/>
          <p:cNvSpPr/>
          <p:nvPr/>
        </p:nvSpPr>
        <p:spPr>
          <a:xfrm>
            <a:off x="8229600" y="-12286500191"/>
            <a:ext cx="3550476759839" cy="951062694020"/>
          </a:xfrm>
          <a:custGeom>
            <a:avLst/>
            <a:gdLst/>
            <a:ahLst/>
            <a:cxnLst/>
            <a:rect l="l" t="t" r="r" b="b"/>
            <a:pathLst>
              <a:path w="3550476759839" h="951062694020">
                <a:moveTo>
                  <a:pt x="0" y="12295644191"/>
                </a:moveTo>
                <a:moveTo>
                  <a:pt x="3550476759839" y="513967488191"/>
                </a:moveTo>
                <a:lnTo>
                  <a:pt x="3450544841386" y="699130974587"/>
                </a:lnTo>
                <a:lnTo>
                  <a:pt x="2929602661141" y="824005503652"/>
                </a:lnTo>
                <a:lnTo>
                  <a:pt x="2472923509058" y="951062694020"/>
                </a:lnTo>
                <a:lnTo>
                  <a:pt x="1811465719200" y="882950492159"/>
                </a:lnTo>
                <a:lnTo>
                  <a:pt x="1252480137624" y="892826459623"/>
                </a:lnTo>
                <a:lnTo>
                  <a:pt x="548411190538" y="858119499940"/>
                </a:lnTo>
                <a:lnTo>
                  <a:pt x="69914388731" y="709122732767"/>
                </a:lnTo>
                <a:lnTo>
                  <a:pt x="362289852000" y="513967488191"/>
                </a:lnTo>
                <a:lnTo>
                  <a:pt x="505044211412" y="361240449639"/>
                </a:lnTo>
                <a:lnTo>
                  <a:pt x="675214078918" y="199665223193"/>
                </a:lnTo>
                <a:lnTo>
                  <a:pt x="1252857200145" y="135322806093"/>
                </a:lnTo>
                <a:lnTo>
                  <a:pt x="1811465719199" y="0"/>
                </a:lnTo>
                <a:lnTo>
                  <a:pt x="2472546446537" y="77086571696"/>
                </a:lnTo>
                <a:lnTo>
                  <a:pt x="2802799772761" y="233779219481"/>
                </a:lnTo>
                <a:lnTo>
                  <a:pt x="3015415018704" y="371232207819"/>
                </a:lnTo>
                <a:close/>
              </a:path>
            </a:pathLst>
          </a:custGeom>
          <a:solidFill>
            <a:srgbClr val="E07B6C"/>
          </a:solidFill>
          <a:ln>
            <a:noFill/>
          </a:ln>
          <a:effectLst>
            <a:outerShdw blurRad="127000" dist="38100" dir="5400000" algn="tl" rotWithShape="0">
              <a:srgbClr val="2D343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709160"/>
            <a:ext cx="3047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defRPr sz="3600" b="1" i="0">
                <a:solidFill>
                  <a:srgbClr val="FFFFFF"/>
                </a:solidFill>
                <a:latin typeface="Ogg TRIAL"/>
              </a:defRPr>
            </a:pPr>
            <a:r>
              <a:t>BUT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800" b="0" i="0">
                <a:solidFill>
                  <a:srgbClr val="636E72"/>
                </a:solidFill>
                <a:latin typeface="Ogg Text TRIAL"/>
              </a:defRPr>
            </a:pPr>
            <a:r>
              <a:t>Only if you understand what's really happening...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