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1500000">
            <a:off x="8229600" y="-1371600"/>
            <a:ext cx="5486400" cy="4572000"/>
          </a:xfrm>
          <a:prstGeom prst="ellipse">
            <a:avLst/>
          </a:prstGeom>
          <a:solidFill>
            <a:srgbClr val="E8F5F3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20700000">
            <a:off x="-1371600" y="4114800"/>
            <a:ext cx="3657600" cy="3657600"/>
          </a:xfrm>
          <a:prstGeom prst="ellipse">
            <a:avLst/>
          </a:prstGeom>
          <a:solidFill>
            <a:srgbClr val="FEE5E0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600000">
            <a:off x="9144000" y="5029200"/>
            <a:ext cx="3200400" cy="2286000"/>
          </a:xfrm>
          <a:prstGeom prst="ellipse">
            <a:avLst/>
          </a:prstGeom>
          <a:solidFill>
            <a:srgbClr val="F7E19C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54864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Ogg Text TRIAL Medium"/>
              </a:defRPr>
            </a:pPr>
            <a:r>
              <a:t>DAY 1 OF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400" b="0" i="0">
                <a:solidFill>
                  <a:srgbClr val="1B8A8A"/>
                </a:solidFill>
                <a:latin typeface="Ogg Text TRIAL"/>
              </a:defRPr>
            </a:pPr>
            <a:r>
              <a:t>The 2026 Etsy Upgrade Challenge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defRPr sz="18000" b="1" i="0">
                <a:solidFill>
                  <a:srgbClr val="2D3436"/>
                </a:solidFill>
                <a:latin typeface="Ogg TRIAL"/>
              </a:defRPr>
            </a:pPr>
            <a:r>
              <a:t>RESET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2200" b="0" i="0">
                <a:solidFill>
                  <a:srgbClr val="636E72"/>
                </a:solidFill>
                <a:latin typeface="Ogg Text TRIAL"/>
              </a:defRPr>
            </a:pPr>
            <a:r>
              <a:t>Delete the Dead Weight.</a:t>
            </a:r>
            <a:br/>
            <a:r>
              <a:t>Find Your Focus.</a:t>
            </a:r>
            <a:br/>
            <a:r>
              <a:t>Build a Shop That Actually Works.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303520"/>
            <a:ext cx="7315200" cy="914400"/>
          </a:xfrm>
          <a:prstGeom prst="roundRect">
            <a:avLst>
              <a:gd name="adj" fmla="val 8000"/>
            </a:avLst>
          </a:prstGeom>
          <a:solidFill>
            <a:srgbClr val="1B8A8A"/>
          </a:solidFill>
          <a:ln>
            <a:noFill/>
          </a:ln>
          <a:effectLst>
            <a:outerShdw blurRad="254000" dist="76200" dir="5400000" algn="tl" rotWithShape="0">
              <a:srgbClr val="2D3436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440680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1400" b="0" i="0">
                <a:solidFill>
                  <a:srgbClr val="FFFFFF"/>
                </a:solidFill>
                <a:latin typeface="Ogg Text TRIAL"/>
              </a:defRPr>
            </a:pPr>
            <a:r>
              <a:t>with Bailey Vann  •  Top 0.1% Etsy Seller  •  $1M+ in Digital Product Sales</a:t>
            </a:r>
          </a:p>
        </p:txBody>
      </p:sp>
      <p:sp>
        <p:nvSpPr>
          <p:cNvPr id="12" name="Oval 11"/>
          <p:cNvSpPr/>
          <p:nvPr/>
        </p:nvSpPr>
        <p:spPr>
          <a:xfrm rot="1200000">
            <a:off x="8961120" y="2560320"/>
            <a:ext cx="2743200" cy="2286000"/>
          </a:xfrm>
          <a:prstGeom prst="ellipse">
            <a:avLst/>
          </a:prstGeom>
          <a:solidFill>
            <a:srgbClr val="F4A89A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20700000">
            <a:off x="9326880" y="3657600"/>
            <a:ext cx="2011680" cy="1645920"/>
          </a:xfrm>
          <a:prstGeom prst="ellipse">
            <a:avLst/>
          </a:prstGeom>
          <a:solidFill>
            <a:srgbClr val="F7E19C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DF8F3"/>
              </a:gs>
              <a:gs pos="100000">
                <a:srgbClr val="FEE5E0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1200000">
            <a:off x="9144000" y="-914400"/>
            <a:ext cx="4572000" cy="3657600"/>
          </a:xfrm>
          <a:prstGeom prst="ellipse">
            <a:avLst/>
          </a:prstGeom>
          <a:solidFill>
            <a:srgbClr val="E8F5F3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20400000">
            <a:off x="-914400" y="4572000"/>
            <a:ext cx="3657600" cy="3200400"/>
          </a:xfrm>
          <a:prstGeom prst="ellipse">
            <a:avLst/>
          </a:prstGeom>
          <a:solidFill>
            <a:srgbClr val="FDD5CC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28800" y="1097280"/>
            <a:ext cx="8534095" cy="4754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54000" dist="76200" dir="5400000" algn="tl" rotWithShape="0">
              <a:srgbClr val="2D3436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1645920"/>
            <a:ext cx="76196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5200" b="1" i="0">
                <a:solidFill>
                  <a:srgbClr val="2D3436"/>
                </a:solidFill>
                <a:latin typeface="Ogg TRIAL"/>
              </a:defRPr>
            </a:pPr>
            <a:r>
              <a:t>Before We Begin...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2834640"/>
            <a:ext cx="2133295" cy="36576"/>
          </a:xfrm>
          <a:prstGeom prst="rect">
            <a:avLst/>
          </a:prstGeom>
          <a:solidFill>
            <a:srgbClr val="2BA5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0" y="3200400"/>
            <a:ext cx="1609344" cy="292608"/>
          </a:xfrm>
          <a:prstGeom prst="roundRect">
            <a:avLst>
              <a:gd name="adj" fmla="val 50000"/>
            </a:avLst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Ogg Text TRIAL Medium"/>
              </a:defRPr>
            </a:pPr>
            <a:r>
              <a:t>QUICK POP QUIZ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4023360"/>
            <a:ext cx="76196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defRPr sz="2000" b="0" i="0">
                <a:solidFill>
                  <a:srgbClr val="636E72"/>
                </a:solidFill>
                <a:latin typeface="Ogg Text TRIAL"/>
              </a:defRPr>
            </a:pPr>
            <a:r>
              <a:t>I want to show you something that might change</a:t>
            </a:r>
            <a:br/>
            <a:r>
              <a:t>how you think about Etsy in 2026...</a:t>
            </a:r>
          </a:p>
        </p:txBody>
      </p:sp>
      <p:sp>
        <p:nvSpPr>
          <p:cNvPr id="10" name="Oval 9"/>
          <p:cNvSpPr/>
          <p:nvPr/>
        </p:nvSpPr>
        <p:spPr>
          <a:xfrm>
            <a:off x="9601200" y="731520"/>
            <a:ext cx="1828800" cy="1828800"/>
          </a:xfrm>
          <a:prstGeom prst="ellipse">
            <a:avLst/>
          </a:prstGeom>
          <a:solidFill>
            <a:srgbClr val="5BBCB3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EE5E0"/>
              </a:gs>
              <a:gs pos="100000">
                <a:srgbClr val="FEF0EA"/>
              </a:gs>
            </a:gsLst>
            <a:lin scaled="0" ang="10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FDD5CC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0" y="3657600"/>
            <a:ext cx="3657600" cy="3657600"/>
          </a:xfrm>
          <a:prstGeom prst="ellipse">
            <a:avLst/>
          </a:prstGeom>
          <a:solidFill>
            <a:srgbClr val="E8F5F3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286000" y="1371600"/>
            <a:ext cx="7619695" cy="3200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76200" dir="5400000" algn="tl" rotWithShape="0">
              <a:srgbClr val="2D3436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 rot="10800000">
            <a:off x="4114800" y="4480560"/>
            <a:ext cx="548640" cy="457200"/>
          </a:xfrm>
          <a:prstGeom prst="triangl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2011680"/>
            <a:ext cx="6705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4200" b="1" i="0">
                <a:solidFill>
                  <a:srgbClr val="2D3436"/>
                </a:solidFill>
                <a:latin typeface="Ogg TRIAL"/>
              </a:defRPr>
            </a:pPr>
            <a:r>
              <a:t>Get ready to type</a:t>
            </a:r>
            <a:br/>
            <a:r>
              <a:t>in the chat!</a:t>
            </a:r>
          </a:p>
        </p:txBody>
      </p:sp>
      <p:sp>
        <p:nvSpPr>
          <p:cNvPr id="8" name="Oval 7"/>
          <p:cNvSpPr/>
          <p:nvPr/>
        </p:nvSpPr>
        <p:spPr>
          <a:xfrm>
            <a:off x="5303520" y="3840480"/>
            <a:ext cx="320040" cy="320040"/>
          </a:xfrm>
          <a:prstGeom prst="ellipse">
            <a:avLst/>
          </a:prstGeom>
          <a:solidFill>
            <a:srgbClr val="1B8A8A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760720" y="3840480"/>
            <a:ext cx="320040" cy="320040"/>
          </a:xfrm>
          <a:prstGeom prst="ellipse">
            <a:avLst/>
          </a:prstGeom>
          <a:solidFill>
            <a:srgbClr val="1B8A8A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920" y="3840480"/>
            <a:ext cx="320040" cy="320040"/>
          </a:xfrm>
          <a:prstGeom prst="ellipse">
            <a:avLst/>
          </a:prstGeom>
          <a:solidFill>
            <a:srgbClr val="1B8A8A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0" y="5303520"/>
            <a:ext cx="85340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defRPr sz="1600" b="0" i="0">
                <a:solidFill>
                  <a:srgbClr val="636E72"/>
                </a:solidFill>
                <a:latin typeface="Ogg Text TRIAL"/>
              </a:defRPr>
            </a:pPr>
            <a:r>
              <a:t>This is interactive — your answers matter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1500000">
            <a:off x="8229600" y="-1371600"/>
            <a:ext cx="5486400" cy="4572000"/>
          </a:xfrm>
          <a:prstGeom prst="ellipse">
            <a:avLst/>
          </a:prstGeom>
          <a:solidFill>
            <a:srgbClr val="E8F5F3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20700000">
            <a:off x="-1371600" y="4114800"/>
            <a:ext cx="3657600" cy="3657600"/>
          </a:xfrm>
          <a:prstGeom prst="ellipse">
            <a:avLst/>
          </a:prstGeom>
          <a:solidFill>
            <a:srgbClr val="FEE5E0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600000">
            <a:off x="9144000" y="5029200"/>
            <a:ext cx="3200400" cy="2286000"/>
          </a:xfrm>
          <a:prstGeom prst="ellipse">
            <a:avLst/>
          </a:prstGeom>
          <a:solidFill>
            <a:srgbClr val="F7E19C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3200" b="1" i="0">
                <a:solidFill>
                  <a:srgbClr val="2D3436"/>
                </a:solidFill>
                <a:latin typeface="Ogg TRIAL"/>
              </a:defRPr>
            </a:pPr>
            <a:r>
              <a:t>Which design was made by a professional artist?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4937760" cy="4389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54000" dist="76200" dir="5400000" algn="tl" rotWithShape="0">
              <a:srgbClr val="2D3436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05840" y="1737360"/>
            <a:ext cx="4389120" cy="301752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F5EEE6"/>
              </a:gs>
              <a:gs pos="100000">
                <a:srgbClr val="E8F5F3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defRPr sz="1400" b="0" i="0">
                <a:solidFill>
                  <a:srgbClr val="9CA3A8"/>
                </a:solidFill>
                <a:latin typeface="Ogg Text TRIAL"/>
              </a:defRPr>
            </a:pPr>
            <a:r>
              <a:t>[ Image A ]</a:t>
            </a:r>
          </a:p>
        </p:txBody>
      </p:sp>
      <p:sp>
        <p:nvSpPr>
          <p:cNvPr id="10" name="Oval 9"/>
          <p:cNvSpPr/>
          <p:nvPr/>
        </p:nvSpPr>
        <p:spPr>
          <a:xfrm>
            <a:off x="2743200" y="5029200"/>
            <a:ext cx="822960" cy="822960"/>
          </a:xfrm>
          <a:prstGeom prst="ellipse">
            <a:avLst/>
          </a:prstGeom>
          <a:solidFill>
            <a:srgbClr val="1B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4640" y="51206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2800" b="1" i="0">
                <a:solidFill>
                  <a:srgbClr val="FFFFFF"/>
                </a:solidFill>
                <a:latin typeface="Ogg TRIAL"/>
              </a:defRPr>
            </a:pPr>
            <a: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3200400"/>
            <a:ext cx="1218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2400" b="1" i="0">
                <a:solidFill>
                  <a:srgbClr val="9CA3A8"/>
                </a:solidFill>
                <a:latin typeface="Ogg TRIAL"/>
              </a:defRPr>
            </a:pPr>
            <a:r>
              <a:t>vs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22415" y="1463040"/>
            <a:ext cx="4937760" cy="4389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54000" dist="76200" dir="5400000" algn="tl" rotWithShape="0">
              <a:srgbClr val="2D3436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96735" y="1737360"/>
            <a:ext cx="4389120" cy="301752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F5EEE6"/>
              </a:gs>
              <a:gs pos="100000">
                <a:srgbClr val="FEE5E0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96735" y="292608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defRPr sz="1400" b="0" i="0">
                <a:solidFill>
                  <a:srgbClr val="9CA3A8"/>
                </a:solidFill>
                <a:latin typeface="Ogg Text TRIAL"/>
              </a:defRPr>
            </a:pPr>
            <a:r>
              <a:t>[ Image B ]</a:t>
            </a:r>
          </a:p>
        </p:txBody>
      </p:sp>
      <p:sp>
        <p:nvSpPr>
          <p:cNvPr id="16" name="Oval 15"/>
          <p:cNvSpPr/>
          <p:nvPr/>
        </p:nvSpPr>
        <p:spPr>
          <a:xfrm>
            <a:off x="8595360" y="5029200"/>
            <a:ext cx="822960" cy="8229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0" y="51206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2800" b="1" i="0">
                <a:solidFill>
                  <a:srgbClr val="FFFFFF"/>
                </a:solidFill>
                <a:latin typeface="Ogg TRIAL"/>
              </a:defRPr>
            </a:pPr>
            <a:r>
              <a:t>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8A8A"/>
              </a:gs>
              <a:gs pos="100000">
                <a:srgbClr val="2BA5A3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900000">
            <a:off x="7315200" y="-914400"/>
            <a:ext cx="6400800" cy="4572000"/>
          </a:xfrm>
          <a:prstGeom prst="ellipse">
            <a:avLst/>
          </a:prstGeom>
          <a:solidFill>
            <a:srgbClr val="5BBCB3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6400" b="1" i="0">
                <a:solidFill>
                  <a:srgbClr val="FFFFFF"/>
                </a:solidFill>
                <a:latin typeface="Ogg TRIAL"/>
              </a:defRPr>
            </a:pPr>
            <a:r>
              <a:t>Type A or B</a:t>
            </a:r>
            <a:br/>
            <a:r>
              <a:t>in the chat!</a:t>
            </a:r>
          </a:p>
        </p:txBody>
      </p:sp>
      <p:sp>
        <p:nvSpPr>
          <p:cNvPr id="5" name="Oval 4"/>
          <p:cNvSpPr/>
          <p:nvPr/>
        </p:nvSpPr>
        <p:spPr>
          <a:xfrm>
            <a:off x="3200400" y="4114800"/>
            <a:ext cx="2286000" cy="18288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190500" dist="50800" dir="5400000" algn="tl" rotWithShape="0">
              <a:srgbClr val="2D3436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0" y="448056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5600" b="1" i="0">
                <a:solidFill>
                  <a:srgbClr val="1B8A8A"/>
                </a:solidFill>
                <a:latin typeface="Ogg TRIAL"/>
              </a:defRPr>
            </a:pPr>
            <a: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754880"/>
            <a:ext cx="1218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2400" b="0" i="0">
                <a:solidFill>
                  <a:srgbClr val="FFFFFF"/>
                </a:solidFill>
                <a:latin typeface="Ogg Text TRIAL"/>
              </a:defRPr>
            </a:pPr>
            <a:r>
              <a:t>or</a:t>
            </a:r>
          </a:p>
        </p:txBody>
      </p:sp>
      <p:sp>
        <p:nvSpPr>
          <p:cNvPr id="8" name="Oval 7"/>
          <p:cNvSpPr/>
          <p:nvPr/>
        </p:nvSpPr>
        <p:spPr>
          <a:xfrm>
            <a:off x="6705295" y="4114800"/>
            <a:ext cx="2286000" cy="1828800"/>
          </a:xfrm>
          <a:prstGeom prst="ellipse">
            <a:avLst/>
          </a:prstGeom>
          <a:solidFill>
            <a:srgbClr val="E07B6C"/>
          </a:solidFill>
          <a:ln>
            <a:noFill/>
          </a:ln>
          <a:effectLst>
            <a:outerShdw blurRad="190500" dist="50800" dir="5400000" algn="tl" rotWithShape="0">
              <a:srgbClr val="2D3436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0" y="448056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5600" b="1" i="0">
                <a:solidFill>
                  <a:srgbClr val="FFFFFF"/>
                </a:solidFill>
                <a:latin typeface="Ogg TRIAL"/>
              </a:defRPr>
            </a:pPr>
            <a:r>
              <a:t>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1500000">
            <a:off x="8229600" y="-1371600"/>
            <a:ext cx="5486400" cy="4572000"/>
          </a:xfrm>
          <a:prstGeom prst="ellipse">
            <a:avLst/>
          </a:prstGeom>
          <a:solidFill>
            <a:srgbClr val="E8F5F3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20700000">
            <a:off x="-1371600" y="4114800"/>
            <a:ext cx="3657600" cy="3657600"/>
          </a:xfrm>
          <a:prstGeom prst="ellipse">
            <a:avLst/>
          </a:prstGeom>
          <a:solidFill>
            <a:srgbClr val="FEE5E0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600000">
            <a:off x="9144000" y="5029200"/>
            <a:ext cx="3200400" cy="2286000"/>
          </a:xfrm>
          <a:prstGeom prst="ellipse">
            <a:avLst/>
          </a:prstGeom>
          <a:solidFill>
            <a:srgbClr val="F7E19C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7200" b="1" i="0">
                <a:solidFill>
                  <a:srgbClr val="2D3436"/>
                </a:solidFill>
                <a:latin typeface="Ogg TRIAL"/>
              </a:defRPr>
            </a:pPr>
            <a:r>
              <a:t>The Answer Is...</a:t>
            </a:r>
          </a:p>
        </p:txBody>
      </p:sp>
      <p:sp>
        <p:nvSpPr>
          <p:cNvPr id="7" name="Oval 6"/>
          <p:cNvSpPr/>
          <p:nvPr/>
        </p:nvSpPr>
        <p:spPr>
          <a:xfrm>
            <a:off x="5303520" y="4572000"/>
            <a:ext cx="228600" cy="228600"/>
          </a:xfrm>
          <a:prstGeom prst="ellipse">
            <a:avLst/>
          </a:prstGeom>
          <a:solidFill>
            <a:srgbClr val="1B8A8A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60720" y="4572000"/>
            <a:ext cx="228600" cy="228600"/>
          </a:xfrm>
          <a:prstGeom prst="ellipse">
            <a:avLst/>
          </a:prstGeom>
          <a:solidFill>
            <a:srgbClr val="1B8A8A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217920" y="4572000"/>
            <a:ext cx="228600" cy="228600"/>
          </a:xfrm>
          <a:prstGeom prst="ellipse">
            <a:avLst/>
          </a:prstGeom>
          <a:solidFill>
            <a:srgbClr val="1B8A8A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07B6C"/>
              </a:gs>
              <a:gs pos="100000">
                <a:srgbClr val="F4A89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0" y="-914400"/>
            <a:ext cx="6400800" cy="4572000"/>
          </a:xfrm>
          <a:prstGeom prst="ellipse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6800" b="1" i="0">
                <a:solidFill>
                  <a:srgbClr val="FFFFFF"/>
                </a:solidFill>
                <a:latin typeface="Ogg TRIAL"/>
              </a:defRPr>
            </a:pPr>
            <a:r>
              <a:t>Both Were Made by AI.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3840480"/>
            <a:ext cx="5790895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54000" dist="76200" dir="5400000" algn="tl" rotWithShape="0">
              <a:srgbClr val="2D3436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83280" y="4114800"/>
            <a:ext cx="54251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defRPr sz="2600" b="0" i="0">
                <a:solidFill>
                  <a:srgbClr val="2D3436"/>
                </a:solidFill>
                <a:latin typeface="Ogg Text TRIAL"/>
              </a:defRPr>
            </a:pPr>
            <a:r>
              <a:t>In less than 30 seconds.</a:t>
            </a:r>
            <a:br/>
            <a:r>
              <a:t>For free.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DF8F3"/>
              </a:gs>
              <a:gs pos="100000">
                <a:srgbClr val="FEE5E0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1200000">
            <a:off x="9144000" y="-914400"/>
            <a:ext cx="4572000" cy="3657600"/>
          </a:xfrm>
          <a:prstGeom prst="ellipse">
            <a:avLst/>
          </a:prstGeom>
          <a:solidFill>
            <a:srgbClr val="E8F5F3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20400000">
            <a:off x="-914400" y="4572000"/>
            <a:ext cx="3657600" cy="3200400"/>
          </a:xfrm>
          <a:prstGeom prst="ellipse">
            <a:avLst/>
          </a:prstGeom>
          <a:solidFill>
            <a:srgbClr val="FDD5CC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097280"/>
            <a:ext cx="9997135" cy="4754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54000" dist="76200" dir="5400000" algn="tl" rotWithShape="0">
              <a:srgbClr val="2D3436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1645920"/>
            <a:ext cx="8899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2800" b="0" i="0">
                <a:solidFill>
                  <a:srgbClr val="9CA3A8"/>
                </a:solidFill>
                <a:latin typeface="Ogg Text TRIAL"/>
              </a:defRPr>
            </a:pPr>
            <a:r>
              <a:t>Yes, we all use AI nowadays...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2560320"/>
            <a:ext cx="2743200" cy="36576"/>
          </a:xfrm>
          <a:prstGeom prst="rect">
            <a:avLst/>
          </a:prstGeom>
          <a:solidFill>
            <a:srgbClr val="2BA5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2926080"/>
            <a:ext cx="88998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defRPr sz="3200" b="1" i="0">
                <a:solidFill>
                  <a:srgbClr val="2D3436"/>
                </a:solidFill>
                <a:latin typeface="Ogg TRIAL"/>
              </a:defRPr>
            </a:pPr>
            <a:r>
              <a:t>But in 2026, they've gotten so good</a:t>
            </a:r>
            <a:br/>
            <a:r>
              <a:t>that hiring someone REAL is</a:t>
            </a:r>
            <a:br/>
            <a:r>
              <a:t>starting to become just an option...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45920" y="5120640"/>
            <a:ext cx="1609344" cy="292608"/>
          </a:xfrm>
          <a:prstGeom prst="roundRect">
            <a:avLst>
              <a:gd name="adj" fmla="val 50000"/>
            </a:avLst>
          </a:prstGeom>
          <a:solidFill>
            <a:srgbClr val="F4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07B6C"/>
                </a:solidFill>
                <a:latin typeface="Ogg Text TRIAL Medium"/>
              </a:defRPr>
            </a:pPr>
            <a:r>
              <a:t>JUST AN OPTION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8F5F3"/>
              </a:gs>
              <a:gs pos="100000">
                <a:srgbClr val="FDF8F3"/>
              </a:gs>
            </a:gsLst>
            <a:lin scaled="0" ang="10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3657600"/>
            <a:ext cx="4572000" cy="3657600"/>
          </a:xfrm>
          <a:prstGeom prst="ellipse">
            <a:avLst/>
          </a:prstGeom>
          <a:solidFill>
            <a:srgbClr val="5BBCB3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F7E19C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5200" b="1" i="0">
                <a:solidFill>
                  <a:srgbClr val="1B8A8A"/>
                </a:solidFill>
                <a:latin typeface="Ogg TRIAL"/>
              </a:defRPr>
            </a:pPr>
            <a:r>
              <a:t>Let that sink in</a:t>
            </a:r>
            <a:br/>
            <a:r>
              <a:t>for a second.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D3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21000000">
            <a:off x="3657600" y="1828800"/>
            <a:ext cx="6400800" cy="4572000"/>
          </a:xfrm>
          <a:prstGeom prst="ellipse">
            <a:avLst/>
          </a:prstGeom>
          <a:solidFill>
            <a:srgbClr val="E07B6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10312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4200" b="0" i="0">
                <a:solidFill>
                  <a:srgbClr val="FFFFFF"/>
                </a:solidFill>
                <a:latin typeface="Ogg TRIAL"/>
              </a:defRPr>
            </a:pPr>
            <a:r>
              <a:t>Now let me ask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200400"/>
            <a:ext cx="94484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5600" b="1" i="0">
                <a:solidFill>
                  <a:srgbClr val="E07B6C"/>
                </a:solidFill>
                <a:latin typeface="Ogg TRIAL"/>
              </a:defRPr>
            </a:pPr>
            <a:r>
              <a:t>something uncomfortable...</a:t>
            </a:r>
          </a:p>
        </p:txBody>
      </p:sp>
      <p:sp>
        <p:nvSpPr>
          <p:cNvPr id="6" name="Oval 5"/>
          <p:cNvSpPr/>
          <p:nvPr/>
        </p:nvSpPr>
        <p:spPr>
          <a:xfrm>
            <a:off x="2743200" y="2926080"/>
            <a:ext cx="6400800" cy="1828800"/>
          </a:xfrm>
          <a:prstGeom prst="ellipse">
            <a:avLst/>
          </a:prstGeom>
          <a:solidFill>
            <a:srgbClr val="E07B6C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1500000">
            <a:off x="8229600" y="-1371600"/>
            <a:ext cx="5486400" cy="4572000"/>
          </a:xfrm>
          <a:prstGeom prst="ellipse">
            <a:avLst/>
          </a:prstGeom>
          <a:solidFill>
            <a:srgbClr val="E8F5F3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20700000">
            <a:off x="-1371600" y="4114800"/>
            <a:ext cx="3657600" cy="3657600"/>
          </a:xfrm>
          <a:prstGeom prst="ellipse">
            <a:avLst/>
          </a:prstGeom>
          <a:solidFill>
            <a:srgbClr val="FEE5E0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600000">
            <a:off x="9144000" y="5029200"/>
            <a:ext cx="3200400" cy="2286000"/>
          </a:xfrm>
          <a:prstGeom prst="ellipse">
            <a:avLst/>
          </a:prstGeom>
          <a:solidFill>
            <a:srgbClr val="F7E19C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91440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defRPr sz="2200" b="0" i="0">
                <a:solidFill>
                  <a:srgbClr val="636E72"/>
                </a:solidFill>
                <a:latin typeface="Ogg Text TRIAL"/>
              </a:defRPr>
            </a:pPr>
            <a:r>
              <a:t>If anyone can create designs like this in seconds...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112772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6000" b="1" i="0">
                <a:solidFill>
                  <a:srgbClr val="2D3436"/>
                </a:solidFill>
                <a:latin typeface="Ogg TRIAL"/>
              </a:defRPr>
            </a:pPr>
            <a:r>
              <a:t>What happens to</a:t>
            </a:r>
            <a:br/>
            <a:r>
              <a:t>YOUR Etsy shop</a:t>
            </a:r>
            <a:br/>
            <a:r>
              <a:t>in 2026?</a:t>
            </a:r>
          </a:p>
        </p:txBody>
      </p:sp>
      <p:sp>
        <p:nvSpPr>
          <p:cNvPr id="8" name="Oval 7"/>
          <p:cNvSpPr/>
          <p:nvPr/>
        </p:nvSpPr>
        <p:spPr>
          <a:xfrm>
            <a:off x="9144000" y="4114800"/>
            <a:ext cx="2286000" cy="2286000"/>
          </a:xfrm>
          <a:prstGeom prst="ellipse">
            <a:avLst/>
          </a:prstGeom>
          <a:solidFill>
            <a:srgbClr val="FDD5CC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0" y="4206240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9600" b="1" i="0">
                <a:solidFill>
                  <a:srgbClr val="E07B6C"/>
                </a:solidFill>
                <a:latin typeface="Ogg TRIAL"/>
              </a:defRPr>
            </a:pPr>
            <a:r>
              <a:t>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DF8F3"/>
              </a:gs>
              <a:gs pos="100000">
                <a:srgbClr val="FEE5E0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1200000">
            <a:off x="9144000" y="-914400"/>
            <a:ext cx="4572000" cy="3657600"/>
          </a:xfrm>
          <a:prstGeom prst="ellipse">
            <a:avLst/>
          </a:prstGeom>
          <a:solidFill>
            <a:srgbClr val="E8F5F3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20400000">
            <a:off x="-914400" y="4572000"/>
            <a:ext cx="3657600" cy="3200400"/>
          </a:xfrm>
          <a:prstGeom prst="ellipse">
            <a:avLst/>
          </a:prstGeom>
          <a:solidFill>
            <a:srgbClr val="FDD5CC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4800" b="1" i="0">
                <a:solidFill>
                  <a:srgbClr val="2D3436"/>
                </a:solidFill>
                <a:latin typeface="Ogg TRIAL"/>
              </a:defRPr>
            </a:pPr>
            <a:r>
              <a:t>The numbers I'm about</a:t>
            </a:r>
            <a:br/>
            <a:r>
              <a:t>to show you aren't random...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3657600"/>
            <a:ext cx="7619695" cy="2011680"/>
          </a:xfrm>
          <a:prstGeom prst="roundRect">
            <a:avLst>
              <a:gd name="adj" fmla="val 8000"/>
            </a:avLst>
          </a:prstGeom>
          <a:solidFill>
            <a:srgbClr val="1B8A8A"/>
          </a:solidFill>
          <a:ln>
            <a:noFill/>
          </a:ln>
          <a:effectLst>
            <a:outerShdw blurRad="254000" dist="76200" dir="5400000" algn="tl" rotWithShape="0">
              <a:srgbClr val="2D3436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0" y="3931920"/>
            <a:ext cx="70710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1800" b="0" i="0">
                <a:solidFill>
                  <a:srgbClr val="FFFFFF"/>
                </a:solidFill>
                <a:latin typeface="Ogg Text TRIAL Medium"/>
              </a:defRPr>
            </a:pPr>
            <a:r>
              <a:t>These are from YOUR OWN ANSWERS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4480560"/>
            <a:ext cx="70710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1600" b="0" i="0">
                <a:solidFill>
                  <a:srgbClr val="5BBCB3"/>
                </a:solidFill>
                <a:latin typeface="Ogg Text TRIAL"/>
              </a:defRPr>
            </a:pPr>
            <a:r>
              <a:t>after I asked 160+ of you last week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5212080"/>
            <a:ext cx="2185415" cy="292608"/>
          </a:xfrm>
          <a:prstGeom prst="roundRect">
            <a:avLst>
              <a:gd name="adj" fmla="val 50000"/>
            </a:avLst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Ogg Text TRIAL Medium"/>
              </a:defRPr>
            </a:pPr>
            <a:r>
              <a:t>160+ SELLERS SURVEYED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1500000">
            <a:off x="8229600" y="-1371600"/>
            <a:ext cx="5486400" cy="4572000"/>
          </a:xfrm>
          <a:prstGeom prst="ellipse">
            <a:avLst/>
          </a:prstGeom>
          <a:solidFill>
            <a:srgbClr val="E8F5F3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20700000">
            <a:off x="-1371600" y="4114800"/>
            <a:ext cx="3657600" cy="3657600"/>
          </a:xfrm>
          <a:prstGeom prst="ellipse">
            <a:avLst/>
          </a:prstGeom>
          <a:solidFill>
            <a:srgbClr val="FEE5E0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600000">
            <a:off x="9144000" y="5029200"/>
            <a:ext cx="3200400" cy="2286000"/>
          </a:xfrm>
          <a:prstGeom prst="ellipse">
            <a:avLst/>
          </a:prstGeom>
          <a:solidFill>
            <a:srgbClr val="F7E19C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defRPr sz="12000" b="1" i="0">
                <a:solidFill>
                  <a:srgbClr val="E07B6C"/>
                </a:solidFill>
                <a:latin typeface="Ogg TRIAL"/>
              </a:defRPr>
            </a:pPr>
            <a:r>
              <a:t>75+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2400" b="0" i="0">
                <a:solidFill>
                  <a:srgbClr val="2D3436"/>
                </a:solidFill>
                <a:latin typeface="Ogg Text TRIAL"/>
              </a:defRPr>
            </a:pPr>
            <a:r>
              <a:t>sellers report their shops</a:t>
            </a:r>
            <a:br/>
            <a:r>
              <a:t>tanked in the last 2 months</a:t>
            </a:r>
          </a:p>
        </p:txBody>
      </p:sp>
      <p:sp>
        <p:nvSpPr>
          <p:cNvPr id="8" name="Oval 7"/>
          <p:cNvSpPr/>
          <p:nvPr/>
        </p:nvSpPr>
        <p:spPr>
          <a:xfrm>
            <a:off x="6217920" y="91440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720840" y="91440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223760" y="91440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26679" y="91440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0" y="91440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32520" y="91440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35440" y="91440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738360" y="91440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241280" y="91440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744200" y="91440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217920" y="141732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720840" y="141732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223760" y="141732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26679" y="141732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29600" y="141732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732520" y="141732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35440" y="141732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738360" y="141732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241280" y="141732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744200" y="141732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217920" y="192024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720840" y="192024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223760" y="192024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726679" y="192024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29600" y="192024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732520" y="192024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235440" y="192024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738360" y="192024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241280" y="192024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744200" y="192024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217920" y="242316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720840" y="242316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223760" y="242316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726679" y="242316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29600" y="242316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732520" y="242316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235440" y="242316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738360" y="242316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241280" y="242316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744200" y="242316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217920" y="292608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720840" y="292608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223760" y="292608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726679" y="292608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229600" y="292608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8732520" y="292608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235440" y="292608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738360" y="292608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241280" y="292608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0744200" y="292608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217920" y="342900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720840" y="342900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223760" y="342900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7726679" y="342900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229600" y="342900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732520" y="342900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9235440" y="342900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738360" y="342900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0241280" y="342900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0744200" y="342900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217920" y="393192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720840" y="393192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223760" y="393192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726679" y="393192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8229600" y="393192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8732520" y="393192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9235440" y="393192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9738360" y="393192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0241280" y="393192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0744200" y="393192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6217920" y="443484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6720840" y="443484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7223760" y="443484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7726679" y="443484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8229600" y="4434840"/>
            <a:ext cx="365760" cy="365760"/>
          </a:xfrm>
          <a:prstGeom prst="ellipse">
            <a:avLst/>
          </a:prstGeom>
          <a:solidFill>
            <a:srgbClr val="E07B6C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8732520" y="4434840"/>
            <a:ext cx="365760" cy="365760"/>
          </a:xfrm>
          <a:prstGeom prst="ellipse">
            <a:avLst/>
          </a:prstGeom>
          <a:solidFill>
            <a:srgbClr val="F5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9235440" y="4434840"/>
            <a:ext cx="365760" cy="365760"/>
          </a:xfrm>
          <a:prstGeom prst="ellipse">
            <a:avLst/>
          </a:prstGeom>
          <a:solidFill>
            <a:srgbClr val="F5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9738360" y="4434840"/>
            <a:ext cx="365760" cy="365760"/>
          </a:xfrm>
          <a:prstGeom prst="ellipse">
            <a:avLst/>
          </a:prstGeom>
          <a:solidFill>
            <a:srgbClr val="F5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0241280" y="4434840"/>
            <a:ext cx="365760" cy="365760"/>
          </a:xfrm>
          <a:prstGeom prst="ellipse">
            <a:avLst/>
          </a:prstGeom>
          <a:solidFill>
            <a:srgbClr val="F5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0744200" y="4434840"/>
            <a:ext cx="365760" cy="365760"/>
          </a:xfrm>
          <a:prstGeom prst="ellipse">
            <a:avLst/>
          </a:prstGeom>
          <a:solidFill>
            <a:srgbClr val="F5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548640" y="3840480"/>
            <a:ext cx="50292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54000" dist="76200" dir="5400000" algn="tl" rotWithShape="0">
              <a:srgbClr val="2D3436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2960" y="4114800"/>
            <a:ext cx="4480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1600" b="0" i="0">
                <a:solidFill>
                  <a:srgbClr val="636E72"/>
                </a:solidFill>
                <a:latin typeface="Ogg Text TRIAL"/>
              </a:defRPr>
            </a:pPr>
            <a:r>
              <a:t>If there are 4 people on your row in this chat,</a:t>
            </a:r>
            <a:br/>
            <a:r>
              <a:t>3 of them are feeling this...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DF8F3"/>
              </a:gs>
              <a:gs pos="100000">
                <a:srgbClr val="FEE5E0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1200000">
            <a:off x="9144000" y="-914400"/>
            <a:ext cx="4572000" cy="3657600"/>
          </a:xfrm>
          <a:prstGeom prst="ellipse">
            <a:avLst/>
          </a:prstGeom>
          <a:solidFill>
            <a:srgbClr val="E8F5F3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20400000">
            <a:off x="-914400" y="4572000"/>
            <a:ext cx="3657600" cy="3200400"/>
          </a:xfrm>
          <a:prstGeom prst="ellipse">
            <a:avLst/>
          </a:prstGeom>
          <a:solidFill>
            <a:srgbClr val="FDD5CC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914400"/>
            <a:ext cx="594360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54000" dist="76200" dir="5400000" algn="tl" rotWithShape="0">
              <a:srgbClr val="2D3436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28016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636E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Ogg Text TRIAL Medium"/>
              </a:defRPr>
            </a:pPr>
            <a:r>
              <a:t>VIEWS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2011680"/>
            <a:ext cx="18288" cy="2286000"/>
          </a:xfrm>
          <a:prstGeom prst="rect">
            <a:avLst/>
          </a:prstGeom>
          <a:solidFill>
            <a:srgbClr val="9CA3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71600" y="4297680"/>
            <a:ext cx="4572000" cy="18288"/>
          </a:xfrm>
          <a:prstGeom prst="rect">
            <a:avLst/>
          </a:prstGeom>
          <a:solidFill>
            <a:srgbClr val="9CA3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1600" y="4114800"/>
            <a:ext cx="4572000" cy="54864"/>
          </a:xfrm>
          <a:prstGeom prst="rect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32004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2800" b="1" i="0">
                <a:solidFill>
                  <a:srgbClr val="E07B6C"/>
                </a:solidFill>
                <a:latin typeface="Ogg TRIAL"/>
              </a:defRPr>
            </a:pPr>
            <a:r>
              <a:t>ZERO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09728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defRPr sz="9600" b="1" i="0">
                <a:solidFill>
                  <a:srgbClr val="1B8A8A"/>
                </a:solidFill>
                <a:latin typeface="Ogg TRIAL"/>
              </a:defRPr>
            </a:pPr>
            <a:r>
              <a:t>58+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56032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40000"/>
              </a:lnSpc>
              <a:defRPr sz="2200" b="0" i="0">
                <a:solidFill>
                  <a:srgbClr val="2D3436"/>
                </a:solidFill>
                <a:latin typeface="Ogg Text TRIAL"/>
              </a:defRPr>
            </a:pPr>
            <a:r>
              <a:t>sellers said their #1 problem:</a:t>
            </a:r>
            <a:br/>
            <a:r>
              <a:t>"No views anymore"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411480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40000"/>
              </a:lnSpc>
              <a:defRPr sz="1600" b="0" i="0">
                <a:solidFill>
                  <a:srgbClr val="636E72"/>
                </a:solidFill>
                <a:latin typeface="Ogg Text TRIAL"/>
              </a:defRPr>
            </a:pPr>
            <a:r>
              <a:t>"Not fewer views. Zero.</a:t>
            </a:r>
            <a:br/>
            <a:r>
              <a:t>Like a switch was flipped."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1500000">
            <a:off x="8229600" y="-1371600"/>
            <a:ext cx="5486400" cy="4572000"/>
          </a:xfrm>
          <a:prstGeom prst="ellipse">
            <a:avLst/>
          </a:prstGeom>
          <a:solidFill>
            <a:srgbClr val="E8F5F3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20700000">
            <a:off x="-1371600" y="4114800"/>
            <a:ext cx="3657600" cy="3657600"/>
          </a:xfrm>
          <a:prstGeom prst="ellipse">
            <a:avLst/>
          </a:prstGeom>
          <a:solidFill>
            <a:srgbClr val="FEE5E0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600000">
            <a:off x="9144000" y="5029200"/>
            <a:ext cx="3200400" cy="2286000"/>
          </a:xfrm>
          <a:prstGeom prst="ellipse">
            <a:avLst/>
          </a:prstGeom>
          <a:solidFill>
            <a:srgbClr val="F7E19C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73152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12000" b="1" i="0">
                <a:solidFill>
                  <a:srgbClr val="2D3436"/>
                </a:solidFill>
                <a:latin typeface="Ogg TRIAL"/>
              </a:defRPr>
            </a:pPr>
            <a:r>
              <a:t>47+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defRPr sz="2800" b="0" i="0">
                <a:solidFill>
                  <a:srgbClr val="636E72"/>
                </a:solidFill>
                <a:latin typeface="Ogg Text TRIAL"/>
              </a:defRPr>
            </a:pPr>
            <a:r>
              <a:t>said they have "No idea what to design"</a:t>
            </a:r>
          </a:p>
        </p:txBody>
      </p:sp>
      <p:sp>
        <p:nvSpPr>
          <p:cNvPr id="8" name="Oval 7"/>
          <p:cNvSpPr/>
          <p:nvPr/>
        </p:nvSpPr>
        <p:spPr>
          <a:xfrm>
            <a:off x="1097280" y="3474720"/>
            <a:ext cx="457200" cy="457200"/>
          </a:xfrm>
          <a:prstGeom prst="ellipse">
            <a:avLst/>
          </a:prstGeom>
          <a:solidFill>
            <a:srgbClr val="FDD5CC">
              <a:alpha val="3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49300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4000" b="0" i="0">
                <a:solidFill>
                  <a:srgbClr val="E07B6C"/>
                </a:solidFill>
                <a:latin typeface="Ogg TRIAL"/>
              </a:defRPr>
            </a:pPr>
            <a:r>
              <a:t>?</a:t>
            </a:r>
          </a:p>
        </p:txBody>
      </p:sp>
      <p:sp>
        <p:nvSpPr>
          <p:cNvPr id="10" name="Oval 9"/>
          <p:cNvSpPr/>
          <p:nvPr/>
        </p:nvSpPr>
        <p:spPr>
          <a:xfrm>
            <a:off x="2560320" y="3931920"/>
            <a:ext cx="457200" cy="457200"/>
          </a:xfrm>
          <a:prstGeom prst="ellipse">
            <a:avLst/>
          </a:prstGeom>
          <a:solidFill>
            <a:srgbClr val="9CA3A8">
              <a:alpha val="4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06039" y="3950207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2000" b="0" i="0">
                <a:solidFill>
                  <a:srgbClr val="E07B6C"/>
                </a:solidFill>
                <a:latin typeface="Ogg TRIAL"/>
              </a:defRPr>
            </a:pPr>
            <a:r>
              <a:t>?</a:t>
            </a:r>
          </a:p>
        </p:txBody>
      </p:sp>
      <p:sp>
        <p:nvSpPr>
          <p:cNvPr id="12" name="Oval 11"/>
          <p:cNvSpPr/>
          <p:nvPr/>
        </p:nvSpPr>
        <p:spPr>
          <a:xfrm>
            <a:off x="3840480" y="3291840"/>
            <a:ext cx="457200" cy="457200"/>
          </a:xfrm>
          <a:prstGeom prst="ellipse">
            <a:avLst/>
          </a:prstGeom>
          <a:solidFill>
            <a:srgbClr val="FDD5CC">
              <a:alpha val="4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86200" y="331012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2700" b="0" i="0">
                <a:solidFill>
                  <a:srgbClr val="E07B6C"/>
                </a:solidFill>
                <a:latin typeface="Ogg TRIAL"/>
              </a:defRPr>
            </a:pPr>
            <a:r>
              <a:t>?</a:t>
            </a:r>
          </a:p>
        </p:txBody>
      </p:sp>
      <p:sp>
        <p:nvSpPr>
          <p:cNvPr id="14" name="Oval 13"/>
          <p:cNvSpPr/>
          <p:nvPr/>
        </p:nvSpPr>
        <p:spPr>
          <a:xfrm>
            <a:off x="5303520" y="4114800"/>
            <a:ext cx="457200" cy="457200"/>
          </a:xfrm>
          <a:prstGeom prst="ellipse">
            <a:avLst/>
          </a:prstGeom>
          <a:solidFill>
            <a:srgbClr val="9CA3A8">
              <a:alpha val="3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40" y="4133087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2400" b="0" i="0">
                <a:solidFill>
                  <a:srgbClr val="E07B6C"/>
                </a:solidFill>
                <a:latin typeface="Ogg TRIAL"/>
              </a:defRPr>
            </a:pPr>
            <a:r>
              <a:t>?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0" y="3566160"/>
            <a:ext cx="457200" cy="457200"/>
          </a:xfrm>
          <a:prstGeom prst="ellipse">
            <a:avLst/>
          </a:prstGeom>
          <a:solidFill>
            <a:srgbClr val="FDD5CC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358444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3700" b="0" i="0">
                <a:solidFill>
                  <a:srgbClr val="E07B6C"/>
                </a:solidFill>
                <a:latin typeface="Ogg TRIAL"/>
              </a:defRPr>
            </a:pPr>
            <a:r>
              <a:t>?</a:t>
            </a:r>
          </a:p>
        </p:txBody>
      </p:sp>
      <p:sp>
        <p:nvSpPr>
          <p:cNvPr id="18" name="Oval 17"/>
          <p:cNvSpPr/>
          <p:nvPr/>
        </p:nvSpPr>
        <p:spPr>
          <a:xfrm>
            <a:off x="8046720" y="3840480"/>
            <a:ext cx="457200" cy="457200"/>
          </a:xfrm>
          <a:prstGeom prst="ellipse">
            <a:avLst/>
          </a:prstGeom>
          <a:solidFill>
            <a:srgbClr val="9CA3A8">
              <a:alpha val="5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92440" y="385876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3800" b="0" i="0">
                <a:solidFill>
                  <a:srgbClr val="E07B6C"/>
                </a:solidFill>
                <a:latin typeface="Ogg TRIAL"/>
              </a:defRPr>
            </a:pPr>
            <a:r>
              <a:t>?</a:t>
            </a:r>
          </a:p>
        </p:txBody>
      </p:sp>
      <p:sp>
        <p:nvSpPr>
          <p:cNvPr id="20" name="Oval 19"/>
          <p:cNvSpPr/>
          <p:nvPr/>
        </p:nvSpPr>
        <p:spPr>
          <a:xfrm>
            <a:off x="9418320" y="3383280"/>
            <a:ext cx="457200" cy="457200"/>
          </a:xfrm>
          <a:prstGeom prst="ellipse">
            <a:avLst/>
          </a:prstGeom>
          <a:solidFill>
            <a:srgbClr val="FDD5CC">
              <a:alpha val="31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64040" y="340156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2100" b="0" i="0">
                <a:solidFill>
                  <a:srgbClr val="E07B6C"/>
                </a:solidFill>
                <a:latin typeface="Ogg TRIAL"/>
              </a:defRPr>
            </a:pPr>
            <a:r>
              <a:t>?</a:t>
            </a:r>
          </a:p>
        </p:txBody>
      </p:sp>
      <p:sp>
        <p:nvSpPr>
          <p:cNvPr id="22" name="Oval 21"/>
          <p:cNvSpPr/>
          <p:nvPr/>
        </p:nvSpPr>
        <p:spPr>
          <a:xfrm>
            <a:off x="1645920" y="4572000"/>
            <a:ext cx="457200" cy="457200"/>
          </a:xfrm>
          <a:prstGeom prst="ellipse">
            <a:avLst/>
          </a:prstGeom>
          <a:solidFill>
            <a:srgbClr val="9CA3A8">
              <a:alpha val="4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91640" y="459028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2200" b="0" i="0">
                <a:solidFill>
                  <a:srgbClr val="E07B6C"/>
                </a:solidFill>
                <a:latin typeface="Ogg TRIAL"/>
              </a:defRPr>
            </a:pPr>
            <a:r>
              <a:t>?</a:t>
            </a:r>
          </a:p>
        </p:txBody>
      </p:sp>
      <p:sp>
        <p:nvSpPr>
          <p:cNvPr id="24" name="Oval 23"/>
          <p:cNvSpPr/>
          <p:nvPr/>
        </p:nvSpPr>
        <p:spPr>
          <a:xfrm>
            <a:off x="3200400" y="4846320"/>
            <a:ext cx="457200" cy="457200"/>
          </a:xfrm>
          <a:prstGeom prst="ellipse">
            <a:avLst/>
          </a:prstGeom>
          <a:solidFill>
            <a:srgbClr val="FDD5CC">
              <a:alpha val="6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46120" y="4864607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2700" b="0" i="0">
                <a:solidFill>
                  <a:srgbClr val="E07B6C"/>
                </a:solidFill>
                <a:latin typeface="Ogg TRIAL"/>
              </a:defRPr>
            </a:pPr>
            <a:r>
              <a:t>?</a:t>
            </a:r>
          </a:p>
        </p:txBody>
      </p:sp>
      <p:sp>
        <p:nvSpPr>
          <p:cNvPr id="26" name="Oval 25"/>
          <p:cNvSpPr/>
          <p:nvPr/>
        </p:nvSpPr>
        <p:spPr>
          <a:xfrm>
            <a:off x="5029200" y="4663440"/>
            <a:ext cx="457200" cy="457200"/>
          </a:xfrm>
          <a:prstGeom prst="ellipse">
            <a:avLst/>
          </a:prstGeom>
          <a:solidFill>
            <a:srgbClr val="9CA3A8">
              <a:alpha val="31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74920" y="4681727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3900" b="0" i="0">
                <a:solidFill>
                  <a:srgbClr val="E07B6C"/>
                </a:solidFill>
                <a:latin typeface="Ogg TRIAL"/>
              </a:defRPr>
            </a:pPr>
            <a:r>
              <a:t>?</a:t>
            </a:r>
          </a:p>
        </p:txBody>
      </p:sp>
      <p:sp>
        <p:nvSpPr>
          <p:cNvPr id="28" name="Oval 27"/>
          <p:cNvSpPr/>
          <p:nvPr/>
        </p:nvSpPr>
        <p:spPr>
          <a:xfrm>
            <a:off x="6858000" y="4937760"/>
            <a:ext cx="457200" cy="457200"/>
          </a:xfrm>
          <a:prstGeom prst="ellipse">
            <a:avLst/>
          </a:prstGeom>
          <a:solidFill>
            <a:srgbClr val="FDD5CC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495604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3700" b="0" i="0">
                <a:solidFill>
                  <a:srgbClr val="E07B6C"/>
                </a:solidFill>
                <a:latin typeface="Ogg TRIAL"/>
              </a:defRPr>
            </a:pPr>
            <a:r>
              <a:t>?</a:t>
            </a:r>
          </a:p>
        </p:txBody>
      </p:sp>
      <p:sp>
        <p:nvSpPr>
          <p:cNvPr id="30" name="Oval 29"/>
          <p:cNvSpPr/>
          <p:nvPr/>
        </p:nvSpPr>
        <p:spPr>
          <a:xfrm>
            <a:off x="8686800" y="4572000"/>
            <a:ext cx="457200" cy="457200"/>
          </a:xfrm>
          <a:prstGeom prst="ellipse">
            <a:avLst/>
          </a:prstGeom>
          <a:solidFill>
            <a:srgbClr val="9CA3A8">
              <a:alpha val="6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32520" y="459028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4000" b="0" i="0">
                <a:solidFill>
                  <a:srgbClr val="E07B6C"/>
                </a:solidFill>
                <a:latin typeface="Ogg TRIAL"/>
              </a:defRPr>
            </a:pPr>
            <a:r>
              <a:t>?</a:t>
            </a:r>
          </a:p>
        </p:txBody>
      </p:sp>
      <p:sp>
        <p:nvSpPr>
          <p:cNvPr id="32" name="Oval 31"/>
          <p:cNvSpPr/>
          <p:nvPr/>
        </p:nvSpPr>
        <p:spPr>
          <a:xfrm>
            <a:off x="10058400" y="4389120"/>
            <a:ext cx="457200" cy="457200"/>
          </a:xfrm>
          <a:prstGeom prst="ellipse">
            <a:avLst/>
          </a:prstGeom>
          <a:solidFill>
            <a:srgbClr val="FDD5CC">
              <a:alpha val="4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04120" y="4407407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3300" b="0" i="0">
                <a:solidFill>
                  <a:srgbClr val="E07B6C"/>
                </a:solidFill>
                <a:latin typeface="Ogg TRIAL"/>
              </a:defRPr>
            </a:pPr>
            <a:r>
              <a:t>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828800" y="5486400"/>
            <a:ext cx="8534095" cy="822960"/>
          </a:xfrm>
          <a:prstGeom prst="roundRect">
            <a:avLst>
              <a:gd name="adj" fmla="val 8000"/>
            </a:avLst>
          </a:prstGeom>
          <a:solidFill>
            <a:srgbClr val="1B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103120" y="5623560"/>
            <a:ext cx="7985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1600" b="0" i="0">
                <a:solidFill>
                  <a:srgbClr val="FFFFFF"/>
                </a:solidFill>
                <a:latin typeface="Ogg Text TRIAL"/>
              </a:defRPr>
            </a:pPr>
            <a:r>
              <a:t>They're not lazy. They're paralyzed because the rules changed.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EE5E0"/>
              </a:gs>
              <a:gs pos="100000">
                <a:srgbClr val="FDF8F3"/>
              </a:gs>
            </a:gsLst>
            <a:lin scaled="0" ang="10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4572000"/>
            <a:ext cx="3657600" cy="2743200"/>
          </a:xfrm>
          <a:prstGeom prst="ellipse">
            <a:avLst/>
          </a:prstGeom>
          <a:solidFill>
            <a:srgbClr val="FDD5CC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0" y="-914400"/>
            <a:ext cx="3657600" cy="3657600"/>
          </a:xfrm>
          <a:prstGeom prst="ellipse">
            <a:avLst/>
          </a:prstGeom>
          <a:solidFill>
            <a:srgbClr val="E8F5F3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28800" y="1371600"/>
            <a:ext cx="8534095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254000" dist="76200" dir="5400000" algn="tl" rotWithShape="0">
              <a:srgbClr val="2D3436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2011680"/>
            <a:ext cx="76196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4400" b="1" i="0">
                <a:solidFill>
                  <a:srgbClr val="2D3436"/>
                </a:solidFill>
                <a:latin typeface="Ogg TRIAL"/>
              </a:defRPr>
            </a:pPr>
            <a:r>
              <a:t>Does anyone else</a:t>
            </a:r>
            <a:br/>
            <a:r>
              <a:t>feel that way?</a:t>
            </a:r>
          </a:p>
        </p:txBody>
      </p:sp>
      <p:sp>
        <p:nvSpPr>
          <p:cNvPr id="7" name="Oval 6"/>
          <p:cNvSpPr/>
          <p:nvPr/>
        </p:nvSpPr>
        <p:spPr>
          <a:xfrm>
            <a:off x="4572000" y="3840480"/>
            <a:ext cx="3047695" cy="914400"/>
          </a:xfrm>
          <a:prstGeom prst="ellipse">
            <a:avLst/>
          </a:prstGeom>
          <a:solidFill>
            <a:srgbClr val="1B8A8A"/>
          </a:solidFill>
          <a:ln>
            <a:noFill/>
          </a:ln>
          <a:effectLst>
            <a:outerShdw blurRad="127000" dist="38100" dir="5400000" algn="tl" rotWithShape="0">
              <a:srgbClr val="2D3436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3977639"/>
            <a:ext cx="2681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1800" b="0" i="0">
                <a:solidFill>
                  <a:srgbClr val="FFFFFF"/>
                </a:solidFill>
                <a:latin typeface="Ogg Text TRIAL Medium"/>
              </a:defRPr>
            </a:pPr>
            <a:r>
              <a:t>Type "YES" in chat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5303520"/>
            <a:ext cx="85340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defRPr sz="1600" b="0" i="0">
                <a:solidFill>
                  <a:srgbClr val="636E72"/>
                </a:solidFill>
                <a:latin typeface="Ogg Text TRIAL"/>
              </a:defRPr>
            </a:pPr>
            <a:r>
              <a:t>I'm curious how many of you are seeing the same problems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1500000">
            <a:off x="8229600" y="-1371600"/>
            <a:ext cx="5486400" cy="4572000"/>
          </a:xfrm>
          <a:prstGeom prst="ellipse">
            <a:avLst/>
          </a:prstGeom>
          <a:solidFill>
            <a:srgbClr val="E8F5F3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20700000">
            <a:off x="-1371600" y="4114800"/>
            <a:ext cx="3657600" cy="3657600"/>
          </a:xfrm>
          <a:prstGeom prst="ellipse">
            <a:avLst/>
          </a:prstGeom>
          <a:solidFill>
            <a:srgbClr val="FEE5E0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600000">
            <a:off x="9144000" y="5029200"/>
            <a:ext cx="3200400" cy="2286000"/>
          </a:xfrm>
          <a:prstGeom prst="ellipse">
            <a:avLst/>
          </a:prstGeom>
          <a:solidFill>
            <a:srgbClr val="F7E19C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defRPr sz="2400" b="0" i="0">
                <a:solidFill>
                  <a:srgbClr val="636E72"/>
                </a:solidFill>
                <a:latin typeface="Ogg Text TRIAL"/>
              </a:defRPr>
            </a:pPr>
            <a:r>
              <a:t>So the real question isn't: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4400" b="0" i="0">
                <a:solidFill>
                  <a:srgbClr val="9CA3A8"/>
                </a:solidFill>
                <a:latin typeface="Ogg TRIAL"/>
              </a:defRPr>
            </a:pPr>
            <a:r>
              <a:t>"How do I make more listings?"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3383280"/>
            <a:ext cx="7619695" cy="54864"/>
          </a:xfrm>
          <a:prstGeom prst="rect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45920" y="2743200"/>
            <a:ext cx="1097280" cy="1097280"/>
          </a:xfrm>
          <a:prstGeom prst="ellipse">
            <a:avLst/>
          </a:prstGeom>
          <a:solidFill>
            <a:srgbClr val="FDD5CC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2834640"/>
            <a:ext cx="731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3200" b="1" i="0">
                <a:solidFill>
                  <a:srgbClr val="E07B6C"/>
                </a:solidFill>
                <a:latin typeface="Ogg TRIAL"/>
              </a:defRPr>
            </a:pPr>
            <a:r>
              <a:t>X</a:t>
            </a:r>
          </a:p>
        </p:txBody>
      </p:sp>
      <p:sp>
        <p:nvSpPr>
          <p:cNvPr id="11" name="Oval 10"/>
          <p:cNvSpPr/>
          <p:nvPr/>
        </p:nvSpPr>
        <p:spPr>
          <a:xfrm>
            <a:off x="9418320" y="2743200"/>
            <a:ext cx="1097280" cy="1097280"/>
          </a:xfrm>
          <a:prstGeom prst="ellipse">
            <a:avLst/>
          </a:prstGeom>
          <a:solidFill>
            <a:srgbClr val="FDD5CC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0" y="2834640"/>
            <a:ext cx="731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3200" b="1" i="0">
                <a:solidFill>
                  <a:srgbClr val="E07B6C"/>
                </a:solidFill>
                <a:latin typeface="Ogg TRIAL"/>
              </a:defRPr>
            </a:pPr>
            <a:r>
              <a:t>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D3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21000000">
            <a:off x="3657600" y="1828800"/>
            <a:ext cx="6400800" cy="4572000"/>
          </a:xfrm>
          <a:prstGeom prst="ellipse">
            <a:avLst/>
          </a:prstGeom>
          <a:solidFill>
            <a:srgbClr val="E07B6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628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6000" b="1" i="0">
                <a:solidFill>
                  <a:srgbClr val="FFFFFF"/>
                </a:solidFill>
                <a:latin typeface="Ogg TRIAL"/>
              </a:defRPr>
            </a:pPr>
            <a:r>
              <a:t>Is Etsy even worth</a:t>
            </a:r>
            <a:br/>
            <a:r>
              <a:t>pursuing in 2026?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5303520"/>
            <a:ext cx="3047695" cy="54864"/>
          </a:xfrm>
          <a:prstGeom prst="rect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DF8F3"/>
              </a:gs>
              <a:gs pos="100000">
                <a:srgbClr val="FEE5E0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1200000">
            <a:off x="9144000" y="-914400"/>
            <a:ext cx="4572000" cy="3657600"/>
          </a:xfrm>
          <a:prstGeom prst="ellipse">
            <a:avLst/>
          </a:prstGeom>
          <a:solidFill>
            <a:srgbClr val="E8F5F3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20400000">
            <a:off x="-914400" y="4572000"/>
            <a:ext cx="3657600" cy="3200400"/>
          </a:xfrm>
          <a:prstGeom prst="ellipse">
            <a:avLst/>
          </a:prstGeom>
          <a:solidFill>
            <a:srgbClr val="FDD5CC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4400" b="1" i="0">
                <a:solidFill>
                  <a:srgbClr val="2D3436"/>
                </a:solidFill>
                <a:latin typeface="Ogg TRIAL"/>
              </a:defRPr>
            </a:pPr>
            <a:r>
              <a:t>I'm going to answer that</a:t>
            </a:r>
            <a:br/>
            <a:r>
              <a:t>question tonight.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3474720"/>
            <a:ext cx="6705295" cy="2011680"/>
          </a:xfrm>
          <a:prstGeom prst="roundRect">
            <a:avLst>
              <a:gd name="adj" fmla="val 8000"/>
            </a:avLst>
          </a:prstGeom>
          <a:solidFill>
            <a:srgbClr val="1B8A8A"/>
          </a:solidFill>
          <a:ln>
            <a:noFill/>
          </a:ln>
          <a:effectLst>
            <a:outerShdw blurRad="254000" dist="76200" dir="5400000" algn="tl" rotWithShape="0">
              <a:srgbClr val="2D3436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3749039"/>
            <a:ext cx="6156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2000" b="0" i="0">
                <a:solidFill>
                  <a:srgbClr val="5BBCB3"/>
                </a:solidFill>
                <a:latin typeface="Ogg Text TRIAL"/>
              </a:defRPr>
            </a:pPr>
            <a:r>
              <a:t>And the answer?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297680"/>
            <a:ext cx="6156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3200" b="1" i="0">
                <a:solidFill>
                  <a:srgbClr val="FFFFFF"/>
                </a:solidFill>
                <a:latin typeface="Ogg TRIAL"/>
              </a:defRPr>
            </a:pPr>
            <a:r>
              <a:t>It might honestly</a:t>
            </a:r>
            <a:br/>
            <a:r>
              <a:t>surprise you.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1500000">
            <a:off x="8229600" y="-1371600"/>
            <a:ext cx="5486400" cy="4572000"/>
          </a:xfrm>
          <a:prstGeom prst="ellipse">
            <a:avLst/>
          </a:prstGeom>
          <a:solidFill>
            <a:srgbClr val="E8F5F3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20700000">
            <a:off x="-1371600" y="4114800"/>
            <a:ext cx="3657600" cy="3657600"/>
          </a:xfrm>
          <a:prstGeom prst="ellipse">
            <a:avLst/>
          </a:prstGeom>
          <a:solidFill>
            <a:srgbClr val="FEE5E0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600000">
            <a:off x="9144000" y="5029200"/>
            <a:ext cx="3200400" cy="2286000"/>
          </a:xfrm>
          <a:prstGeom prst="ellipse">
            <a:avLst/>
          </a:prstGeom>
          <a:solidFill>
            <a:srgbClr val="F7E19C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4864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defRPr sz="1600" b="0" i="0">
                <a:solidFill>
                  <a:srgbClr val="636E72"/>
                </a:solidFill>
                <a:latin typeface="Ogg Text TRIAL"/>
              </a:defRPr>
            </a:pPr>
            <a:r>
              <a:t>Because what nobody is talking about is this: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188720"/>
            <a:ext cx="10362895" cy="2560320"/>
          </a:xfrm>
          <a:prstGeom prst="roundRect">
            <a:avLst>
              <a:gd name="adj" fmla="val 8000"/>
            </a:avLst>
          </a:prstGeom>
          <a:solidFill>
            <a:srgbClr val="1B8A8A"/>
          </a:solidFill>
          <a:ln>
            <a:noFill/>
          </a:ln>
          <a:effectLst>
            <a:outerShdw blurRad="254000" dist="76200" dir="5400000" algn="tl" rotWithShape="0">
              <a:srgbClr val="2D3436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463040"/>
            <a:ext cx="98142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2400" b="0" i="0">
                <a:solidFill>
                  <a:srgbClr val="5BBCB3"/>
                </a:solidFill>
                <a:latin typeface="Ogg Text TRIAL"/>
              </a:defRPr>
            </a:pPr>
            <a:r>
              <a:t>The AI flood actually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011680"/>
            <a:ext cx="98142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5200" b="1" i="0">
                <a:solidFill>
                  <a:srgbClr val="FFFFFF"/>
                </a:solidFill>
                <a:latin typeface="Ogg TRIAL"/>
              </a:defRPr>
            </a:pPr>
            <a:r>
              <a:t>CREATES an opportunity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defRPr sz="2200" b="0" i="0">
                <a:solidFill>
                  <a:srgbClr val="2D3436"/>
                </a:solidFill>
                <a:latin typeface="Ogg Text TRIAL"/>
              </a:defRPr>
            </a:pPr>
            <a:r>
              <a:t>— for a very specific type of seller...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0" y="4572000"/>
            <a:ext cx="3962095" cy="1097280"/>
          </a:xfrm>
          <a:prstGeom prst="ellipse">
            <a:avLst/>
          </a:prstGeom>
          <a:solidFill>
            <a:srgbClr val="E07B6C"/>
          </a:solidFill>
          <a:ln>
            <a:noFill/>
          </a:ln>
          <a:effectLst>
            <a:outerShdw blurRad="127000" dist="38100" dir="5400000" algn="tl" rotWithShape="0">
              <a:srgbClr val="2D3436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4709160"/>
            <a:ext cx="30476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defRPr sz="3600" b="1" i="0">
                <a:solidFill>
                  <a:srgbClr val="FFFFFF"/>
                </a:solidFill>
                <a:latin typeface="Ogg TRIAL"/>
              </a:defRPr>
            </a:pPr>
            <a:r>
              <a:t>BUT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85216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defRPr sz="1800" b="0" i="0">
                <a:solidFill>
                  <a:srgbClr val="636E72"/>
                </a:solidFill>
                <a:latin typeface="Ogg Text TRIAL"/>
              </a:defRPr>
            </a:pPr>
            <a:r>
              <a:t>Only if you understand what's really happening...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