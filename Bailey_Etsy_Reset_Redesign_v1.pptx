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B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457200"/>
            <a:ext cx="1463040" cy="320040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DAY 1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91440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800" b="0" i="0">
                <a:solidFill>
                  <a:srgbClr val="1B8A8A"/>
                </a:solidFill>
                <a:latin typeface="Ogg TRIAL"/>
              </a:defRPr>
            </a:pPr>
            <a:r>
              <a:t>THE 2026 ETSY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109728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0" b="1" i="0">
                <a:solidFill>
                  <a:srgbClr val="2D3436"/>
                </a:solidFill>
                <a:latin typeface="Ogg TRIAL"/>
              </a:defRPr>
            </a:pPr>
            <a:r>
              <a:t>RESET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749039"/>
            <a:ext cx="73152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200" b="0" i="0">
                <a:solidFill>
                  <a:srgbClr val="636E72"/>
                </a:solidFill>
                <a:latin typeface="Arial"/>
              </a:defRPr>
            </a:pPr>
            <a:r>
              <a:t>Delete the Dead Weight. Find Your Focus.</a:t>
            </a:r>
            <a:br/>
            <a:r>
              <a:t>Build a Shop That Actually Works.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5303520"/>
            <a:ext cx="6858000" cy="822960"/>
          </a:xfrm>
          <a:prstGeom prst="roundRect">
            <a:avLst>
              <a:gd name="adj" fmla="val 5000"/>
            </a:avLst>
          </a:prstGeom>
          <a:solidFill>
            <a:srgbClr val="1B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Arial"/>
              </a:rPr>
              <a:t>with </a:t>
            </a:r>
            <a:r>
              <a:rPr sz="1400" b="1">
                <a:solidFill>
                  <a:srgbClr val="FFFFFF"/>
                </a:solidFill>
                <a:latin typeface="Arial"/>
              </a:rPr>
              <a:t>Bailey Vann</a:t>
            </a:r>
            <a:r>
              <a:rPr sz="1400">
                <a:solidFill>
                  <a:srgbClr val="FFFFFF"/>
                </a:solidFill>
                <a:latin typeface="Arial"/>
              </a:rPr>
              <a:t>  •  Top 0.1% Etsy Seller  •  $1M+ in Digital Product Sales</a:t>
            </a:r>
          </a:p>
        </p:txBody>
      </p:sp>
      <p:sp>
        <p:nvSpPr>
          <p:cNvPr id="9" name="Oval 8"/>
          <p:cNvSpPr/>
          <p:nvPr/>
        </p:nvSpPr>
        <p:spPr>
          <a:xfrm>
            <a:off x="8686800" y="1371600"/>
            <a:ext cx="4572000" cy="4572000"/>
          </a:xfrm>
          <a:prstGeom prst="ellipse">
            <a:avLst/>
          </a:prstGeom>
          <a:solidFill>
            <a:srgbClr val="2BA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75520" y="4114800"/>
            <a:ext cx="2286000" cy="2286000"/>
          </a:xfrm>
          <a:prstGeom prst="ellipse">
            <a:avLst/>
          </a:prstGeom>
          <a:solidFill>
            <a:srgbClr val="F4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286000" y="1371600"/>
            <a:ext cx="7619695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0" y="1828800"/>
            <a:ext cx="7619695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4200" b="1" i="0">
                <a:solidFill>
                  <a:srgbClr val="2D3436"/>
                </a:solidFill>
                <a:latin typeface="Ogg TRIAL"/>
              </a:defRPr>
            </a:pPr>
            <a:r>
              <a:t>Before We Begin...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2834640"/>
            <a:ext cx="2133295" cy="27432"/>
          </a:xfrm>
          <a:prstGeom prst="rect">
            <a:avLst/>
          </a:prstGeom>
          <a:solidFill>
            <a:srgbClr val="1B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9120" y="3200400"/>
            <a:ext cx="3383280" cy="548640"/>
          </a:xfrm>
          <a:prstGeom prst="roundRect">
            <a:avLst>
              <a:gd name="adj" fmla="val 5000"/>
            </a:avLst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QUICK POP QUIZ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4114800"/>
            <a:ext cx="7619695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800" b="0" i="0">
                <a:solidFill>
                  <a:srgbClr val="636E72"/>
                </a:solidFill>
                <a:latin typeface="Arial"/>
              </a:defRPr>
            </a:pPr>
            <a:r>
              <a:t>I want to show you something that might change</a:t>
            </a:r>
            <a:br/>
            <a:r>
              <a:t>how you think about Etsy in 2026...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E5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200400" y="1828800"/>
            <a:ext cx="5790895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 rot="10800000">
            <a:off x="3840480" y="4023360"/>
            <a:ext cx="548640" cy="457200"/>
          </a:xfrm>
          <a:prstGeom prst="triangl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0" y="2286000"/>
            <a:ext cx="5242255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3600" b="1" i="0">
                <a:solidFill>
                  <a:srgbClr val="2D3436"/>
                </a:solidFill>
                <a:latin typeface="Ogg TRIAL"/>
              </a:defRPr>
            </a:pPr>
            <a:r>
              <a:t>Get ready to type</a:t>
            </a:r>
            <a:br/>
            <a:r>
              <a:t>in the chat!</a:t>
            </a:r>
          </a:p>
        </p:txBody>
      </p:sp>
      <p:sp>
        <p:nvSpPr>
          <p:cNvPr id="6" name="Oval 5"/>
          <p:cNvSpPr/>
          <p:nvPr/>
        </p:nvSpPr>
        <p:spPr>
          <a:xfrm>
            <a:off x="5486400" y="5029200"/>
            <a:ext cx="228600" cy="228600"/>
          </a:xfrm>
          <a:prstGeom prst="ellipse">
            <a:avLst/>
          </a:prstGeom>
          <a:solidFill>
            <a:srgbClr val="1B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852160" y="5029200"/>
            <a:ext cx="228600" cy="228600"/>
          </a:xfrm>
          <a:prstGeom prst="ellipse">
            <a:avLst/>
          </a:prstGeom>
          <a:solidFill>
            <a:srgbClr val="1B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217920" y="5029200"/>
            <a:ext cx="228600" cy="228600"/>
          </a:xfrm>
          <a:prstGeom prst="ellipse">
            <a:avLst/>
          </a:prstGeom>
          <a:solidFill>
            <a:srgbClr val="1B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5486400"/>
            <a:ext cx="8534095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600" b="0" i="0">
                <a:solidFill>
                  <a:srgbClr val="636E72"/>
                </a:solidFill>
                <a:latin typeface="Arial"/>
              </a:defRPr>
            </a:pPr>
            <a:r>
              <a:t>This is interactive — your answers matter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3200" b="1" i="0">
                <a:solidFill>
                  <a:srgbClr val="2D3436"/>
                </a:solidFill>
                <a:latin typeface="Ogg TRIAL"/>
              </a:defRPr>
            </a:pPr>
            <a:r>
              <a:t>Which design was made by a professional artist?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463040"/>
            <a:ext cx="5029200" cy="4389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737360"/>
            <a:ext cx="4572000" cy="3200400"/>
          </a:xfrm>
          <a:prstGeom prst="roundRect">
            <a:avLst>
              <a:gd name="adj" fmla="val 5000"/>
            </a:avLst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457200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600" b="0" i="0">
                <a:solidFill>
                  <a:srgbClr val="636E72"/>
                </a:solidFill>
                <a:latin typeface="Arial"/>
              </a:defRPr>
            </a:pPr>
            <a:r>
              <a:t>[Image A]</a:t>
            </a:r>
          </a:p>
        </p:txBody>
      </p:sp>
      <p:sp>
        <p:nvSpPr>
          <p:cNvPr id="7" name="Oval 6"/>
          <p:cNvSpPr/>
          <p:nvPr/>
        </p:nvSpPr>
        <p:spPr>
          <a:xfrm>
            <a:off x="2743200" y="5120640"/>
            <a:ext cx="640080" cy="640080"/>
          </a:xfrm>
          <a:prstGeom prst="ellipse">
            <a:avLst/>
          </a:prstGeom>
          <a:solidFill>
            <a:srgbClr val="1B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  <a:latin typeface="Ogg TRIAL"/>
              </a:defRPr>
            </a:pPr>
            <a:r>
              <a:t>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76695" y="1463040"/>
            <a:ext cx="5029200" cy="4389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705295" y="1737360"/>
            <a:ext cx="4572000" cy="3200400"/>
          </a:xfrm>
          <a:prstGeom prst="roundRect">
            <a:avLst>
              <a:gd name="adj" fmla="val 5000"/>
            </a:avLst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05295" y="2926080"/>
            <a:ext cx="457200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600" b="0" i="0">
                <a:solidFill>
                  <a:srgbClr val="636E72"/>
                </a:solidFill>
                <a:latin typeface="Arial"/>
              </a:defRPr>
            </a:pPr>
            <a:r>
              <a:t>[Image B]</a:t>
            </a:r>
          </a:p>
        </p:txBody>
      </p:sp>
      <p:sp>
        <p:nvSpPr>
          <p:cNvPr id="11" name="Oval 10"/>
          <p:cNvSpPr/>
          <p:nvPr/>
        </p:nvSpPr>
        <p:spPr>
          <a:xfrm>
            <a:off x="8534095" y="5120640"/>
            <a:ext cx="640080" cy="64008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  <a:latin typeface="Ogg TRIAL"/>
              </a:defRPr>
            </a:pPr>
            <a: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3200400"/>
            <a:ext cx="1218895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 i="0">
                <a:solidFill>
                  <a:srgbClr val="636E72"/>
                </a:solidFill>
                <a:latin typeface="Ogg TRIAL"/>
              </a:defRPr>
            </a:pPr>
            <a:r>
              <a:t>VS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8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400" b="1" i="0">
                <a:solidFill>
                  <a:srgbClr val="FFFFFF"/>
                </a:solidFill>
                <a:latin typeface="Ogg TRIAL"/>
              </a:defRPr>
            </a:pPr>
            <a:r>
              <a:t>Type A or B in the chat!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3840480"/>
            <a:ext cx="182880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800" b="1">
                <a:solidFill>
                  <a:srgbClr val="1B8A8A"/>
                </a:solidFill>
                <a:latin typeface="Ogg TRIAL"/>
              </a:defRPr>
            </a:pPr>
            <a:r>
              <a:t>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05295" y="3840480"/>
            <a:ext cx="1828800" cy="1371600"/>
          </a:xfrm>
          <a:prstGeom prst="roundRect">
            <a:avLst>
              <a:gd name="adj" fmla="val 5000"/>
            </a:avLst>
          </a:prstGeom>
          <a:solidFill>
            <a:srgbClr val="E07B6C"/>
          </a:solidFill>
          <a:ln>
            <a:noFill/>
          </a:ln>
          <a:effectLst>
            <a:outerShdw blurRad="76200" dist="38100" dir="54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800" b="1">
                <a:solidFill>
                  <a:srgbClr val="FFFFFF"/>
                </a:solidFill>
                <a:latin typeface="Ogg TRIAL"/>
              </a:defRPr>
            </a:pPr>
            <a: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4114800"/>
            <a:ext cx="1218895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400" b="0" i="0">
                <a:solidFill>
                  <a:srgbClr val="FFFFFF"/>
                </a:solidFill>
                <a:latin typeface="Arial"/>
              </a:defRPr>
            </a:pPr>
            <a:r>
              <a:t>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6400" b="1" i="0">
                <a:solidFill>
                  <a:srgbClr val="2D3436"/>
                </a:solidFill>
                <a:latin typeface="Ogg TRIAL"/>
              </a:defRPr>
            </a:pPr>
            <a:r>
              <a:t>The Answer Is...</a:t>
            </a:r>
          </a:p>
        </p:txBody>
      </p:sp>
      <p:sp>
        <p:nvSpPr>
          <p:cNvPr id="5" name="Oval 4"/>
          <p:cNvSpPr/>
          <p:nvPr/>
        </p:nvSpPr>
        <p:spPr>
          <a:xfrm>
            <a:off x="5669280" y="4114800"/>
            <a:ext cx="137160" cy="137160"/>
          </a:xfrm>
          <a:prstGeom prst="ellipse">
            <a:avLst/>
          </a:prstGeom>
          <a:solidFill>
            <a:srgbClr val="1B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89320" y="4114800"/>
            <a:ext cx="137160" cy="137160"/>
          </a:xfrm>
          <a:prstGeom prst="ellipse">
            <a:avLst/>
          </a:prstGeom>
          <a:solidFill>
            <a:srgbClr val="1B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309360" y="4114800"/>
            <a:ext cx="137160" cy="137160"/>
          </a:xfrm>
          <a:prstGeom prst="ellipse">
            <a:avLst/>
          </a:prstGeom>
          <a:solidFill>
            <a:srgbClr val="1B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07B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645920"/>
            <a:ext cx="10820095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6000" b="1" i="0">
                <a:solidFill>
                  <a:srgbClr val="FFFFFF"/>
                </a:solidFill>
                <a:latin typeface="Ogg TRIAL"/>
              </a:defRPr>
            </a:pPr>
            <a:r>
              <a:t>Both Were Made by AI.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00400" y="3657600"/>
            <a:ext cx="5790895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0" y="3931920"/>
            <a:ext cx="5790895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400" b="0" i="0">
                <a:solidFill>
                  <a:srgbClr val="2D3436"/>
                </a:solidFill>
                <a:latin typeface="Arial"/>
              </a:defRPr>
            </a:pPr>
            <a:r>
              <a:t>In less than 30 seconds.</a:t>
            </a:r>
            <a:br/>
            <a:r>
              <a:t>For free.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371600"/>
            <a:ext cx="9448495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828800"/>
            <a:ext cx="8534095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200" b="0" i="0">
                <a:solidFill>
                  <a:srgbClr val="636E72"/>
                </a:solidFill>
                <a:latin typeface="Ogg TRIAL"/>
              </a:defRPr>
            </a:pPr>
            <a:r>
              <a:t>Yes, we all use AI nowadays...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2743200"/>
            <a:ext cx="2743200" cy="18288"/>
          </a:xfrm>
          <a:prstGeom prst="rect">
            <a:avLst/>
          </a:prstGeom>
          <a:solidFill>
            <a:srgbClr val="1B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3017520"/>
            <a:ext cx="8534095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400" b="0" i="0">
                <a:solidFill>
                  <a:srgbClr val="2D3436"/>
                </a:solidFill>
                <a:latin typeface="Arial"/>
              </a:defRPr>
            </a:pPr>
            <a:r>
              <a:t>But in 2026, they've gotten so good that</a:t>
            </a:r>
            <a:br/>
            <a:r>
              <a:t>hiring someone REAL is starting to become</a:t>
            </a:r>
            <a:br/>
            <a:r>
              <a:t>just an option...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4846320"/>
            <a:ext cx="2560320" cy="457200"/>
          </a:xfrm>
          <a:prstGeom prst="roundRect">
            <a:avLst>
              <a:gd name="adj" fmla="val 5000"/>
            </a:avLst>
          </a:prstGeom>
          <a:solidFill>
            <a:srgbClr val="F4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4892040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600" b="1" i="0">
                <a:solidFill>
                  <a:srgbClr val="E07B6C"/>
                </a:solidFill>
                <a:latin typeface="Arial"/>
              </a:defRPr>
            </a:pPr>
            <a:r>
              <a:t>just an option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10362895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4200" b="0" i="0">
                <a:solidFill>
                  <a:srgbClr val="1B8A8A"/>
                </a:solidFill>
                <a:latin typeface="Ogg TRIAL"/>
              </a:defRPr>
            </a:pPr>
            <a:r>
              <a:t>Let that sink in for a second.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4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448495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3600" b="0" i="0">
                <a:solidFill>
                  <a:srgbClr val="FFFFFF"/>
                </a:solidFill>
                <a:latin typeface="Ogg TRIAL"/>
              </a:defRPr>
            </a:pPr>
            <a:r>
              <a:t>Now let me ask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9448495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4800" b="1" i="0">
                <a:solidFill>
                  <a:srgbClr val="E07B6C"/>
                </a:solidFill>
                <a:latin typeface="Ogg TRIAL"/>
              </a:defRPr>
            </a:pPr>
            <a:r>
              <a:t>something uncomfortable...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400" b="0" i="0">
                <a:solidFill>
                  <a:srgbClr val="636E72"/>
                </a:solidFill>
                <a:latin typeface="Arial"/>
              </a:defRPr>
            </a:pPr>
            <a:r>
              <a:t>If anyone can create designs like this in seconds...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60320"/>
            <a:ext cx="10820095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400" b="1" i="0">
                <a:solidFill>
                  <a:srgbClr val="2D3436"/>
                </a:solidFill>
                <a:latin typeface="Ogg TRIAL"/>
              </a:defRPr>
            </a:pPr>
            <a:r>
              <a:t>What happens to YOUR</a:t>
            </a:r>
            <a:br/>
            <a:r>
              <a:t>Etsy shop in 2026?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4389120"/>
            <a:ext cx="18288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0" b="0" i="0">
                <a:solidFill>
                  <a:srgbClr val="F4A89A"/>
                </a:solidFill>
                <a:latin typeface="Ogg TRIAL"/>
              </a:defRPr>
            </a:pPr>
            <a:r>
              <a:t>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48495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4000" b="1" i="0">
                <a:solidFill>
                  <a:srgbClr val="2D3436"/>
                </a:solidFill>
                <a:latin typeface="Ogg TRIAL"/>
              </a:defRPr>
            </a:pPr>
            <a:r>
              <a:t>The numbers I'm about to show you</a:t>
            </a:r>
            <a:br/>
            <a:r>
              <a:t>aren't random...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3840480"/>
            <a:ext cx="6705295" cy="1645920"/>
          </a:xfrm>
          <a:prstGeom prst="roundRect">
            <a:avLst>
              <a:gd name="adj" fmla="val 5000"/>
            </a:avLst>
          </a:prstGeom>
          <a:solidFill>
            <a:srgbClr val="1B8A8A"/>
          </a:solidFill>
          <a:ln>
            <a:noFill/>
          </a:ln>
          <a:effectLst>
            <a:outerShdw blurRad="76200" dist="38100" dir="54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0" y="4114800"/>
            <a:ext cx="6339535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0" i="0">
                <a:solidFill>
                  <a:srgbClr val="FFFFFF"/>
                </a:solidFill>
                <a:latin typeface="Arial"/>
              </a:defRPr>
            </a:pPr>
            <a:r>
              <a:t>These are from YOUR OWN ANSWERS</a:t>
            </a:r>
            <a:br/>
            <a:r>
              <a:t>after I asked 160+ of you last week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0" y="5669280"/>
            <a:ext cx="1554480" cy="457200"/>
          </a:xfrm>
          <a:prstGeom prst="roundRect">
            <a:avLst>
              <a:gd name="adj" fmla="val 5000"/>
            </a:avLst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Arial"/>
              </a:defRPr>
            </a:pPr>
            <a:r>
              <a:t>160+ sellers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731520"/>
            <a:ext cx="36576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600" b="1" i="0">
                <a:solidFill>
                  <a:srgbClr val="E07B6C"/>
                </a:solidFill>
                <a:latin typeface="Ogg TRIAL"/>
              </a:defRPr>
            </a:pPr>
            <a:r>
              <a:t>75+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86000"/>
            <a:ext cx="45720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200" b="0" i="0">
                <a:solidFill>
                  <a:srgbClr val="2D3436"/>
                </a:solidFill>
                <a:latin typeface="Arial"/>
              </a:defRPr>
            </a:pPr>
            <a:r>
              <a:t>sellers report their shops</a:t>
            </a:r>
            <a:br/>
            <a:r>
              <a:t>tanked in the last 2 months</a:t>
            </a:r>
          </a:p>
        </p:txBody>
      </p:sp>
      <p:sp>
        <p:nvSpPr>
          <p:cNvPr id="5" name="Oval 4"/>
          <p:cNvSpPr/>
          <p:nvPr/>
        </p:nvSpPr>
        <p:spPr>
          <a:xfrm>
            <a:off x="5943600" y="1097280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144768" y="1097280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345936" y="1097280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547104" y="1097280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748272" y="1097280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949440" y="1097280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50608" y="1097280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51776" y="1097280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552944" y="1097280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54112" y="1097280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955280" y="1097280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56448" y="1097280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57616" y="1097280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558784" y="1097280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59952" y="1097280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61120" y="1097280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43600" y="1298448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144768" y="1298448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1298448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47104" y="1298448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748272" y="1298448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949440" y="1298448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150608" y="1298448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51776" y="1298448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552944" y="1298448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54112" y="1298448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955280" y="1298448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156448" y="1298448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57616" y="1298448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558784" y="1298448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759952" y="1298448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61120" y="1298448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943600" y="1499616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144768" y="1499616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345936" y="1499616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547104" y="1499616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748272" y="1499616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949440" y="1499616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150608" y="1499616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351776" y="1499616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552944" y="1499616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754112" y="1499616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955280" y="1499616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156448" y="1499616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357616" y="1499616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558784" y="1499616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759952" y="1499616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961120" y="1499616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943600" y="1700784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144768" y="1700784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345936" y="1700784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547104" y="1700784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748272" y="1700784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949440" y="1700784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150608" y="1700784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351776" y="1700784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552944" y="1700784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754112" y="1700784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955280" y="1700784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156448" y="1700784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57616" y="1700784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558784" y="1700784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759952" y="1700784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961120" y="1700784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943600" y="1901952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144768" y="1901952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345936" y="1901952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547104" y="1901952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748272" y="1901952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6949440" y="1901952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150608" y="1901952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351776" y="1901952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552944" y="1901952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754112" y="1901952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7955280" y="1901952"/>
            <a:ext cx="137160" cy="137160"/>
          </a:xfrm>
          <a:prstGeom prst="ellipse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8156448" y="1901952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8357616" y="1901952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8558784" y="1901952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8759952" y="1901952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8961120" y="1901952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5943600" y="2103120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144768" y="2103120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45936" y="2103120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547104" y="2103120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748272" y="2103120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949440" y="2103120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7150608" y="2103120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7351776" y="2103120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7552944" y="2103120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754112" y="2103120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7955280" y="2103120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156448" y="2103120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8357616" y="2103120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8558784" y="2103120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8759952" y="2103120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8961120" y="2103120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5943600" y="2304288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144768" y="2304288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6345936" y="2304288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6547104" y="2304288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748272" y="2304288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949440" y="2304288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150608" y="2304288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351776" y="2304288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552944" y="2304288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754112" y="2304288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955280" y="2304288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8156448" y="2304288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357616" y="2304288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58784" y="2304288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759952" y="2304288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961120" y="2304288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5943600" y="2505456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6144768" y="2505456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6345936" y="2505456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6547104" y="2505456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6748272" y="2505456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6949440" y="2505456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7150608" y="2505456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351776" y="2505456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7552944" y="2505456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7754112" y="2505456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7955280" y="2505456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156448" y="2505456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357616" y="2505456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8558784" y="2505456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8759952" y="2505456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8961120" y="2505456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5943600" y="2706624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6144768" y="2706624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6345936" y="2706624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6547104" y="2706624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6748272" y="2706624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6949440" y="2706624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7150608" y="2706624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7351776" y="2706624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7552944" y="2706624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7754112" y="2706624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7955280" y="2706624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8156448" y="2706624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8357616" y="2706624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8558784" y="2706624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8759952" y="2706624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8961120" y="2706624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5943600" y="2907792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6144768" y="2907792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6345936" y="2907792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6547104" y="2907792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6748272" y="2907792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6949440" y="2907792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7150608" y="2907792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7351776" y="2907792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7552944" y="2907792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7754112" y="2907792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7955280" y="2907792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8156448" y="2907792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8357616" y="2907792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8558784" y="2907792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8759952" y="2907792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8961120" y="2907792"/>
            <a:ext cx="137160" cy="137160"/>
          </a:xfrm>
          <a:prstGeom prst="ellipse">
            <a:avLst/>
          </a:prstGeom>
          <a:solidFill>
            <a:srgbClr val="E8F5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685800" y="3657600"/>
            <a:ext cx="502920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914400" y="3840480"/>
            <a:ext cx="4572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0" i="0">
                <a:solidFill>
                  <a:srgbClr val="636E72"/>
                </a:solidFill>
                <a:latin typeface="Arial"/>
              </a:defRPr>
            </a:pPr>
            <a:r>
              <a:t>If there are 4 people on your row in this chat,</a:t>
            </a:r>
            <a:br/>
            <a:r>
              <a:t>3 of them are feeling this...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731520"/>
            <a:ext cx="457200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9600" b="1" i="0">
                <a:solidFill>
                  <a:srgbClr val="1B8A8A"/>
                </a:solidFill>
                <a:latin typeface="Ogg TRIAL"/>
              </a:defRPr>
            </a:pPr>
            <a:r>
              <a:t>58+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286000"/>
            <a:ext cx="45720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2200" b="0" i="0">
                <a:solidFill>
                  <a:srgbClr val="2D3436"/>
                </a:solidFill>
                <a:latin typeface="Arial"/>
              </a:defRPr>
            </a:pPr>
            <a:r>
              <a:t>sellers said their #1 problem:</a:t>
            </a:r>
            <a:br/>
            <a:r>
              <a:t>"No views anymore"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71600"/>
            <a:ext cx="548640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2743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 i="0">
                <a:solidFill>
                  <a:srgbClr val="636E72"/>
                </a:solidFill>
                <a:latin typeface="Arial"/>
              </a:defRPr>
            </a:pPr>
            <a:r>
              <a:t>VIEWS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011680"/>
            <a:ext cx="18288" cy="2103120"/>
          </a:xfrm>
          <a:prstGeom prst="rect">
            <a:avLst/>
          </a:prstGeom>
          <a:solidFill>
            <a:srgbClr val="9CA3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71600" y="4114800"/>
            <a:ext cx="4389120" cy="18288"/>
          </a:xfrm>
          <a:prstGeom prst="rect">
            <a:avLst/>
          </a:prstGeom>
          <a:solidFill>
            <a:srgbClr val="9CA3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1600" y="4023360"/>
            <a:ext cx="4389120" cy="36576"/>
          </a:xfrm>
          <a:prstGeom prst="rect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3474720"/>
            <a:ext cx="1828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800" b="1" i="0">
                <a:solidFill>
                  <a:srgbClr val="E07B6C"/>
                </a:solidFill>
                <a:latin typeface="Arial"/>
              </a:defRPr>
            </a:pPr>
            <a:r>
              <a:t>ZERO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46320"/>
            <a:ext cx="5486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0" i="1">
                <a:solidFill>
                  <a:srgbClr val="636E72"/>
                </a:solidFill>
                <a:latin typeface="Arial"/>
              </a:defRPr>
            </a:pPr>
            <a:r>
              <a:t>"Not fewer views. Zero. Like a switch was flipped."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2895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600" b="1" i="0">
                <a:solidFill>
                  <a:srgbClr val="2D3436"/>
                </a:solidFill>
                <a:latin typeface="Ogg TRIAL"/>
              </a:defRPr>
            </a:pPr>
            <a:r>
              <a:t>47+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62895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600" b="0" i="0">
                <a:solidFill>
                  <a:srgbClr val="2D3436"/>
                </a:solidFill>
                <a:latin typeface="Arial"/>
              </a:defRPr>
            </a:pPr>
            <a:r>
              <a:t>said they have "No idea what to design"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4572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400" b="0" i="0">
                <a:solidFill>
                  <a:srgbClr val="9CA3A8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4114800"/>
            <a:ext cx="4572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3200" b="0" i="0">
                <a:solidFill>
                  <a:srgbClr val="F4A89A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3474720"/>
            <a:ext cx="4572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800" b="0" i="0">
                <a:solidFill>
                  <a:srgbClr val="9CA3A8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3931920"/>
            <a:ext cx="4572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0" i="0">
                <a:solidFill>
                  <a:srgbClr val="F4A89A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3657600"/>
            <a:ext cx="4572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3600" b="0" i="0">
                <a:solidFill>
                  <a:srgbClr val="9CA3A8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023360"/>
            <a:ext cx="4572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400" b="0" i="0">
                <a:solidFill>
                  <a:srgbClr val="F4A89A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3749039"/>
            <a:ext cx="4572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3200" b="0" i="0">
                <a:solidFill>
                  <a:srgbClr val="9CA3A8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572000"/>
            <a:ext cx="4572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800" b="0" i="0">
                <a:solidFill>
                  <a:srgbClr val="F4A89A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4754880"/>
            <a:ext cx="4572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0" i="0">
                <a:solidFill>
                  <a:srgbClr val="9CA3A8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4663440"/>
            <a:ext cx="4572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3600" b="0" i="0">
                <a:solidFill>
                  <a:srgbClr val="F4A89A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572000"/>
            <a:ext cx="4572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400" b="0" i="0">
                <a:solidFill>
                  <a:srgbClr val="9CA3A8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4846320"/>
            <a:ext cx="4572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3200" b="0" i="0">
                <a:solidFill>
                  <a:srgbClr val="F4A89A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5303520"/>
            <a:ext cx="4572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800" b="0" i="0">
                <a:solidFill>
                  <a:srgbClr val="9CA3A8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5120640"/>
            <a:ext cx="4572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0" i="0">
                <a:solidFill>
                  <a:srgbClr val="F4A89A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5212080"/>
            <a:ext cx="4572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3600" b="0" i="0">
                <a:solidFill>
                  <a:srgbClr val="9CA3A8"/>
                </a:solidFill>
                <a:latin typeface="Ogg TRIAL"/>
              </a:defRPr>
            </a:pPr>
            <a:r>
              <a:t>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5486400"/>
            <a:ext cx="7619695" cy="914400"/>
          </a:xfrm>
          <a:prstGeom prst="roundRect">
            <a:avLst>
              <a:gd name="adj" fmla="val 5000"/>
            </a:avLst>
          </a:prstGeom>
          <a:solidFill>
            <a:srgbClr val="1B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0" y="5623560"/>
            <a:ext cx="7253935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600" b="0" i="0">
                <a:solidFill>
                  <a:srgbClr val="FFFFFF"/>
                </a:solidFill>
                <a:latin typeface="Arial"/>
              </a:defRPr>
            </a:pPr>
            <a:r>
              <a:t>They're not lazy. They're paralyzed because the rules changed.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E5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0" y="1645920"/>
            <a:ext cx="7619695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76200" dist="38100" dir="54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60320" y="2011680"/>
            <a:ext cx="7071055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3200" b="1" i="0">
                <a:solidFill>
                  <a:srgbClr val="2D3436"/>
                </a:solidFill>
                <a:latin typeface="Ogg TRIAL"/>
              </a:defRPr>
            </a:pPr>
            <a:r>
              <a:t>Does anyone else feel that way?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0" y="3200400"/>
            <a:ext cx="3047695" cy="731520"/>
          </a:xfrm>
          <a:prstGeom prst="roundRect">
            <a:avLst>
              <a:gd name="adj" fmla="val 5000"/>
            </a:avLst>
          </a:prstGeom>
          <a:solidFill>
            <a:srgbClr val="1B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Type "YES" in chat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4754880"/>
            <a:ext cx="7619695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600" b="0" i="0">
                <a:solidFill>
                  <a:srgbClr val="636E72"/>
                </a:solidFill>
                <a:latin typeface="Arial"/>
              </a:defRPr>
            </a:pPr>
            <a:r>
              <a:t>I'm curious how many of you are seeing the same problems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400" b="0" i="0">
                <a:solidFill>
                  <a:srgbClr val="636E72"/>
                </a:solidFill>
                <a:latin typeface="Arial"/>
              </a:defRPr>
            </a:pPr>
            <a:r>
              <a:t>So the real question isn't: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362895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4000" b="0" i="0">
                <a:solidFill>
                  <a:srgbClr val="9CA3A8"/>
                </a:solidFill>
                <a:latin typeface="Ogg TRIAL"/>
              </a:defRPr>
            </a:pPr>
            <a:r>
              <a:t>"How do I make more listings?"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3429000"/>
            <a:ext cx="6705295" cy="36576"/>
          </a:xfrm>
          <a:prstGeom prst="rect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3017520"/>
            <a:ext cx="9144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3600" b="1" i="0">
                <a:solidFill>
                  <a:srgbClr val="E07B6C"/>
                </a:solidFill>
                <a:latin typeface="Ogg TRIAL"/>
              </a:defRPr>
            </a:pPr>
            <a:r>
              <a:t>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48495" y="3017520"/>
            <a:ext cx="9144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3600" b="1" i="0">
                <a:solidFill>
                  <a:srgbClr val="E07B6C"/>
                </a:solidFill>
                <a:latin typeface="Ogg TRIAL"/>
              </a:defRPr>
            </a:pPr>
            <a:r>
              <a:t>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4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400" b="1" i="0">
                <a:solidFill>
                  <a:srgbClr val="FFFFFF"/>
                </a:solidFill>
                <a:latin typeface="Ogg TRIAL"/>
              </a:defRPr>
            </a:pPr>
            <a:r>
              <a:t>Is Etsy even worth</a:t>
            </a:r>
            <a:br/>
            <a:r>
              <a:t>pursuing in 2026?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5029200"/>
            <a:ext cx="2133295" cy="54864"/>
          </a:xfrm>
          <a:prstGeom prst="rect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8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3600" b="1" i="0">
                <a:solidFill>
                  <a:srgbClr val="2D3436"/>
                </a:solidFill>
                <a:latin typeface="Ogg TRIAL"/>
              </a:defRPr>
            </a:pPr>
            <a:r>
              <a:t>I'm going to answer that question tonight.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3200400"/>
            <a:ext cx="5790895" cy="1828800"/>
          </a:xfrm>
          <a:prstGeom prst="roundRect">
            <a:avLst>
              <a:gd name="adj" fmla="val 5000"/>
            </a:avLst>
          </a:prstGeom>
          <a:solidFill>
            <a:srgbClr val="1B8A8A"/>
          </a:solidFill>
          <a:ln>
            <a:noFill/>
          </a:ln>
          <a:effectLst>
            <a:outerShdw blurRad="76200" dist="38100" dir="54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83280" y="3474720"/>
            <a:ext cx="5425135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800" b="0" i="0">
                <a:solidFill>
                  <a:srgbClr val="FFFFFF"/>
                </a:solidFill>
                <a:latin typeface="Arial"/>
              </a:defRPr>
            </a:pPr>
            <a:r>
              <a:t>And the answer?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4023360"/>
            <a:ext cx="5425135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800" b="1" i="0">
                <a:solidFill>
                  <a:srgbClr val="FFFFFF"/>
                </a:solidFill>
                <a:latin typeface="Ogg TRIAL"/>
              </a:defRPr>
            </a:pPr>
            <a:r>
              <a:t>It might honestly surprise you.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800" b="0" i="0">
                <a:solidFill>
                  <a:srgbClr val="636E72"/>
                </a:solidFill>
                <a:latin typeface="Arial"/>
              </a:defRPr>
            </a:pPr>
            <a:r>
              <a:t>Because what nobody is talking about is this: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463040"/>
            <a:ext cx="9448495" cy="2286000"/>
          </a:xfrm>
          <a:prstGeom prst="roundRect">
            <a:avLst>
              <a:gd name="adj" fmla="val 5000"/>
            </a:avLst>
          </a:prstGeom>
          <a:solidFill>
            <a:srgbClr val="1B8A8A"/>
          </a:solidFill>
          <a:ln>
            <a:noFill/>
          </a:ln>
          <a:effectLst>
            <a:outerShdw blurRad="76200" dist="38100" dir="54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1737360"/>
            <a:ext cx="9082735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200" b="0" i="0">
                <a:solidFill>
                  <a:srgbClr val="FFFFFF"/>
                </a:solidFill>
                <a:latin typeface="Arial"/>
              </a:defRPr>
            </a:pPr>
            <a:r>
              <a:t>The AI flood actually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377440"/>
            <a:ext cx="9082735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4200" b="1" i="0">
                <a:solidFill>
                  <a:srgbClr val="FFFFFF"/>
                </a:solidFill>
                <a:latin typeface="Ogg TRIAL"/>
              </a:defRPr>
            </a:pPr>
            <a:r>
              <a:t>CREATES an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31920"/>
            <a:ext cx="10362895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0" i="0">
                <a:solidFill>
                  <a:srgbClr val="2D3436"/>
                </a:solidFill>
                <a:latin typeface="Arial"/>
              </a:defRPr>
            </a:pPr>
            <a:r>
              <a:t>— for a very specific type of seller...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0" y="4754880"/>
            <a:ext cx="3962095" cy="914400"/>
          </a:xfrm>
          <a:prstGeom prst="roundRect">
            <a:avLst>
              <a:gd name="adj" fmla="val 5000"/>
            </a:avLst>
          </a:prstGeom>
          <a:solidFill>
            <a:srgbClr val="E07B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4937760"/>
            <a:ext cx="3962095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800" b="1" i="0">
                <a:solidFill>
                  <a:srgbClr val="FFFFFF"/>
                </a:solidFill>
                <a:latin typeface="Ogg TRIAL"/>
              </a:defRPr>
            </a:pPr>
            <a:r>
              <a:t>BUT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852160"/>
            <a:ext cx="10362895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800" b="0" i="1">
                <a:solidFill>
                  <a:srgbClr val="636E72"/>
                </a:solidFill>
                <a:latin typeface="Arial"/>
              </a:defRPr>
            </a:pPr>
            <a:r>
              <a:t>Only if you understand what's really happening...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