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572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atoshi"/>
              </a:defRPr>
            </a:pPr>
            <a:r>
              <a:t>DAY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0" i="0">
                <a:solidFill>
                  <a:srgbClr val="1B8A8A"/>
                </a:solidFill>
                <a:latin typeface="Ogg"/>
              </a:defRPr>
            </a:pPr>
            <a:r>
              <a:t>THE 2026 ETSY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09728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0" b="1" i="0">
                <a:solidFill>
                  <a:srgbClr val="2D3436"/>
                </a:solidFill>
                <a:latin typeface="Ogg"/>
              </a:defRPr>
            </a:pPr>
            <a:r>
              <a:t>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 i="0">
                <a:solidFill>
                  <a:srgbClr val="636E72"/>
                </a:solidFill>
                <a:latin typeface="Satoshi"/>
              </a:defRPr>
            </a:pPr>
            <a:r>
              <a:t>Delete the Dead Weight. Find Your Focus.</a:t>
            </a:r>
            <a:br/>
            <a:r>
              <a:t>Build a Shop That Actually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03520"/>
            <a:ext cx="6858000" cy="822960"/>
          </a:xfrm>
          <a:prstGeom prst="roundRect">
            <a:avLst>
              <a:gd name="adj" fmla="val 5000"/>
            </a:avLst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Satoshi"/>
              </a:rPr>
              <a:t>with </a:t>
            </a:r>
            <a:r>
              <a:rPr sz="1400" b="1">
                <a:solidFill>
                  <a:srgbClr val="FFFFFF"/>
                </a:solidFill>
                <a:latin typeface="Satoshi"/>
              </a:rPr>
              <a:t>Bailey Vann</a:t>
            </a:r>
            <a:r>
              <a:rPr sz="1400">
                <a:solidFill>
                  <a:srgbClr val="FFFFFF"/>
                </a:solidFill>
                <a:latin typeface="Satoshi"/>
              </a:rPr>
              <a:t>  •  Top 0.1% Etsy Seller  •  $1M+ in Digital Product Sales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1371600"/>
            <a:ext cx="4572000" cy="4572000"/>
          </a:xfrm>
          <a:prstGeom prst="ellipse">
            <a:avLst/>
          </a:prstGeom>
          <a:solidFill>
            <a:srgbClr val="2B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4114800"/>
            <a:ext cx="2286000" cy="2286000"/>
          </a:xfrm>
          <a:prstGeom prst="ellipse">
            <a:avLst/>
          </a:prstGeom>
          <a:solidFill>
            <a:srgbClr val="F4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619695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6196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 i="0">
                <a:solidFill>
                  <a:srgbClr val="2D3436"/>
                </a:solidFill>
                <a:latin typeface="Ogg"/>
              </a:defRPr>
            </a:pPr>
            <a:r>
              <a:t>Before We Begin...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834640"/>
            <a:ext cx="2133295" cy="27432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3200400"/>
            <a:ext cx="3383280" cy="548640"/>
          </a:xfrm>
          <a:prstGeom prst="roundRect">
            <a:avLst>
              <a:gd name="adj" fmla="val 5000"/>
            </a:avLst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atoshi"/>
              </a:defRPr>
            </a:pPr>
            <a:r>
              <a:t>QUICK POP QUIZ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114800"/>
            <a:ext cx="76196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 i="0">
                <a:solidFill>
                  <a:srgbClr val="636E72"/>
                </a:solidFill>
                <a:latin typeface="Satoshi"/>
              </a:defRPr>
            </a:pPr>
            <a:r>
              <a:t>I want to show you something that might change</a:t>
            </a:r>
            <a:br/>
            <a:r>
              <a:t>how you think about Etsy in 2026...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5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1828800"/>
            <a:ext cx="579089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3840480" y="4023360"/>
            <a:ext cx="548640" cy="4572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2286000"/>
            <a:ext cx="5242255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 i="0">
                <a:solidFill>
                  <a:srgbClr val="2D3436"/>
                </a:solidFill>
                <a:latin typeface="Ogg"/>
              </a:defRPr>
            </a:pPr>
            <a:r>
              <a:t>Get ready to type</a:t>
            </a:r>
            <a:br/>
            <a:r>
              <a:t>in the chat!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5029200"/>
            <a:ext cx="228600" cy="228600"/>
          </a:xfrm>
          <a:prstGeom prst="ellipse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2160" y="5029200"/>
            <a:ext cx="228600" cy="228600"/>
          </a:xfrm>
          <a:prstGeom prst="ellipse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0" y="5029200"/>
            <a:ext cx="228600" cy="228600"/>
          </a:xfrm>
          <a:prstGeom prst="ellipse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5486400"/>
            <a:ext cx="8534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636E72"/>
                </a:solidFill>
                <a:latin typeface="Satoshi"/>
              </a:defRPr>
            </a:pPr>
            <a:r>
              <a:t>This is interactive — your answers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2D3436"/>
                </a:solidFill>
                <a:latin typeface="Ogg"/>
              </a:defRPr>
            </a:pPr>
            <a:r>
              <a:t>Which design was made by a professional artist?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 i="0">
                <a:solidFill>
                  <a:srgbClr val="636E72"/>
                </a:solidFill>
                <a:latin typeface="Satoshi"/>
              </a:defRPr>
            </a:pPr>
            <a:r>
              <a:t>[Image A]</a:t>
            </a:r>
          </a:p>
        </p:txBody>
      </p:sp>
      <p:sp>
        <p:nvSpPr>
          <p:cNvPr id="7" name="Oval 6"/>
          <p:cNvSpPr/>
          <p:nvPr/>
        </p:nvSpPr>
        <p:spPr>
          <a:xfrm>
            <a:off x="2743200" y="5120640"/>
            <a:ext cx="640080" cy="640080"/>
          </a:xfrm>
          <a:prstGeom prst="ellipse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Ogg"/>
              </a:defRPr>
            </a:pPr>
            <a: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6695" y="146304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05295" y="173736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295" y="2926080"/>
            <a:ext cx="45720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 i="0">
                <a:solidFill>
                  <a:srgbClr val="636E72"/>
                </a:solidFill>
                <a:latin typeface="Satoshi"/>
              </a:defRPr>
            </a:pPr>
            <a:r>
              <a:t>[Image B]</a:t>
            </a:r>
          </a:p>
        </p:txBody>
      </p:sp>
      <p:sp>
        <p:nvSpPr>
          <p:cNvPr id="11" name="Oval 10"/>
          <p:cNvSpPr/>
          <p:nvPr/>
        </p:nvSpPr>
        <p:spPr>
          <a:xfrm>
            <a:off x="8534095" y="5120640"/>
            <a:ext cx="640080" cy="64008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Ogg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00400"/>
            <a:ext cx="12188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 i="0">
                <a:solidFill>
                  <a:srgbClr val="636E72"/>
                </a:solidFill>
                <a:latin typeface="Ogg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8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 i="0">
                <a:solidFill>
                  <a:srgbClr val="FFFFFF"/>
                </a:solidFill>
                <a:latin typeface="Ogg"/>
              </a:defRPr>
            </a:pPr>
            <a:r>
              <a:t>Type A or B in the chat!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3840480"/>
            <a:ext cx="18288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B8A8A"/>
                </a:solidFill>
                <a:latin typeface="Ogg"/>
              </a:defRPr>
            </a:pPr>
            <a:r>
              <a:t>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295" y="3840480"/>
            <a:ext cx="1828800" cy="1371600"/>
          </a:xfrm>
          <a:prstGeom prst="roundRect">
            <a:avLst>
              <a:gd name="adj" fmla="val 5000"/>
            </a:avLst>
          </a:prstGeom>
          <a:solidFill>
            <a:srgbClr val="E07B6C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  <a:latin typeface="Ogg"/>
              </a:defRPr>
            </a:pPr>
            <a: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114800"/>
            <a:ext cx="121889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FFFFFF"/>
                </a:solidFill>
                <a:latin typeface="Satoshi"/>
              </a:defRPr>
            </a:pPr>
            <a:r>
              <a:t>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400" b="1" i="0">
                <a:solidFill>
                  <a:srgbClr val="2D3436"/>
                </a:solidFill>
                <a:latin typeface="Ogg"/>
              </a:defRPr>
            </a:pPr>
            <a:r>
              <a:t>The Answer Is...</a:t>
            </a:r>
          </a:p>
        </p:txBody>
      </p:sp>
      <p:sp>
        <p:nvSpPr>
          <p:cNvPr id="5" name="Oval 4"/>
          <p:cNvSpPr/>
          <p:nvPr/>
        </p:nvSpPr>
        <p:spPr>
          <a:xfrm>
            <a:off x="5669280" y="4114800"/>
            <a:ext cx="137160" cy="137160"/>
          </a:xfrm>
          <a:prstGeom prst="ellipse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89320" y="4114800"/>
            <a:ext cx="137160" cy="137160"/>
          </a:xfrm>
          <a:prstGeom prst="ellipse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4114800"/>
            <a:ext cx="137160" cy="137160"/>
          </a:xfrm>
          <a:prstGeom prst="ellipse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7B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10820095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0" b="1" i="0">
                <a:solidFill>
                  <a:srgbClr val="FFFFFF"/>
                </a:solidFill>
                <a:latin typeface="Ogg"/>
              </a:defRPr>
            </a:pPr>
            <a:r>
              <a:t>Both Were Made by AI.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3657600"/>
            <a:ext cx="5790895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3931920"/>
            <a:ext cx="57908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2D3436"/>
                </a:solidFill>
                <a:latin typeface="Satoshi"/>
              </a:defRPr>
            </a:pPr>
            <a:r>
              <a:t>In less than 30 seconds.</a:t>
            </a:r>
            <a:br/>
            <a:r>
              <a:t>For free.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0" i="0">
                <a:solidFill>
                  <a:srgbClr val="636E72"/>
                </a:solidFill>
                <a:latin typeface="Ogg"/>
              </a:defRPr>
            </a:pPr>
            <a:r>
              <a:t>Yes, we all use AI nowadays...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2743200" cy="18288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8534095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0" i="0">
                <a:solidFill>
                  <a:srgbClr val="2D3436"/>
                </a:solidFill>
                <a:latin typeface="Satoshi"/>
              </a:defRPr>
            </a:pPr>
            <a:r>
              <a:t>But in 2026, they've gotten so good that</a:t>
            </a:r>
            <a:br/>
            <a:r>
              <a:t>hiring someone REAL is starting to become</a:t>
            </a:r>
            <a:br/>
            <a:r>
              <a:t>just an option...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84632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4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89204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 i="0">
                <a:solidFill>
                  <a:srgbClr val="E07B6C"/>
                </a:solidFill>
                <a:latin typeface="Satoshi"/>
              </a:defRPr>
            </a:pPr>
            <a:r>
              <a:t>just an 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0" i="0">
                <a:solidFill>
                  <a:srgbClr val="1B8A8A"/>
                </a:solidFill>
                <a:latin typeface="Ogg"/>
              </a:defRPr>
            </a:pPr>
            <a:r>
              <a:t>Let that sink in for a second.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84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0" i="0">
                <a:solidFill>
                  <a:srgbClr val="FFFFFF"/>
                </a:solidFill>
                <a:latin typeface="Ogg"/>
              </a:defRPr>
            </a:pPr>
            <a:r>
              <a:t>Now let me ask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4849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800" b="1" i="0">
                <a:solidFill>
                  <a:srgbClr val="E07B6C"/>
                </a:solidFill>
                <a:latin typeface="Ogg"/>
              </a:defRPr>
            </a:pPr>
            <a:r>
              <a:t>something uncomfortable...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636E72"/>
                </a:solidFill>
                <a:latin typeface="Satoshi"/>
              </a:defRPr>
            </a:pPr>
            <a:r>
              <a:t>If anyone can create designs like this in seconds...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0820095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 i="0">
                <a:solidFill>
                  <a:srgbClr val="2D3436"/>
                </a:solidFill>
                <a:latin typeface="Ogg"/>
              </a:defRPr>
            </a:pPr>
            <a:r>
              <a:t>What happens to YOUR</a:t>
            </a:r>
            <a:br/>
            <a:r>
              <a:t>Etsy shop in 2026?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389120"/>
            <a:ext cx="1828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0" b="0" i="0">
                <a:solidFill>
                  <a:srgbClr val="F4A89A"/>
                </a:solidFill>
                <a:latin typeface="Ogg"/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 i="0">
                <a:solidFill>
                  <a:srgbClr val="2D3436"/>
                </a:solidFill>
                <a:latin typeface="Ogg"/>
              </a:defRPr>
            </a:pPr>
            <a:r>
              <a:t>The numbers I'm about to show you</a:t>
            </a:r>
            <a:br/>
            <a:r>
              <a:t>aren't random...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705295" cy="1645920"/>
          </a:xfrm>
          <a:prstGeom prst="roundRect">
            <a:avLst>
              <a:gd name="adj" fmla="val 5000"/>
            </a:avLst>
          </a:prstGeom>
          <a:solidFill>
            <a:srgbClr val="1B8A8A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39535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 i="0">
                <a:solidFill>
                  <a:srgbClr val="FFFFFF"/>
                </a:solidFill>
                <a:latin typeface="Satoshi"/>
              </a:defRPr>
            </a:pPr>
            <a:r>
              <a:t>These are from YOUR OWN ANSWERS</a:t>
            </a:r>
            <a:br/>
            <a:r>
              <a:t>after I asked 160+ of you last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5669280"/>
            <a:ext cx="1554480" cy="457200"/>
          </a:xfrm>
          <a:prstGeom prst="roundRect">
            <a:avLst>
              <a:gd name="adj" fmla="val 5000"/>
            </a:avLst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atoshi"/>
              </a:defRPr>
            </a:pPr>
            <a:r>
              <a:t>160+ sellers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36576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600" b="1" i="0">
                <a:solidFill>
                  <a:srgbClr val="E07B6C"/>
                </a:solidFill>
                <a:latin typeface="Ogg"/>
              </a:defRPr>
            </a:pPr>
            <a:r>
              <a:t>75+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4572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 i="0">
                <a:solidFill>
                  <a:srgbClr val="2D3436"/>
                </a:solidFill>
                <a:latin typeface="Satoshi"/>
              </a:defRPr>
            </a:pPr>
            <a:r>
              <a:t>sellers report their shops</a:t>
            </a:r>
            <a:br/>
            <a:r>
              <a:t>tanked in the last 2 months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44768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45936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47104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48272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9440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50608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51776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52944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54112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0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56448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7616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58784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59952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0" y="1097280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0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44768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48272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9440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50608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51776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52944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54112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55280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56448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57616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58784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59952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61120" y="1298448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43600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44768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45936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47104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48272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49440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150608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51776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52944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54112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55280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156448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57616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58784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59952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61120" y="1499616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43600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144768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45936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47104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748272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949440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150608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51776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52944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754112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55280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156448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57616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58784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759952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61120" y="1700784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943600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144768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345936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547104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748272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949440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150608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351776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552944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754112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955280" y="1901952"/>
            <a:ext cx="137160" cy="137160"/>
          </a:xfrm>
          <a:prstGeom prst="ellipse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156448" y="190195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57616" y="190195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558784" y="190195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759952" y="190195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61120" y="190195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943600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144768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45936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547104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748272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949440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150608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351776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552944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754112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955280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156448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357616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558784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759952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961120" y="2103120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943600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144768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345936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547104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748272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949440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150608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351776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552944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754112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955280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156448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357616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58784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759952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961120" y="2304288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943600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144768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345936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547104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748272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949440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150608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351776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552944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754112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955280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156448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357616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558784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759952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961120" y="2505456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943600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6144768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45936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547104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748272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949440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150608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351776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552944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754112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955280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8156448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8357616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8558784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8759952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8961120" y="2706624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943600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144768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345936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547104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748272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949440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150608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351776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552944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754112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955280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156448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357616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558784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759952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961120" y="2907792"/>
            <a:ext cx="137160" cy="137160"/>
          </a:xfrm>
          <a:prstGeom prst="ellipse">
            <a:avLst/>
          </a:prstGeom>
          <a:solidFill>
            <a:srgbClr val="E8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685800" y="365760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14400" y="3840480"/>
            <a:ext cx="4572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0">
                <a:solidFill>
                  <a:srgbClr val="636E72"/>
                </a:solidFill>
                <a:latin typeface="Satoshi"/>
              </a:defRPr>
            </a:pPr>
            <a:r>
              <a:t>If there are 4 people on your row in this chat,</a:t>
            </a:r>
            <a:br/>
            <a:r>
              <a:t>3 of them are feeling this...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731520"/>
            <a:ext cx="45720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600" b="1" i="0">
                <a:solidFill>
                  <a:srgbClr val="1B8A8A"/>
                </a:solidFill>
                <a:latin typeface="Ogg"/>
              </a:defRPr>
            </a:pPr>
            <a:r>
              <a:t>58+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286000"/>
            <a:ext cx="4572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2200" b="0" i="0">
                <a:solidFill>
                  <a:srgbClr val="2D3436"/>
                </a:solidFill>
                <a:latin typeface="Satoshi"/>
              </a:defRPr>
            </a:pPr>
            <a:r>
              <a:t>sellers said their #1 problem:</a:t>
            </a:r>
            <a:br/>
            <a:r>
              <a:t>"No views anymore"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636E72"/>
                </a:solidFill>
                <a:latin typeface="Satoshi"/>
              </a:defRPr>
            </a:pPr>
            <a:r>
              <a:t>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18288" cy="2103120"/>
          </a:xfrm>
          <a:prstGeom prst="rect">
            <a:avLst/>
          </a:prstGeom>
          <a:solidFill>
            <a:srgbClr val="9C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4389120" cy="18288"/>
          </a:xfrm>
          <a:prstGeom prst="rect">
            <a:avLst/>
          </a:prstGeom>
          <a:solidFill>
            <a:srgbClr val="9C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4389120" cy="36576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47472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 i="0">
                <a:solidFill>
                  <a:srgbClr val="E07B6C"/>
                </a:solidFill>
                <a:latin typeface="Satoshi"/>
              </a:defRPr>
            </a:pPr>
            <a:r>
              <a:t>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5486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1">
                <a:solidFill>
                  <a:srgbClr val="636E72"/>
                </a:solidFill>
                <a:latin typeface="Satoshi"/>
              </a:defRPr>
            </a:pPr>
            <a:r>
              <a:t>"Not fewer views. Zero. Like a switch was flipped."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600" b="1" i="0">
                <a:solidFill>
                  <a:srgbClr val="2D3436"/>
                </a:solidFill>
                <a:latin typeface="Ogg"/>
              </a:defRPr>
            </a:pPr>
            <a:r>
              <a:t>47+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600" b="0" i="0">
                <a:solidFill>
                  <a:srgbClr val="2D3436"/>
                </a:solidFill>
                <a:latin typeface="Satoshi"/>
              </a:defRPr>
            </a:pPr>
            <a:r>
              <a:t>said they have "No idea what to design"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9CA3A8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0" i="0">
                <a:solidFill>
                  <a:srgbClr val="F4A89A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47472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 i="0">
                <a:solidFill>
                  <a:srgbClr val="9CA3A8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93192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 i="0">
                <a:solidFill>
                  <a:srgbClr val="F4A89A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65760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0" i="0">
                <a:solidFill>
                  <a:srgbClr val="9CA3A8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02336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F4A89A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749039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0" i="0">
                <a:solidFill>
                  <a:srgbClr val="9CA3A8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 i="0">
                <a:solidFill>
                  <a:srgbClr val="F4A89A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75488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 i="0">
                <a:solidFill>
                  <a:srgbClr val="9CA3A8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66344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0" i="0">
                <a:solidFill>
                  <a:srgbClr val="F4A89A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7200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9CA3A8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84632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0" i="0">
                <a:solidFill>
                  <a:srgbClr val="F4A89A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0352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 i="0">
                <a:solidFill>
                  <a:srgbClr val="9CA3A8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12064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 i="0">
                <a:solidFill>
                  <a:srgbClr val="F4A89A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212080"/>
            <a:ext cx="45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0" i="0">
                <a:solidFill>
                  <a:srgbClr val="9CA3A8"/>
                </a:solidFill>
                <a:latin typeface="Ogg"/>
              </a:defRPr>
            </a:pPr>
            <a:r>
              <a:t>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486400"/>
            <a:ext cx="7619695" cy="914400"/>
          </a:xfrm>
          <a:prstGeom prst="roundRect">
            <a:avLst>
              <a:gd name="adj" fmla="val 5000"/>
            </a:avLst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5623560"/>
            <a:ext cx="725393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FFFFFF"/>
                </a:solidFill>
                <a:latin typeface="Satoshi"/>
              </a:defRPr>
            </a:pPr>
            <a:r>
              <a:t>They're not lazy. They're paralyzed because the rules changed.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5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645920"/>
            <a:ext cx="7619695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0" y="2011680"/>
            <a:ext cx="707105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 i="0">
                <a:solidFill>
                  <a:srgbClr val="2D3436"/>
                </a:solidFill>
                <a:latin typeface="Ogg"/>
              </a:defRPr>
            </a:pPr>
            <a:r>
              <a:t>Does anyone else feel that way?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200400"/>
            <a:ext cx="3047695" cy="731520"/>
          </a:xfrm>
          <a:prstGeom prst="roundRect">
            <a:avLst>
              <a:gd name="adj" fmla="val 5000"/>
            </a:avLst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atoshi"/>
              </a:defRPr>
            </a:pPr>
            <a:r>
              <a:t>Type "YES" in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754880"/>
            <a:ext cx="76196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 i="0">
                <a:solidFill>
                  <a:srgbClr val="636E72"/>
                </a:solidFill>
                <a:latin typeface="Satoshi"/>
              </a:defRPr>
            </a:pPr>
            <a:r>
              <a:t>I'm curious how many of you are seeing the same problems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 i="0">
                <a:solidFill>
                  <a:srgbClr val="636E72"/>
                </a:solidFill>
                <a:latin typeface="Satoshi"/>
              </a:defRPr>
            </a:pPr>
            <a:r>
              <a:t>So the real question isn't: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0" i="0">
                <a:solidFill>
                  <a:srgbClr val="9CA3A8"/>
                </a:solidFill>
                <a:latin typeface="Ogg"/>
              </a:defRPr>
            </a:pPr>
            <a:r>
              <a:t>"How do I make more listings?"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429000"/>
            <a:ext cx="6705295" cy="36576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914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 i="0">
                <a:solidFill>
                  <a:srgbClr val="E07B6C"/>
                </a:solidFill>
                <a:latin typeface="Ogg"/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3017520"/>
            <a:ext cx="914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 i="0">
                <a:solidFill>
                  <a:srgbClr val="E07B6C"/>
                </a:solidFill>
                <a:latin typeface="Ogg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5400" b="1" i="0">
                <a:solidFill>
                  <a:srgbClr val="FFFFFF"/>
                </a:solidFill>
                <a:latin typeface="Ogg"/>
              </a:defRPr>
            </a:pPr>
            <a:r>
              <a:t>Is Etsy even worth</a:t>
            </a:r>
            <a:br/>
            <a:r>
              <a:t>pursuing in 2026?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5029200"/>
            <a:ext cx="21332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 i="0">
                <a:solidFill>
                  <a:srgbClr val="2D3436"/>
                </a:solidFill>
                <a:latin typeface="Ogg"/>
              </a:defRPr>
            </a:pPr>
            <a:r>
              <a:t>I'm going to answer that question tonight.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200400"/>
            <a:ext cx="5790895" cy="1828800"/>
          </a:xfrm>
          <a:prstGeom prst="roundRect">
            <a:avLst>
              <a:gd name="adj" fmla="val 5000"/>
            </a:avLst>
          </a:prstGeom>
          <a:solidFill>
            <a:srgbClr val="1B8A8A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474720"/>
            <a:ext cx="542513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 i="0">
                <a:solidFill>
                  <a:srgbClr val="FFFFFF"/>
                </a:solidFill>
                <a:latin typeface="Satoshi"/>
              </a:defRPr>
            </a:pPr>
            <a:r>
              <a:t>And the answer?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023360"/>
            <a:ext cx="54251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 i="0">
                <a:solidFill>
                  <a:srgbClr val="FFFFFF"/>
                </a:solidFill>
                <a:latin typeface="Ogg"/>
              </a:defRPr>
            </a:pPr>
            <a:r>
              <a:t>It might honestly surprise you.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 i="0">
                <a:solidFill>
                  <a:srgbClr val="636E72"/>
                </a:solidFill>
                <a:latin typeface="Satoshi"/>
              </a:defRPr>
            </a:pPr>
            <a:r>
              <a:t>Because what nobody is talking about is this: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2286000"/>
          </a:xfrm>
          <a:prstGeom prst="roundRect">
            <a:avLst>
              <a:gd name="adj" fmla="val 5000"/>
            </a:avLst>
          </a:prstGeom>
          <a:solidFill>
            <a:srgbClr val="1B8A8A"/>
          </a:solidFill>
          <a:ln>
            <a:noFill/>
          </a:ln>
          <a:effectLst>
            <a:outerShdw blurRad="76200" dist="381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908273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 i="0">
                <a:solidFill>
                  <a:srgbClr val="FFFFFF"/>
                </a:solidFill>
                <a:latin typeface="Satoshi"/>
              </a:defRPr>
            </a:pPr>
            <a:r>
              <a:t>The AI flood actually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9082735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 i="0">
                <a:solidFill>
                  <a:srgbClr val="FFFFFF"/>
                </a:solidFill>
                <a:latin typeface="Ogg"/>
              </a:defRPr>
            </a:pPr>
            <a:r>
              <a:t>CREATES an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0" i="0">
                <a:solidFill>
                  <a:srgbClr val="2D3436"/>
                </a:solidFill>
                <a:latin typeface="Satoshi"/>
              </a:defRPr>
            </a:pPr>
            <a:r>
              <a:t>— for a very specific type of seller...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754880"/>
            <a:ext cx="3962095" cy="914400"/>
          </a:xfrm>
          <a:prstGeom prst="roundRect">
            <a:avLst>
              <a:gd name="adj" fmla="val 5000"/>
            </a:avLst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4937760"/>
            <a:ext cx="39620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1" i="0">
                <a:solidFill>
                  <a:srgbClr val="FFFFFF"/>
                </a:solidFill>
                <a:latin typeface="Ogg"/>
              </a:defRPr>
            </a:pPr>
            <a:r>
              <a:t>BUT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 i="1">
                <a:solidFill>
                  <a:srgbClr val="636E72"/>
                </a:solidFill>
                <a:latin typeface="Satoshi"/>
              </a:defRPr>
            </a:pPr>
            <a:r>
              <a:t>Only if you understand what's really happening...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